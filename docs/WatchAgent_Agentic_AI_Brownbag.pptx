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7" r:id="rId18"/>
    <p:sldId id="268" r:id="rId19"/>
    <p:sldId id="269" r:id="rId20"/>
    <p:sldId id="259" r:id="rId5"/>
    <p:sldId id="266" r:id="rId17"/>
    <p:sldId id="270" r:id="rId21"/>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280"/>
                </a:solidFill>
                <a:latin typeface="Arial"/>
              </a:defRPr>
            </a:pPr>
            <a:r>
              <a:rPr sz="1200" b="0" i="0" u="none" strike="noStrike">
                <a:solidFill>
                  <a:srgbClr val="6B7280"/>
                </a:solidFill>
                <a:latin typeface="Arial"/>
              </a:rPr>
              <a:t>Latest observed price as % of target price (100% = at target)</a:t>
            </a:r>
          </a:p>
        </c:rich>
      </c:tx>
      <c:layout/>
      <c:overlay val="0"/>
    </c:title>
    <c:autoTitleDeleted val="0"/>
    <c:plotArea>
      <c:layout/>
      <c:barChart>
        <c:barDir val="bar"/>
        <c:grouping val="clustered"/>
        <c:varyColors val="0"/>
        <c:ser>
          <c:idx val="0"/>
          <c:order val="0"/>
          <c:tx>
            <c:strRef>
              <c:f>Sheet1!$B$1</c:f>
              <c:strCache>
                <c:ptCount val="1"/>
                <c:pt idx="0">
                  <c:v>Latest price as % of target</c:v>
                </c:pt>
              </c:strCache>
            </c:strRef>
          </c:tx>
          <c:spPr>
            <a:solidFill>
              <a:srgbClr val="2251FF"/>
            </a:solidFill>
            <a:effectLst/>
          </c:spPr>
          <c:invertIfNegative val="0"/>
          <c:dLbls>
            <c:numFmt formatCode="0&quot;%&quot;"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dPt>
            <c:idx val="0"/>
            <c:invertIfNegative val="0"/>
            <c:bubble3D val="0"/>
            <c:spPr>
              <a:solidFill>
                <a:srgbClr val="2251FF"/>
              </a:solidFill>
              <a:effectLst/>
            </c:spPr>
          </c:dPt>
          <c:dPt>
            <c:idx val="1"/>
            <c:invertIfNegative val="0"/>
            <c:bubble3D val="0"/>
            <c:spPr>
              <a:solidFill>
                <a:srgbClr val="2251FF"/>
              </a:solidFill>
              <a:effectLst/>
            </c:spPr>
          </c:dPt>
          <c:dPt>
            <c:idx val="2"/>
            <c:invertIfNegative val="0"/>
            <c:bubble3D val="0"/>
            <c:spPr>
              <a:solidFill>
                <a:srgbClr val="2251FF"/>
              </a:solidFill>
              <a:effectLst/>
            </c:spPr>
          </c:dPt>
          <c:dPt>
            <c:idx val="3"/>
            <c:invertIfNegative val="0"/>
            <c:bubble3D val="0"/>
            <c:spPr>
              <a:solidFill>
                <a:srgbClr val="2251FF"/>
              </a:solidFill>
              <a:effectLst/>
            </c:spPr>
          </c:dPt>
          <c:dPt>
            <c:idx val="4"/>
            <c:invertIfNegative val="0"/>
            <c:bubble3D val="0"/>
            <c:spPr>
              <a:solidFill>
                <a:srgbClr val="2251FF"/>
              </a:solidFill>
              <a:effectLst/>
            </c:spPr>
          </c:dPt>
          <c:dPt>
            <c:idx val="5"/>
            <c:invertIfNegative val="0"/>
            <c:bubble3D val="0"/>
            <c:spPr>
              <a:solidFill>
                <a:srgbClr val="C9CED6"/>
              </a:solidFill>
              <a:effectLst/>
            </c:spPr>
          </c:dPt>
          <c:dPt>
            <c:idx val="6"/>
            <c:invertIfNegative val="0"/>
            <c:bubble3D val="0"/>
            <c:spPr>
              <a:solidFill>
                <a:srgbClr val="C9CED6"/>
              </a:solidFill>
              <a:effectLst/>
            </c:spPr>
          </c:dPt>
          <c:dPt>
            <c:idx val="7"/>
            <c:invertIfNegative val="0"/>
            <c:bubble3D val="0"/>
            <c:spPr>
              <a:solidFill>
                <a:srgbClr val="C9CED6"/>
              </a:solidFill>
              <a:effectLst/>
            </c:spPr>
          </c:dPt>
          <c:dPt>
            <c:idx val="8"/>
            <c:invertIfNegative val="0"/>
            <c:bubble3D val="0"/>
            <c:spPr>
              <a:solidFill>
                <a:srgbClr val="C9CED6"/>
              </a:solidFill>
              <a:effectLst/>
            </c:spPr>
          </c:dPt>
          <c:dPt>
            <c:idx val="9"/>
            <c:invertIfNegative val="0"/>
            <c:bubble3D val="0"/>
            <c:spPr>
              <a:solidFill>
                <a:srgbClr val="C9CED6"/>
              </a:solidFill>
              <a:effectLst/>
            </c:spPr>
          </c:dPt>
          <c:cat>
            <c:multiLvlStrRef>
              <c:f>Sheet1!$A$2:$A$11</c:f>
              <c:multiLvlStrCache>
                <c:ptCount val="10"/>
                <c:lvl>
                  <c:pt idx="0">
                    <c:v>Lange Saxonia</c:v>
                  </c:pt>
                  <c:pt idx="1">
                    <c:v>Grand Seiko Snowflake</c:v>
                  </c:pt>
                  <c:pt idx="2">
                    <c:v>Vacheron Historiques 222</c:v>
                  </c:pt>
                  <c:pt idx="3">
                    <c:v>Cartier Santos</c:v>
                  </c:pt>
                  <c:pt idx="4">
                    <c:v>Omega Speedmaster</c:v>
                  </c:pt>
                  <c:pt idx="5">
                    <c:v>Patek Nautilus</c:v>
                  </c:pt>
                  <c:pt idx="6">
                    <c:v>AP Royal Oak</c:v>
                  </c:pt>
                  <c:pt idx="7">
                    <c:v>Rolex Submariner</c:v>
                  </c:pt>
                  <c:pt idx="8">
                    <c:v>Rolex Daytona</c:v>
                  </c:pt>
                  <c:pt idx="9">
                    <c:v>Patek Aquanaut</c:v>
                  </c:pt>
                </c:lvl>
              </c:multiLvlStrCache>
            </c:multiLvlStrRef>
          </c:cat>
          <c:val>
            <c:numRef>
              <c:f>Sheet1!$B$2:$B$11</c:f>
              <c:numCache>
                <c:formatCode>General</c:formatCode>
                <c:ptCount val="10"/>
                <c:pt idx="0">
                  <c:v>67</c:v>
                </c:pt>
                <c:pt idx="1">
                  <c:v>78</c:v>
                </c:pt>
                <c:pt idx="2">
                  <c:v>88</c:v>
                </c:pt>
                <c:pt idx="3">
                  <c:v>92</c:v>
                </c:pt>
                <c:pt idx="4">
                  <c:v>96</c:v>
                </c:pt>
                <c:pt idx="5">
                  <c:v>100</c:v>
                </c:pt>
                <c:pt idx="6">
                  <c:v>108</c:v>
                </c:pt>
                <c:pt idx="7">
                  <c:v>109</c:v>
                </c:pt>
                <c:pt idx="8">
                  <c:v>110</c:v>
                </c:pt>
                <c:pt idx="9">
                  <c:v>129</c:v>
                </c:pt>
              </c:numCache>
            </c:numRef>
          </c:val>
        </c:ser>
        <c:dLbls>
          <c:numFmt formatCode="0&quot;%&quot;"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1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is a short, practical introduction to agentic AI. Instead of slides of theory, we will use one real agent that has been running on its own for a week: WatchAgent, which tracks luxury-watch prices. We will also cover the two frameworks I tried first (n8n and Agno) and why I ended up on LangChain.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Four messages: what an agent is, that it works in practice, that guardrails are what make it trustworthy, and that framework choice mattered more than I expected. The rest of the deck backs each of these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A chatbot answers a question. A workflow runs a path someone designed in advance. An agent is given a goal and decides the path itself, calling tools and reacting to what comes back. The loop at the bottom is the core idea: perceive, reason, act, observe,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luxury watch prices are scattered across marketplaces and noisy, and deciding whether it is a good deal takes judgement. The flow runs left to right. Every six hours GitHub Actions launches the agent. The agent decides which searches to run and which listings to hand in; plain code checks every listing, records the middle price of three or more, and computes the verdict. A BUY triggers a Telegram alert, and you can also ask for a check from Telegram. The bottom panels split what the LLM decides from what plain code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transferable lesson. An LLM will happily invent a price. So the tools themselves refuse bad input: a price must be written on the page it came from, for the exact watch; at least three matching listings must agree, with outliers dropped; the verdict is computed by code, not written by the model; the model must research before answering, with retries, a backup model and a daily budget; and alerts need three or more listings and have a 48-hour cooldown so nobody gets spammed. None of this is AI. It is ordinary code wrapped around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comes straight from the agent's own database. Blue bars are watches whose latest recorded price is at or below my target. Note this is price versus target only; the agent's verdict also weighs the trend. The Lange Saxonia at 67 percent of target is suspiciously low: a good example of why a human still reviews the output of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start on LangChain. I first tried n8n, a visual automation tool, but it felt too rigid for agent logic: this project needs custom checks like price grounding and cross-source consensus. Then Agno, a Python agent framework, but the ecosystem and documentation gaps slowed me down. LangChain gave me a mature ecosystem and plain Python for the guardrails. This is my experience for this use case, not a verdict on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comparison. n8n: huge integration list, great for non-developers, but I found it rigid for custom agent logic, big flows get hard to read, and Git-based version control sits on a paid plan. Agno: clean Pythonic API with memory and knowledge built in, Apache-licensed, but I hit ecosystem and documentation gaps, and it rebranded from Phidata in 2025 so older material can be out of date. LangChain: largest ecosystem, v1.0 stable, LangGraph and LangSmith for orchestration and tracing, but more code and concepts to learn. Items marked with an asterisk are from my own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scorecard is my judgement for this specific project, so treat it as a discussion starter, not a benchmark. Dots run from one to four. n8n wins clearly on ease for non-developers. LangChain leads on flexibility, ecosystem, versioning and observability. The right-hand panel is the takeaway: pick the tool by the shape of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practical path: choose a repetitive judgement task, start with one agent and two or three tools, add guardrails before adding autonomy, and measure what it does. Invite questions and offer to share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after the agentic redesign. Follow the green main path: GitHub Actions starts watchagent check, which hands each watch to the research agent. The agent decides how to research: it searches with Tavily, opens pages, and submits listings. Plain code then checks every listing: the price must be written in real search text, for the exact reference, and not an outlier. Code tells the agent what it accepted and what it still needs, and the agent keeps going until three listings agree; their median is stored in watches.db and the verdict is computed, not generated. Every model call goes through middleware for retries, a fallback model and a daily request budget. On Telegram, an assistant can answer questions and run research, but it can only propose changes to the watchlist; nothing changes until you tap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the framework WatchAgent is built on, defines an agent in one sentence: a model calling tools in a loop until a given task is complete. Think of the model as the brain that decides the next step, the tools as its hands, and the loop as the persistence to keep going until the job is done. On the right is how WatchAgent maps onto that: the goal is one watch's real price today; the tools are web search, opening a listing, handing in what it found and saving a tip; it keeps going until three matching listings are accepted; and plain code checks every price, while any change to your watchlist needs your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is reactive: it waits for your question, gives one answer from what it already knows, and stops; you decide what to do with it. Agentic AI is proactive: it is given a goal, can start on a schedule, takes several steps, looks things up, and checks its own results before acting. LangChain describes agents as working in continuous feedback loops for problems whose solution path is unpredictable, and Anthropic describes them as systems that direct their own process and tool use. The trade-off: more independence needs more guardrails, which is why WatchAgent's prices are checked by plain code rather than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Chain-of-thought means the model works through a problem in intermediate steps instead of jumping to an answer; Wei and colleagues showed in 2022 that this significantly improves multi-step reasoning. Agents go one step further, as in the ReAct approach from Yao and colleagues: they interleave reasoning with actions, so each step's result is real information that shapes the next step. The right side is a real WatchAgent run from today: its first hand-in was partly rejected because two quoted texts were not on the page, so it searched again more precisely, got three listings accepted, recorded the middle price of 6,740 dollars, and saved a tip for next time. The model decides what to try next; plain code decides what counts as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boxes from the diagram, in plain terms. Three do the work. watchagent check is the scheduler: every six hours it picks the watches that have gone longest without a check, researches three at a time, and sends a Telegram alert when one is a good buy. The research agent is the AI researcher: it searches, opens listings, and keeps handing in what it finds until three listings of the exact watch are accepted. The Telegram assistant is your chat window: it answers questions and can run a fresh check, but it can only suggest changes, and nothing happens until you tap Confirm. Two keep that work honest. The listing checks are plain code, no AI: a price counts only if it is really on the page, for the exact reference, and not far off the others; the middle price is recorded and the verdict is simple arithmetic. The model middleware wraps every AI call: it makes the AI research before answering, retries when the service is busy, switches to a backup model, caps the steps, and keeps a daily limit so the assistant always has requests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Arch" Type="http://schemas.openxmlformats.org/officeDocument/2006/relationships/image" Target="../media/image-architecture.png"/><Relationship Id="rId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C2C"/>
        </a:solidFill>
      </p:bgPr>
    </p:bg>
    <p:spTree>
      <p:nvGrpSpPr>
        <p:cNvPr id="1" name=""/>
        <p:cNvGrpSpPr/>
        <p:nvPr/>
      </p:nvGrpSpPr>
      <p:grpSpPr>
        <a:xfrm>
          <a:off x="0" y="0"/>
          <a:ext cx="0" cy="0"/>
          <a:chOff x="0" y="0"/>
          <a:chExt cx="0" cy="0"/>
        </a:xfrm>
      </p:grpSpPr>
      <p:sp>
        <p:nvSpPr>
          <p:cNvPr id="2" name="Text 0"/>
          <p:cNvSpPr txBox="1"/>
          <p:nvPr/>
        </p:nvSpPr>
        <p:spPr>
          <a:xfrm>
            <a:off x="731520" y="914400"/>
            <a:ext cx="9144000" cy="274320"/>
          </a:xfrm>
          <a:prstGeom prst="rect">
            <a:avLst/>
          </a:prstGeom>
          <a:noFill/>
          <a:ln/>
        </p:spPr>
        <p:txBody>
          <a:bodyPr wrap="square" lIns="0" tIns="0" rIns="0" bIns="0" rtlCol="0" anchor="t"/>
          <a:lstStyle/>
          <a:p>
            <a:pPr indent="0" marL="0">
              <a:buNone/>
            </a:pPr>
            <a:r>
              <a:rPr lang="en-US" sz="1200" b="1" spc="300" kern="0" dirty="0">
                <a:solidFill>
                  <a:srgbClr val="8FB0FF"/>
                </a:solidFill>
                <a:latin typeface="Arial" pitchFamily="34" charset="0"/>
                <a:ea typeface="Arial" pitchFamily="34" charset="-122"/>
                <a:cs typeface="Arial" pitchFamily="34" charset="-120"/>
              </a:rPr>
              <a:t>BROWN-BAG SESSION  |  AGENTIC AI</a:t>
            </a:r>
            <a:endParaRPr lang="en-US" sz="1200" dirty="0"/>
          </a:p>
        </p:txBody>
      </p:sp>
      <p:sp>
        <p:nvSpPr>
          <p:cNvPr id="3" name="Text 1"/>
          <p:cNvSpPr txBox="1"/>
          <p:nvPr/>
        </p:nvSpPr>
        <p:spPr>
          <a:xfrm>
            <a:off x="731520" y="1737360"/>
            <a:ext cx="9692640" cy="237744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From chatbots to agents: what a watch-price tracker taught us about agentic AI</a:t>
            </a:r>
            <a:endParaRPr lang="en-US" sz="4000" dirty="0"/>
          </a:p>
        </p:txBody>
      </p:sp>
      <p:sp>
        <p:nvSpPr>
          <p:cNvPr id="4" name="Text 2"/>
          <p:cNvSpPr txBox="1"/>
          <p:nvPr/>
        </p:nvSpPr>
        <p:spPr>
          <a:xfrm>
            <a:off x="731520" y="4297680"/>
            <a:ext cx="9144000" cy="457200"/>
          </a:xfrm>
          <a:prstGeom prst="rect">
            <a:avLst/>
          </a:prstGeom>
          <a:noFill/>
          <a:ln/>
        </p:spPr>
        <p:txBody>
          <a:bodyPr wrap="square" lIns="0" tIns="0" rIns="0" bIns="0" rtlCol="0" anchor="t"/>
          <a:lstStyle/>
          <a:p>
            <a:pPr indent="0" marL="0">
              <a:buNone/>
            </a:pPr>
            <a:r>
              <a:rPr lang="en-US" sz="1800" dirty="0">
                <a:solidFill>
                  <a:srgbClr val="C9D6F2"/>
                </a:solidFill>
                <a:latin typeface="Arial" pitchFamily="34" charset="0"/>
                <a:ea typeface="Arial" pitchFamily="34" charset="-122"/>
                <a:cs typeface="Arial" pitchFamily="34" charset="-120"/>
              </a:rPr>
              <a:t>A working LangChain agent, and the n8n and Agno detours that led to it</a:t>
            </a:r>
            <a:endParaRPr lang="en-US" sz="1800" dirty="0"/>
          </a:p>
        </p:txBody>
      </p:sp>
      <p:sp>
        <p:nvSpPr>
          <p:cNvPr id="5" name="Text 3"/>
          <p:cNvSpPr txBox="1"/>
          <p:nvPr/>
        </p:nvSpPr>
        <p:spPr>
          <a:xfrm>
            <a:off x="731520" y="5943600"/>
            <a:ext cx="5486400" cy="274320"/>
          </a:xfrm>
          <a:prstGeom prst="rect">
            <a:avLst/>
          </a:prstGeom>
          <a:noFill/>
          <a:ln/>
        </p:spPr>
        <p:txBody>
          <a:bodyPr wrap="square" lIns="0" tIns="0" rIns="0" bIns="0" rtlCol="0" anchor="t"/>
          <a:lstStyle/>
          <a:p>
            <a:pPr indent="0" marL="0">
              <a:buNone/>
            </a:pPr>
            <a:r>
              <a:rPr lang="en-US" sz="1200" dirty="0">
                <a:solidFill>
                  <a:srgbClr val="8FB0FF"/>
                </a:solidFill>
                <a:latin typeface="Arial" pitchFamily="34" charset="0"/>
                <a:ea typeface="Arial" pitchFamily="34" charset="-122"/>
                <a:cs typeface="Arial" pitchFamily="34" charset="-120"/>
              </a:rPr>
              <a:t>21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EXECUTIVE SUMMARY</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Agents decide and act, and a small one is already running unattended, provided it has guardrails and the right framework</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 repository, watches.db (15-24 Sep 2026)</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
        <p:nvSpPr>
          <p:cNvPr id="7" name="Shape 4"/>
          <p:cNvSpPr/>
          <p:nvPr/>
        </p:nvSpPr>
        <p:spPr>
          <a:xfrm>
            <a:off x="548640" y="1874520"/>
            <a:ext cx="548640" cy="548640"/>
          </a:xfrm>
          <a:prstGeom prst="ellipse">
            <a:avLst/>
          </a:prstGeom>
          <a:solidFill>
            <a:srgbClr val="051C2C"/>
          </a:solidFill>
          <a:ln w="12700">
            <a:solidFill>
              <a:srgbClr val="051C2C"/>
            </a:solidFill>
            <a:prstDash val="solid"/>
          </a:ln>
        </p:spPr>
      </p:sp>
      <p:sp>
        <p:nvSpPr>
          <p:cNvPr id="8" name="Text 5"/>
          <p:cNvSpPr txBox="1"/>
          <p:nvPr/>
        </p:nvSpPr>
        <p:spPr>
          <a:xfrm>
            <a:off x="548640"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txBox="1"/>
          <p:nvPr/>
        </p:nvSpPr>
        <p:spPr>
          <a:xfrm>
            <a:off x="1371600" y="1783080"/>
            <a:ext cx="10058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Agents decide and act, not just answer</a:t>
            </a:r>
            <a:endParaRPr lang="en-US" sz="1800" dirty="0"/>
          </a:p>
        </p:txBody>
      </p:sp>
      <p:sp>
        <p:nvSpPr>
          <p:cNvPr id="10" name="Text 7"/>
          <p:cNvSpPr txBox="1"/>
          <p:nvPr/>
        </p:nvSpPr>
        <p:spPr>
          <a:xfrm>
            <a:off x="1371600" y="2167128"/>
            <a:ext cx="10058400" cy="54864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Unlike a chatbot or a fixed workflow, an agent chooses its own tools and steps to reach a goal, then checks the result.</a:t>
            </a:r>
            <a:endParaRPr lang="en-US" sz="1400" dirty="0"/>
          </a:p>
        </p:txBody>
      </p:sp>
      <p:sp>
        <p:nvSpPr>
          <p:cNvPr id="11" name="Shape 8"/>
          <p:cNvSpPr/>
          <p:nvPr/>
        </p:nvSpPr>
        <p:spPr>
          <a:xfrm>
            <a:off x="548640" y="2990088"/>
            <a:ext cx="548640" cy="548640"/>
          </a:xfrm>
          <a:prstGeom prst="ellipse">
            <a:avLst/>
          </a:prstGeom>
          <a:solidFill>
            <a:srgbClr val="051C2C"/>
          </a:solidFill>
          <a:ln w="12700">
            <a:solidFill>
              <a:srgbClr val="051C2C"/>
            </a:solidFill>
            <a:prstDash val="solid"/>
          </a:ln>
        </p:spPr>
      </p:sp>
      <p:sp>
        <p:nvSpPr>
          <p:cNvPr id="12" name="Text 9"/>
          <p:cNvSpPr txBox="1"/>
          <p:nvPr/>
        </p:nvSpPr>
        <p:spPr>
          <a:xfrm>
            <a:off x="548640" y="29900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txBox="1"/>
          <p:nvPr/>
        </p:nvSpPr>
        <p:spPr>
          <a:xfrm>
            <a:off x="1371600" y="2898648"/>
            <a:ext cx="10058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It is already practical</a:t>
            </a:r>
            <a:endParaRPr lang="en-US" sz="1800" dirty="0"/>
          </a:p>
        </p:txBody>
      </p:sp>
      <p:sp>
        <p:nvSpPr>
          <p:cNvPr id="14" name="Text 11"/>
          <p:cNvSpPr txBox="1"/>
          <p:nvPr/>
        </p:nvSpPr>
        <p:spPr>
          <a:xfrm>
            <a:off x="1371600" y="3282696"/>
            <a:ext cx="10058400" cy="54864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WatchAgent tracks 10 luxury watches, runs unattended every 6 hours on GitHub Actions, and alerts and chats via Telegram.</a:t>
            </a:r>
            <a:endParaRPr lang="en-US" sz="1400" dirty="0"/>
          </a:p>
        </p:txBody>
      </p:sp>
      <p:sp>
        <p:nvSpPr>
          <p:cNvPr id="15" name="Shape 12"/>
          <p:cNvSpPr/>
          <p:nvPr/>
        </p:nvSpPr>
        <p:spPr>
          <a:xfrm>
            <a:off x="548640" y="4105656"/>
            <a:ext cx="548640" cy="548640"/>
          </a:xfrm>
          <a:prstGeom prst="ellipse">
            <a:avLst/>
          </a:prstGeom>
          <a:solidFill>
            <a:srgbClr val="051C2C"/>
          </a:solidFill>
          <a:ln w="12700">
            <a:solidFill>
              <a:srgbClr val="051C2C"/>
            </a:solidFill>
            <a:prstDash val="solid"/>
          </a:ln>
        </p:spPr>
      </p:sp>
      <p:sp>
        <p:nvSpPr>
          <p:cNvPr id="16" name="Text 13"/>
          <p:cNvSpPr txBox="1"/>
          <p:nvPr/>
        </p:nvSpPr>
        <p:spPr>
          <a:xfrm>
            <a:off x="548640" y="410565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txBox="1"/>
          <p:nvPr/>
        </p:nvSpPr>
        <p:spPr>
          <a:xfrm>
            <a:off x="1371600" y="4014216"/>
            <a:ext cx="10058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Guardrails make it trustworthy</a:t>
            </a:r>
            <a:endParaRPr lang="en-US" sz="1800" dirty="0"/>
          </a:p>
        </p:txBody>
      </p:sp>
      <p:sp>
        <p:nvSpPr>
          <p:cNvPr id="18" name="Text 15"/>
          <p:cNvSpPr txBox="1"/>
          <p:nvPr/>
        </p:nvSpPr>
        <p:spPr>
          <a:xfrm>
            <a:off x="1371600" y="4398264"/>
            <a:ext cx="10058400" cy="54864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Code-checked listings, a median of 3+ matches and a code-computed verdict turn a free-form LLM into a dependable analyst.</a:t>
            </a:r>
            <a:endParaRPr lang="en-US" sz="1400" dirty="0"/>
          </a:p>
        </p:txBody>
      </p:sp>
      <p:sp>
        <p:nvSpPr>
          <p:cNvPr id="19" name="Shape 16"/>
          <p:cNvSpPr/>
          <p:nvPr/>
        </p:nvSpPr>
        <p:spPr>
          <a:xfrm>
            <a:off x="548640" y="5221224"/>
            <a:ext cx="548640" cy="548640"/>
          </a:xfrm>
          <a:prstGeom prst="ellipse">
            <a:avLst/>
          </a:prstGeom>
          <a:solidFill>
            <a:srgbClr val="051C2C"/>
          </a:solidFill>
          <a:ln w="12700">
            <a:solidFill>
              <a:srgbClr val="051C2C"/>
            </a:solidFill>
            <a:prstDash val="solid"/>
          </a:ln>
        </p:spPr>
      </p:sp>
      <p:sp>
        <p:nvSpPr>
          <p:cNvPr id="20" name="Text 17"/>
          <p:cNvSpPr txBox="1"/>
          <p:nvPr/>
        </p:nvSpPr>
        <p:spPr>
          <a:xfrm>
            <a:off x="548640" y="522122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txBox="1"/>
          <p:nvPr/>
        </p:nvSpPr>
        <p:spPr>
          <a:xfrm>
            <a:off x="1371600" y="5129784"/>
            <a:ext cx="10058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Framework fit matters</a:t>
            </a:r>
            <a:endParaRPr lang="en-US" sz="1800" dirty="0"/>
          </a:p>
        </p:txBody>
      </p:sp>
      <p:sp>
        <p:nvSpPr>
          <p:cNvPr id="22" name="Text 19"/>
          <p:cNvSpPr txBox="1"/>
          <p:nvPr/>
        </p:nvSpPr>
        <p:spPr>
          <a:xfrm>
            <a:off x="1371600" y="5513832"/>
            <a:ext cx="10058400" cy="54864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n8n was too rigid for agent logic and Agno's ecosystem and docs fell short; LangChain gave the control and integrations this agent needed.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WHAT IS AGENTIC AI?</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Agentic AI moves from answering questions to pursuing goals with tools, feedback and judgement</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 project; author's framing of the chatbot-to-agent spectrum</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
        <p:nvSpPr>
          <p:cNvPr id="7" name="Shape 4"/>
          <p:cNvSpPr/>
          <p:nvPr/>
        </p:nvSpPr>
        <p:spPr>
          <a:xfrm>
            <a:off x="548640" y="1737360"/>
            <a:ext cx="3566160" cy="2651760"/>
          </a:xfrm>
          <a:prstGeom prst="rect">
            <a:avLst/>
          </a:prstGeom>
          <a:solidFill>
            <a:srgbClr val="F2F4F7"/>
          </a:solidFill>
          <a:ln w="12700">
            <a:solidFill>
              <a:srgbClr val="F2F4F7"/>
            </a:solidFill>
            <a:prstDash val="solid"/>
          </a:ln>
        </p:spPr>
      </p:sp>
      <p:sp>
        <p:nvSpPr>
          <p:cNvPr id="8" name="Text 5"/>
          <p:cNvSpPr txBox="1"/>
          <p:nvPr/>
        </p:nvSpPr>
        <p:spPr>
          <a:xfrm>
            <a:off x="822960" y="1874520"/>
            <a:ext cx="3017520" cy="457200"/>
          </a:xfrm>
          <a:prstGeom prst="rect">
            <a:avLst/>
          </a:prstGeom>
          <a:noFill/>
          <a:ln/>
        </p:spPr>
        <p:txBody>
          <a:bodyPr wrap="square" lIns="0" tIns="0" rIns="0" bIns="0" rtlCol="0" anchor="t"/>
          <a:lstStyle/>
          <a:p>
            <a:pPr indent="0" marL="0">
              <a:buNone/>
            </a:pPr>
            <a:r>
              <a:rPr lang="en-US" sz="2400" b="1" dirty="0">
                <a:solidFill>
                  <a:srgbClr val="051C2C"/>
                </a:solidFill>
                <a:latin typeface="Georgia" pitchFamily="34" charset="0"/>
                <a:ea typeface="Georgia" pitchFamily="34" charset="-122"/>
                <a:cs typeface="Georgia" pitchFamily="34" charset="-120"/>
              </a:rPr>
              <a:t>Chatbot</a:t>
            </a:r>
            <a:endParaRPr lang="en-US" sz="2400" dirty="0"/>
          </a:p>
        </p:txBody>
      </p:sp>
      <p:sp>
        <p:nvSpPr>
          <p:cNvPr id="9" name="Text 6"/>
          <p:cNvSpPr txBox="1"/>
          <p:nvPr/>
        </p:nvSpPr>
        <p:spPr>
          <a:xfrm>
            <a:off x="822960" y="2377440"/>
            <a:ext cx="3017520" cy="274320"/>
          </a:xfrm>
          <a:prstGeom prst="rect">
            <a:avLst/>
          </a:prstGeom>
          <a:noFill/>
          <a:ln/>
        </p:spPr>
        <p:txBody>
          <a:bodyPr wrap="square" lIns="0" tIns="0" rIns="0" bIns="0" rtlCol="0" anchor="t"/>
          <a:lstStyle/>
          <a:p>
            <a:pPr indent="0" marL="0">
              <a:buNone/>
            </a:pPr>
            <a:r>
              <a:rPr lang="en-US" sz="1100" b="1" spc="100" kern="0" dirty="0">
                <a:solidFill>
                  <a:srgbClr val="2251FF"/>
                </a:solidFill>
                <a:latin typeface="Arial" pitchFamily="34" charset="0"/>
                <a:ea typeface="Arial" pitchFamily="34" charset="-122"/>
                <a:cs typeface="Arial" pitchFamily="34" charset="-120"/>
              </a:rPr>
              <a:t>ANSWERS</a:t>
            </a:r>
            <a:endParaRPr lang="en-US" sz="1100" dirty="0"/>
          </a:p>
        </p:txBody>
      </p:sp>
      <p:sp>
        <p:nvSpPr>
          <p:cNvPr id="10" name="Text 7"/>
          <p:cNvSpPr txBox="1"/>
          <p:nvPr/>
        </p:nvSpPr>
        <p:spPr>
          <a:xfrm>
            <a:off x="822960" y="2743200"/>
            <a:ext cx="3017520" cy="914400"/>
          </a:xfrm>
          <a:prstGeom prst="rect">
            <a:avLst/>
          </a:prstGeom>
          <a:noFill/>
          <a:ln/>
        </p:spPr>
        <p:txBody>
          <a:bodyPr wrap="square" lIns="0" tIns="0" rIns="0" bIns="0" rtlCol="0" anchor="t"/>
          <a:lstStyle/>
          <a:p>
            <a:pPr indent="0" marL="0">
              <a:buNone/>
            </a:pPr>
            <a:r>
              <a:rPr lang="en-US" sz="1400" dirty="0">
                <a:solidFill>
                  <a:srgbClr val="051C2C"/>
                </a:solidFill>
                <a:latin typeface="Arial" pitchFamily="34" charset="0"/>
                <a:ea typeface="Arial" pitchFamily="34" charset="-122"/>
                <a:cs typeface="Arial" pitchFamily="34" charset="-120"/>
              </a:rPr>
              <a:t>You ask, it replies. No tools, no memory of outcomes.</a:t>
            </a:r>
            <a:endParaRPr lang="en-US" sz="1400" dirty="0"/>
          </a:p>
        </p:txBody>
      </p:sp>
      <p:sp>
        <p:nvSpPr>
          <p:cNvPr id="11" name="Text 8"/>
          <p:cNvSpPr txBox="1"/>
          <p:nvPr/>
        </p:nvSpPr>
        <p:spPr>
          <a:xfrm>
            <a:off x="822960" y="3703320"/>
            <a:ext cx="3017520" cy="59436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"What does a Submariner cost?"</a:t>
            </a:r>
            <a:endParaRPr lang="en-US" sz="1200" dirty="0"/>
          </a:p>
        </p:txBody>
      </p:sp>
      <p:sp>
        <p:nvSpPr>
          <p:cNvPr id="12" name="Shape 9"/>
          <p:cNvSpPr/>
          <p:nvPr/>
        </p:nvSpPr>
        <p:spPr>
          <a:xfrm>
            <a:off x="4297680" y="1737360"/>
            <a:ext cx="3566160" cy="2651760"/>
          </a:xfrm>
          <a:prstGeom prst="rect">
            <a:avLst/>
          </a:prstGeom>
          <a:solidFill>
            <a:srgbClr val="F2F4F7"/>
          </a:solidFill>
          <a:ln w="12700">
            <a:solidFill>
              <a:srgbClr val="F2F4F7"/>
            </a:solidFill>
            <a:prstDash val="solid"/>
          </a:ln>
        </p:spPr>
      </p:sp>
      <p:sp>
        <p:nvSpPr>
          <p:cNvPr id="13" name="Text 10"/>
          <p:cNvSpPr txBox="1"/>
          <p:nvPr/>
        </p:nvSpPr>
        <p:spPr>
          <a:xfrm>
            <a:off x="4572000" y="1874520"/>
            <a:ext cx="3017520" cy="457200"/>
          </a:xfrm>
          <a:prstGeom prst="rect">
            <a:avLst/>
          </a:prstGeom>
          <a:noFill/>
          <a:ln/>
        </p:spPr>
        <p:txBody>
          <a:bodyPr wrap="square" lIns="0" tIns="0" rIns="0" bIns="0" rtlCol="0" anchor="t"/>
          <a:lstStyle/>
          <a:p>
            <a:pPr indent="0" marL="0">
              <a:buNone/>
            </a:pPr>
            <a:r>
              <a:rPr lang="en-US" sz="2400" b="1" dirty="0">
                <a:solidFill>
                  <a:srgbClr val="051C2C"/>
                </a:solidFill>
                <a:latin typeface="Georgia" pitchFamily="34" charset="0"/>
                <a:ea typeface="Georgia" pitchFamily="34" charset="-122"/>
                <a:cs typeface="Georgia" pitchFamily="34" charset="-120"/>
              </a:rPr>
              <a:t>Workflow</a:t>
            </a:r>
            <a:endParaRPr lang="en-US" sz="2400" dirty="0"/>
          </a:p>
        </p:txBody>
      </p:sp>
      <p:sp>
        <p:nvSpPr>
          <p:cNvPr id="14" name="Text 11"/>
          <p:cNvSpPr txBox="1"/>
          <p:nvPr/>
        </p:nvSpPr>
        <p:spPr>
          <a:xfrm>
            <a:off x="4572000" y="2377440"/>
            <a:ext cx="3017520" cy="274320"/>
          </a:xfrm>
          <a:prstGeom prst="rect">
            <a:avLst/>
          </a:prstGeom>
          <a:noFill/>
          <a:ln/>
        </p:spPr>
        <p:txBody>
          <a:bodyPr wrap="square" lIns="0" tIns="0" rIns="0" bIns="0" rtlCol="0" anchor="t"/>
          <a:lstStyle/>
          <a:p>
            <a:pPr indent="0" marL="0">
              <a:buNone/>
            </a:pPr>
            <a:r>
              <a:rPr lang="en-US" sz="1100" b="1" spc="100" kern="0" dirty="0">
                <a:solidFill>
                  <a:srgbClr val="2251FF"/>
                </a:solidFill>
                <a:latin typeface="Arial" pitchFamily="34" charset="0"/>
                <a:ea typeface="Arial" pitchFamily="34" charset="-122"/>
                <a:cs typeface="Arial" pitchFamily="34" charset="-120"/>
              </a:rPr>
              <a:t>FOLLOWS A FIXED PATH</a:t>
            </a:r>
            <a:endParaRPr lang="en-US" sz="1100" dirty="0"/>
          </a:p>
        </p:txBody>
      </p:sp>
      <p:sp>
        <p:nvSpPr>
          <p:cNvPr id="15" name="Text 12"/>
          <p:cNvSpPr txBox="1"/>
          <p:nvPr/>
        </p:nvSpPr>
        <p:spPr>
          <a:xfrm>
            <a:off x="4572000" y="2743200"/>
            <a:ext cx="3017520" cy="914400"/>
          </a:xfrm>
          <a:prstGeom prst="rect">
            <a:avLst/>
          </a:prstGeom>
          <a:noFill/>
          <a:ln/>
        </p:spPr>
        <p:txBody>
          <a:bodyPr wrap="square" lIns="0" tIns="0" rIns="0" bIns="0" rtlCol="0" anchor="t"/>
          <a:lstStyle/>
          <a:p>
            <a:pPr indent="0" marL="0">
              <a:buNone/>
            </a:pPr>
            <a:r>
              <a:rPr lang="en-US" sz="1400" dirty="0">
                <a:solidFill>
                  <a:srgbClr val="051C2C"/>
                </a:solidFill>
                <a:latin typeface="Arial" pitchFamily="34" charset="0"/>
                <a:ea typeface="Arial" pitchFamily="34" charset="-122"/>
                <a:cs typeface="Arial" pitchFamily="34" charset="-120"/>
              </a:rPr>
              <a:t>Steps are designed up front. Reliable, but cannot adapt when reality differs.</a:t>
            </a:r>
            <a:endParaRPr lang="en-US" sz="1400" dirty="0"/>
          </a:p>
        </p:txBody>
      </p:sp>
      <p:sp>
        <p:nvSpPr>
          <p:cNvPr id="16" name="Text 13"/>
          <p:cNvSpPr txBox="1"/>
          <p:nvPr/>
        </p:nvSpPr>
        <p:spPr>
          <a:xfrm>
            <a:off x="4572000" y="3703320"/>
            <a:ext cx="3017520" cy="59436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Fetch price, compare, send email</a:t>
            </a:r>
            <a:endParaRPr lang="en-US" sz="1200" dirty="0"/>
          </a:p>
        </p:txBody>
      </p:sp>
      <p:sp>
        <p:nvSpPr>
          <p:cNvPr id="17" name="Shape 14"/>
          <p:cNvSpPr/>
          <p:nvPr/>
        </p:nvSpPr>
        <p:spPr>
          <a:xfrm>
            <a:off x="8046720" y="1737360"/>
            <a:ext cx="3566160" cy="2651760"/>
          </a:xfrm>
          <a:prstGeom prst="rect">
            <a:avLst/>
          </a:prstGeom>
          <a:solidFill>
            <a:srgbClr val="051C2C"/>
          </a:solidFill>
          <a:ln w="12700">
            <a:solidFill>
              <a:srgbClr val="051C2C"/>
            </a:solidFill>
            <a:prstDash val="solid"/>
          </a:ln>
        </p:spPr>
      </p:sp>
      <p:sp>
        <p:nvSpPr>
          <p:cNvPr id="18" name="Text 15"/>
          <p:cNvSpPr txBox="1"/>
          <p:nvPr/>
        </p:nvSpPr>
        <p:spPr>
          <a:xfrm>
            <a:off x="8321040" y="1874520"/>
            <a:ext cx="3017520" cy="457200"/>
          </a:xfrm>
          <a:prstGeom prst="rect">
            <a:avLst/>
          </a:prstGeom>
          <a:noFill/>
          <a:ln/>
        </p:spPr>
        <p:txBody>
          <a:bodyPr wrap="square" lIns="0" tIns="0" rIns="0" bIns="0" rtlCol="0" anchor="t"/>
          <a:lstStyle/>
          <a:p>
            <a:pPr indent="0" marL="0">
              <a:buNone/>
            </a:pPr>
            <a:r>
              <a:rPr lang="en-US" sz="2400" b="1" dirty="0">
                <a:solidFill>
                  <a:srgbClr val="FFFFFF"/>
                </a:solidFill>
                <a:latin typeface="Georgia" pitchFamily="34" charset="0"/>
                <a:ea typeface="Georgia" pitchFamily="34" charset="-122"/>
                <a:cs typeface="Georgia" pitchFamily="34" charset="-120"/>
              </a:rPr>
              <a:t>Agent</a:t>
            </a:r>
            <a:endParaRPr lang="en-US" sz="2400" dirty="0"/>
          </a:p>
        </p:txBody>
      </p:sp>
      <p:sp>
        <p:nvSpPr>
          <p:cNvPr id="19" name="Text 16"/>
          <p:cNvSpPr txBox="1"/>
          <p:nvPr/>
        </p:nvSpPr>
        <p:spPr>
          <a:xfrm>
            <a:off x="8321040" y="2377440"/>
            <a:ext cx="3017520" cy="274320"/>
          </a:xfrm>
          <a:prstGeom prst="rect">
            <a:avLst/>
          </a:prstGeom>
          <a:noFill/>
          <a:ln/>
        </p:spPr>
        <p:txBody>
          <a:bodyPr wrap="square" lIns="0" tIns="0" rIns="0" bIns="0" rtlCol="0" anchor="t"/>
          <a:lstStyle/>
          <a:p>
            <a:pPr indent="0" marL="0">
              <a:buNone/>
            </a:pPr>
            <a:r>
              <a:rPr lang="en-US" sz="1100" b="1" spc="100" kern="0" dirty="0">
                <a:solidFill>
                  <a:srgbClr val="8FB0FF"/>
                </a:solidFill>
                <a:latin typeface="Arial" pitchFamily="34" charset="0"/>
                <a:ea typeface="Arial" pitchFamily="34" charset="-122"/>
                <a:cs typeface="Arial" pitchFamily="34" charset="-120"/>
              </a:rPr>
              <a:t>PURSUES A GOAL</a:t>
            </a:r>
            <a:endParaRPr lang="en-US" sz="1100" dirty="0"/>
          </a:p>
        </p:txBody>
      </p:sp>
      <p:sp>
        <p:nvSpPr>
          <p:cNvPr id="20" name="Text 17"/>
          <p:cNvSpPr txBox="1"/>
          <p:nvPr/>
        </p:nvSpPr>
        <p:spPr>
          <a:xfrm>
            <a:off x="8321040" y="2743200"/>
            <a:ext cx="3017520" cy="9144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Plans, chooses tools, checks results and retries until the goal is met.</a:t>
            </a:r>
            <a:endParaRPr lang="en-US" sz="1400" dirty="0"/>
          </a:p>
        </p:txBody>
      </p:sp>
      <p:sp>
        <p:nvSpPr>
          <p:cNvPr id="21" name="Text 18"/>
          <p:cNvSpPr txBox="1"/>
          <p:nvPr/>
        </p:nvSpPr>
        <p:spPr>
          <a:xfrm>
            <a:off x="8321040" y="3703320"/>
            <a:ext cx="3017520" cy="594360"/>
          </a:xfrm>
          <a:prstGeom prst="rect">
            <a:avLst/>
          </a:prstGeom>
          <a:noFill/>
          <a:ln/>
        </p:spPr>
        <p:txBody>
          <a:bodyPr wrap="square" lIns="0" tIns="0" rIns="0" bIns="0" rtlCol="0" anchor="t"/>
          <a:lstStyle/>
          <a:p>
            <a:pPr indent="0" marL="0">
              <a:buNone/>
            </a:pPr>
            <a:r>
              <a:rPr lang="en-US" sz="1200" i="1" dirty="0">
                <a:solidFill>
                  <a:srgbClr val="C9D6F2"/>
                </a:solidFill>
                <a:latin typeface="Arial" pitchFamily="34" charset="0"/>
                <a:ea typeface="Arial" pitchFamily="34" charset="-122"/>
                <a:cs typeface="Arial" pitchFamily="34" charset="-120"/>
              </a:rPr>
              <a:t>Find the price on 2+ sources, verify, judge BUY / WAIT</a:t>
            </a:r>
            <a:endParaRPr lang="en-US" sz="1200" dirty="0"/>
          </a:p>
        </p:txBody>
      </p:sp>
      <p:sp>
        <p:nvSpPr>
          <p:cNvPr id="22" name="Text 19"/>
          <p:cNvSpPr txBox="1"/>
          <p:nvPr/>
        </p:nvSpPr>
        <p:spPr>
          <a:xfrm>
            <a:off x="548640" y="4709160"/>
            <a:ext cx="3657600" cy="274320"/>
          </a:xfrm>
          <a:prstGeom prst="rect">
            <a:avLst/>
          </a:prstGeom>
          <a:noFill/>
          <a:ln/>
        </p:spPr>
        <p:txBody>
          <a:bodyPr wrap="square" lIns="0" tIns="0" rIns="0" bIns="0" rtlCol="0" anchor="t"/>
          <a:lstStyle/>
          <a:p>
            <a:pPr indent="0" marL="0">
              <a:buNone/>
            </a:pPr>
            <a:r>
              <a:rPr lang="en-US" sz="1100" b="1" spc="200" kern="0" dirty="0">
                <a:solidFill>
                  <a:srgbClr val="6B7280"/>
                </a:solidFill>
                <a:latin typeface="Arial" pitchFamily="34" charset="0"/>
                <a:ea typeface="Arial" pitchFamily="34" charset="-122"/>
                <a:cs typeface="Arial" pitchFamily="34" charset="-120"/>
              </a:rPr>
              <a:t>THE AGENT LOOP</a:t>
            </a:r>
            <a:endParaRPr lang="en-US" sz="1100" dirty="0"/>
          </a:p>
        </p:txBody>
      </p:sp>
      <p:sp>
        <p:nvSpPr>
          <p:cNvPr id="23" name="Shape 20"/>
          <p:cNvSpPr/>
          <p:nvPr/>
        </p:nvSpPr>
        <p:spPr>
          <a:xfrm>
            <a:off x="548640" y="5029200"/>
            <a:ext cx="2697480" cy="1051560"/>
          </a:xfrm>
          <a:prstGeom prst="chevron">
            <a:avLst/>
          </a:prstGeom>
          <a:solidFill>
            <a:srgbClr val="051C2C"/>
          </a:solidFill>
          <a:ln w="12700">
            <a:solidFill>
              <a:srgbClr val="FFFFFF"/>
            </a:solidFill>
            <a:prstDash val="solid"/>
          </a:ln>
        </p:spPr>
      </p:sp>
      <p:sp>
        <p:nvSpPr>
          <p:cNvPr id="24" name="Text 21"/>
          <p:cNvSpPr txBox="1"/>
          <p:nvPr/>
        </p:nvSpPr>
        <p:spPr>
          <a:xfrm>
            <a:off x="1280160" y="519379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Perceive</a:t>
            </a:r>
            <a:endParaRPr lang="en-US" sz="1400" dirty="0"/>
          </a:p>
        </p:txBody>
      </p:sp>
      <p:sp>
        <p:nvSpPr>
          <p:cNvPr id="25" name="Text 22"/>
          <p:cNvSpPr txBox="1"/>
          <p:nvPr/>
        </p:nvSpPr>
        <p:spPr>
          <a:xfrm>
            <a:off x="1280160" y="5486400"/>
            <a:ext cx="1508760" cy="502920"/>
          </a:xfrm>
          <a:prstGeom prst="rect">
            <a:avLst/>
          </a:prstGeom>
          <a:noFill/>
          <a:ln/>
        </p:spPr>
        <p:txBody>
          <a:bodyPr wrap="square" lIns="0" tIns="0" rIns="0" bIns="0" rtlCol="0" anchor="t"/>
          <a:lstStyle/>
          <a:p>
            <a:pPr indent="0" marL="0">
              <a:buNone/>
            </a:pPr>
            <a:r>
              <a:rPr lang="en-US" sz="1050" dirty="0">
                <a:solidFill>
                  <a:srgbClr val="DDE6FA"/>
                </a:solidFill>
                <a:latin typeface="Arial" pitchFamily="34" charset="0"/>
                <a:ea typeface="Arial" pitchFamily="34" charset="-122"/>
                <a:cs typeface="Arial" pitchFamily="34" charset="-120"/>
              </a:rPr>
              <a:t>Read the goal and current state</a:t>
            </a:r>
            <a:endParaRPr lang="en-US" sz="1050" dirty="0"/>
          </a:p>
        </p:txBody>
      </p:sp>
      <p:sp>
        <p:nvSpPr>
          <p:cNvPr id="26" name="Shape 23"/>
          <p:cNvSpPr/>
          <p:nvPr/>
        </p:nvSpPr>
        <p:spPr>
          <a:xfrm>
            <a:off x="3337560" y="5029200"/>
            <a:ext cx="2697480" cy="1051560"/>
          </a:xfrm>
          <a:prstGeom prst="chevron">
            <a:avLst/>
          </a:prstGeom>
          <a:solidFill>
            <a:srgbClr val="051C2C"/>
          </a:solidFill>
          <a:ln w="12700">
            <a:solidFill>
              <a:srgbClr val="FFFFFF"/>
            </a:solidFill>
            <a:prstDash val="solid"/>
          </a:ln>
        </p:spPr>
      </p:sp>
      <p:sp>
        <p:nvSpPr>
          <p:cNvPr id="27" name="Text 24"/>
          <p:cNvSpPr txBox="1"/>
          <p:nvPr/>
        </p:nvSpPr>
        <p:spPr>
          <a:xfrm>
            <a:off x="4069080" y="519379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Reason</a:t>
            </a:r>
            <a:endParaRPr lang="en-US" sz="1400" dirty="0"/>
          </a:p>
        </p:txBody>
      </p:sp>
      <p:sp>
        <p:nvSpPr>
          <p:cNvPr id="28" name="Text 25"/>
          <p:cNvSpPr txBox="1"/>
          <p:nvPr/>
        </p:nvSpPr>
        <p:spPr>
          <a:xfrm>
            <a:off x="4069080" y="5486400"/>
            <a:ext cx="1508760" cy="502920"/>
          </a:xfrm>
          <a:prstGeom prst="rect">
            <a:avLst/>
          </a:prstGeom>
          <a:noFill/>
          <a:ln/>
        </p:spPr>
        <p:txBody>
          <a:bodyPr wrap="square" lIns="0" tIns="0" rIns="0" bIns="0" rtlCol="0" anchor="t"/>
          <a:lstStyle/>
          <a:p>
            <a:pPr indent="0" marL="0">
              <a:buNone/>
            </a:pPr>
            <a:r>
              <a:rPr lang="en-US" sz="1050" dirty="0">
                <a:solidFill>
                  <a:srgbClr val="DDE6FA"/>
                </a:solidFill>
                <a:latin typeface="Arial" pitchFamily="34" charset="0"/>
                <a:ea typeface="Arial" pitchFamily="34" charset="-122"/>
                <a:cs typeface="Arial" pitchFamily="34" charset="-120"/>
              </a:rPr>
              <a:t>Decide the next step</a:t>
            </a:r>
            <a:endParaRPr lang="en-US" sz="1050" dirty="0"/>
          </a:p>
        </p:txBody>
      </p:sp>
      <p:sp>
        <p:nvSpPr>
          <p:cNvPr id="29" name="Shape 26"/>
          <p:cNvSpPr/>
          <p:nvPr/>
        </p:nvSpPr>
        <p:spPr>
          <a:xfrm>
            <a:off x="6126480" y="5029200"/>
            <a:ext cx="2697480" cy="1051560"/>
          </a:xfrm>
          <a:prstGeom prst="chevron">
            <a:avLst/>
          </a:prstGeom>
          <a:solidFill>
            <a:srgbClr val="051C2C"/>
          </a:solidFill>
          <a:ln w="12700">
            <a:solidFill>
              <a:srgbClr val="FFFFFF"/>
            </a:solidFill>
            <a:prstDash val="solid"/>
          </a:ln>
        </p:spPr>
      </p:sp>
      <p:sp>
        <p:nvSpPr>
          <p:cNvPr id="30" name="Text 27"/>
          <p:cNvSpPr txBox="1"/>
          <p:nvPr/>
        </p:nvSpPr>
        <p:spPr>
          <a:xfrm>
            <a:off x="6858000" y="519379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Act</a:t>
            </a:r>
            <a:endParaRPr lang="en-US" sz="1400" dirty="0"/>
          </a:p>
        </p:txBody>
      </p:sp>
      <p:sp>
        <p:nvSpPr>
          <p:cNvPr id="31" name="Text 28"/>
          <p:cNvSpPr txBox="1"/>
          <p:nvPr/>
        </p:nvSpPr>
        <p:spPr>
          <a:xfrm>
            <a:off x="6858000" y="5486400"/>
            <a:ext cx="1508760" cy="502920"/>
          </a:xfrm>
          <a:prstGeom prst="rect">
            <a:avLst/>
          </a:prstGeom>
          <a:noFill/>
          <a:ln/>
        </p:spPr>
        <p:txBody>
          <a:bodyPr wrap="square" lIns="0" tIns="0" rIns="0" bIns="0" rtlCol="0" anchor="t"/>
          <a:lstStyle/>
          <a:p>
            <a:pPr indent="0" marL="0">
              <a:buNone/>
            </a:pPr>
            <a:r>
              <a:rPr lang="en-US" sz="1050" dirty="0">
                <a:solidFill>
                  <a:srgbClr val="DDE6FA"/>
                </a:solidFill>
                <a:latin typeface="Arial" pitchFamily="34" charset="0"/>
                <a:ea typeface="Arial" pitchFamily="34" charset="-122"/>
                <a:cs typeface="Arial" pitchFamily="34" charset="-120"/>
              </a:rPr>
              <a:t>Call a tool (search, record)</a:t>
            </a:r>
            <a:endParaRPr lang="en-US" sz="1050" dirty="0"/>
          </a:p>
        </p:txBody>
      </p:sp>
      <p:sp>
        <p:nvSpPr>
          <p:cNvPr id="32" name="Shape 29"/>
          <p:cNvSpPr/>
          <p:nvPr/>
        </p:nvSpPr>
        <p:spPr>
          <a:xfrm>
            <a:off x="8915400" y="5029200"/>
            <a:ext cx="2697480" cy="1051560"/>
          </a:xfrm>
          <a:prstGeom prst="chevron">
            <a:avLst/>
          </a:prstGeom>
          <a:solidFill>
            <a:srgbClr val="2251FF"/>
          </a:solidFill>
          <a:ln w="12700">
            <a:solidFill>
              <a:srgbClr val="FFFFFF"/>
            </a:solidFill>
            <a:prstDash val="solid"/>
          </a:ln>
        </p:spPr>
      </p:sp>
      <p:sp>
        <p:nvSpPr>
          <p:cNvPr id="33" name="Text 30"/>
          <p:cNvSpPr txBox="1"/>
          <p:nvPr/>
        </p:nvSpPr>
        <p:spPr>
          <a:xfrm>
            <a:off x="9646920" y="519379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Observe</a:t>
            </a:r>
            <a:endParaRPr lang="en-US" sz="1400" dirty="0"/>
          </a:p>
        </p:txBody>
      </p:sp>
      <p:sp>
        <p:nvSpPr>
          <p:cNvPr id="34" name="Text 31"/>
          <p:cNvSpPr txBox="1"/>
          <p:nvPr/>
        </p:nvSpPr>
        <p:spPr>
          <a:xfrm>
            <a:off x="9646920" y="5486400"/>
            <a:ext cx="1508760" cy="502920"/>
          </a:xfrm>
          <a:prstGeom prst="rect">
            <a:avLst/>
          </a:prstGeom>
          <a:noFill/>
          <a:ln/>
        </p:spPr>
        <p:txBody>
          <a:bodyPr wrap="square" lIns="0" tIns="0" rIns="0" bIns="0" rtlCol="0" anchor="t"/>
          <a:lstStyle/>
          <a:p>
            <a:pPr indent="0" marL="0">
              <a:buNone/>
            </a:pPr>
            <a:r>
              <a:rPr lang="en-US" sz="1050" dirty="0">
                <a:solidFill>
                  <a:srgbClr val="DDE6FA"/>
                </a:solidFill>
                <a:latin typeface="Arial" pitchFamily="34" charset="0"/>
                <a:ea typeface="Arial" pitchFamily="34" charset="-122"/>
                <a:cs typeface="Arial" pitchFamily="34" charset="-120"/>
              </a:rPr>
              <a:t>Check the result, then loop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THE SHOWCASE: WATCHAGENT</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WatchAgent hands the LLM a goal and four tools, and lets it decide how to find a trustworthy price</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watchagent/agent.py, tools.py, verdict.py, .github/workflows/watchagent-check.yml</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7</a:t>
            </a:r>
            <a:endParaRPr lang="en-US" sz="900" dirty="0"/>
          </a:p>
        </p:txBody>
      </p:sp>
      <p:sp>
        <p:nvSpPr>
          <p:cNvPr id="7" name="Shape 4"/>
          <p:cNvSpPr/>
          <p:nvPr/>
        </p:nvSpPr>
        <p:spPr>
          <a:xfrm>
            <a:off x="548640" y="1691640"/>
            <a:ext cx="1600200" cy="1783080"/>
          </a:xfrm>
          <a:prstGeom prst="rect">
            <a:avLst/>
          </a:prstGeom>
          <a:solidFill>
            <a:srgbClr val="F2F4F7"/>
          </a:solidFill>
          <a:ln w="12700">
            <a:solidFill>
              <a:srgbClr val="F2F4F7"/>
            </a:solidFill>
            <a:prstDash val="solid"/>
          </a:ln>
        </p:spPr>
      </p:sp>
      <p:sp>
        <p:nvSpPr>
          <p:cNvPr id="8" name="Text 5"/>
          <p:cNvSpPr txBox="1"/>
          <p:nvPr/>
        </p:nvSpPr>
        <p:spPr>
          <a:xfrm>
            <a:off x="685800" y="1810512"/>
            <a:ext cx="1325880" cy="320040"/>
          </a:xfrm>
          <a:prstGeom prst="rect">
            <a:avLst/>
          </a:prstGeom>
          <a:noFill/>
          <a:ln/>
        </p:spPr>
        <p:txBody>
          <a:bodyPr wrap="square" lIns="0" tIns="0" rIns="0" bIns="0" rtlCol="0" anchor="t"/>
          <a:lstStyle/>
          <a:p>
            <a:pPr indent="0" marL="0">
              <a:buNone/>
            </a:pPr>
            <a:r>
              <a:rPr lang="en-US" sz="1400" b="1" dirty="0">
                <a:solidFill>
                  <a:srgbClr val="051C2C"/>
                </a:solidFill>
                <a:latin typeface="Arial" pitchFamily="34" charset="0"/>
                <a:ea typeface="Arial" pitchFamily="34" charset="-122"/>
                <a:cs typeface="Arial" pitchFamily="34" charset="-120"/>
              </a:rPr>
              <a:t>Trigger</a:t>
            </a:r>
            <a:endParaRPr lang="en-US" sz="1400" dirty="0"/>
          </a:p>
        </p:txBody>
      </p:sp>
      <p:sp>
        <p:nvSpPr>
          <p:cNvPr id="9" name="Text 6"/>
          <p:cNvSpPr txBox="1"/>
          <p:nvPr/>
        </p:nvSpPr>
        <p:spPr>
          <a:xfrm>
            <a:off x="685800" y="2194560"/>
            <a:ext cx="1325880" cy="118872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GitHub Actions every 6 hours, or a Telegram request</a:t>
            </a:r>
            <a:endParaRPr lang="en-US" sz="1100" dirty="0"/>
          </a:p>
        </p:txBody>
      </p:sp>
      <p:sp>
        <p:nvSpPr>
          <p:cNvPr id="10" name="Shape 7"/>
          <p:cNvSpPr/>
          <p:nvPr/>
        </p:nvSpPr>
        <p:spPr>
          <a:xfrm>
            <a:off x="2176272" y="2468880"/>
            <a:ext cx="219456" cy="219456"/>
          </a:xfrm>
          <a:prstGeom prst="rightArrow">
            <a:avLst/>
          </a:prstGeom>
          <a:solidFill>
            <a:srgbClr val="2251FF"/>
          </a:solidFill>
          <a:ln w="12700">
            <a:solidFill>
              <a:srgbClr val="2251FF"/>
            </a:solidFill>
            <a:prstDash val="solid"/>
          </a:ln>
        </p:spPr>
      </p:sp>
      <p:sp>
        <p:nvSpPr>
          <p:cNvPr id="11" name="Shape 8"/>
          <p:cNvSpPr/>
          <p:nvPr/>
        </p:nvSpPr>
        <p:spPr>
          <a:xfrm>
            <a:off x="2423160" y="1691640"/>
            <a:ext cx="1600200" cy="1783080"/>
          </a:xfrm>
          <a:prstGeom prst="rect">
            <a:avLst/>
          </a:prstGeom>
          <a:solidFill>
            <a:srgbClr val="051C2C"/>
          </a:solidFill>
          <a:ln w="12700">
            <a:solidFill>
              <a:srgbClr val="051C2C"/>
            </a:solidFill>
            <a:prstDash val="solid"/>
          </a:ln>
        </p:spPr>
      </p:sp>
      <p:sp>
        <p:nvSpPr>
          <p:cNvPr id="12" name="Text 9"/>
          <p:cNvSpPr txBox="1"/>
          <p:nvPr/>
        </p:nvSpPr>
        <p:spPr>
          <a:xfrm>
            <a:off x="2560320" y="1810512"/>
            <a:ext cx="132588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Agent</a:t>
            </a:r>
            <a:endParaRPr lang="en-US" sz="1400" dirty="0"/>
          </a:p>
        </p:txBody>
      </p:sp>
      <p:sp>
        <p:nvSpPr>
          <p:cNvPr id="13" name="Text 10"/>
          <p:cNvSpPr txBox="1"/>
          <p:nvPr/>
        </p:nvSpPr>
        <p:spPr>
          <a:xfrm>
            <a:off x="2560320" y="2194560"/>
            <a:ext cx="1325880" cy="1188720"/>
          </a:xfrm>
          <a:prstGeom prst="rect">
            <a:avLst/>
          </a:prstGeom>
          <a:noFill/>
          <a:ln/>
        </p:spPr>
        <p:txBody>
          <a:bodyPr wrap="square" lIns="0" tIns="0" rIns="0" bIns="0" rtlCol="0" anchor="t"/>
          <a:lstStyle/>
          <a:p>
            <a:pPr indent="0" marL="0">
              <a:buNone/>
            </a:pPr>
            <a:r>
              <a:rPr lang="en-US" sz="1100" dirty="0">
                <a:solidFill>
                  <a:srgbClr val="DDE6FA"/>
                </a:solidFill>
                <a:latin typeface="Arial" pitchFamily="34" charset="0"/>
                <a:ea typeface="Arial" pitchFamily="34" charset="-122"/>
                <a:cs typeface="Arial" pitchFamily="34" charset="-120"/>
              </a:rPr>
              <a:t>LangChain create_agent with Gemini, plus a backup model</a:t>
            </a:r>
            <a:endParaRPr lang="en-US" sz="1100" dirty="0"/>
          </a:p>
        </p:txBody>
      </p:sp>
      <p:sp>
        <p:nvSpPr>
          <p:cNvPr id="14" name="Shape 11"/>
          <p:cNvSpPr/>
          <p:nvPr/>
        </p:nvSpPr>
        <p:spPr>
          <a:xfrm>
            <a:off x="4050792" y="2468880"/>
            <a:ext cx="219456" cy="219456"/>
          </a:xfrm>
          <a:prstGeom prst="rightArrow">
            <a:avLst/>
          </a:prstGeom>
          <a:solidFill>
            <a:srgbClr val="2251FF"/>
          </a:solidFill>
          <a:ln w="12700">
            <a:solidFill>
              <a:srgbClr val="2251FF"/>
            </a:solidFill>
            <a:prstDash val="solid"/>
          </a:ln>
        </p:spPr>
      </p:sp>
      <p:sp>
        <p:nvSpPr>
          <p:cNvPr id="15" name="Shape 12"/>
          <p:cNvSpPr/>
          <p:nvPr/>
        </p:nvSpPr>
        <p:spPr>
          <a:xfrm>
            <a:off x="4297680" y="1691640"/>
            <a:ext cx="1600200" cy="1783080"/>
          </a:xfrm>
          <a:prstGeom prst="rect">
            <a:avLst/>
          </a:prstGeom>
          <a:solidFill>
            <a:srgbClr val="F2F4F7"/>
          </a:solidFill>
          <a:ln w="12700">
            <a:solidFill>
              <a:srgbClr val="F2F4F7"/>
            </a:solidFill>
            <a:prstDash val="solid"/>
          </a:ln>
        </p:spPr>
      </p:sp>
      <p:sp>
        <p:nvSpPr>
          <p:cNvPr id="16" name="Text 13"/>
          <p:cNvSpPr txBox="1"/>
          <p:nvPr/>
        </p:nvSpPr>
        <p:spPr>
          <a:xfrm>
            <a:off x="4434840" y="1810512"/>
            <a:ext cx="1325880" cy="320040"/>
          </a:xfrm>
          <a:prstGeom prst="rect">
            <a:avLst/>
          </a:prstGeom>
          <a:noFill/>
          <a:ln/>
        </p:spPr>
        <p:txBody>
          <a:bodyPr wrap="square" lIns="0" tIns="0" rIns="0" bIns="0" rtlCol="0" anchor="t"/>
          <a:lstStyle/>
          <a:p>
            <a:pPr indent="0" marL="0">
              <a:buNone/>
            </a:pPr>
            <a:r>
              <a:rPr lang="en-US" sz="1400" b="1" dirty="0">
                <a:solidFill>
                  <a:srgbClr val="051C2C"/>
                </a:solidFill>
                <a:latin typeface="Arial" pitchFamily="34" charset="0"/>
                <a:ea typeface="Arial" pitchFamily="34" charset="-122"/>
                <a:cs typeface="Arial" pitchFamily="34" charset="-120"/>
              </a:rPr>
              <a:t>Tools</a:t>
            </a:r>
            <a:endParaRPr lang="en-US" sz="1400" dirty="0"/>
          </a:p>
        </p:txBody>
      </p:sp>
      <p:sp>
        <p:nvSpPr>
          <p:cNvPr id="17" name="Text 14"/>
          <p:cNvSpPr txBox="1"/>
          <p:nvPr/>
        </p:nvSpPr>
        <p:spPr>
          <a:xfrm>
            <a:off x="4434840" y="2194560"/>
            <a:ext cx="1325880" cy="118872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Search the web, open a listing, submit listings, save a note</a:t>
            </a:r>
            <a:endParaRPr lang="en-US" sz="1100" dirty="0"/>
          </a:p>
        </p:txBody>
      </p:sp>
      <p:sp>
        <p:nvSpPr>
          <p:cNvPr id="18" name="Shape 15"/>
          <p:cNvSpPr/>
          <p:nvPr/>
        </p:nvSpPr>
        <p:spPr>
          <a:xfrm>
            <a:off x="5925312" y="2468880"/>
            <a:ext cx="219456" cy="219456"/>
          </a:xfrm>
          <a:prstGeom prst="rightArrow">
            <a:avLst/>
          </a:prstGeom>
          <a:solidFill>
            <a:srgbClr val="2251FF"/>
          </a:solidFill>
          <a:ln w="12700">
            <a:solidFill>
              <a:srgbClr val="2251FF"/>
            </a:solidFill>
            <a:prstDash val="solid"/>
          </a:ln>
        </p:spPr>
      </p:sp>
      <p:sp>
        <p:nvSpPr>
          <p:cNvPr id="19" name="Shape 16"/>
          <p:cNvSpPr/>
          <p:nvPr/>
        </p:nvSpPr>
        <p:spPr>
          <a:xfrm>
            <a:off x="6172200" y="1691640"/>
            <a:ext cx="1600200" cy="1783080"/>
          </a:xfrm>
          <a:prstGeom prst="rect">
            <a:avLst/>
          </a:prstGeom>
          <a:solidFill>
            <a:srgbClr val="F2F4F7"/>
          </a:solidFill>
          <a:ln w="12700">
            <a:solidFill>
              <a:srgbClr val="F2F4F7"/>
            </a:solidFill>
            <a:prstDash val="solid"/>
          </a:ln>
        </p:spPr>
      </p:sp>
      <p:sp>
        <p:nvSpPr>
          <p:cNvPr id="20" name="Text 17"/>
          <p:cNvSpPr txBox="1"/>
          <p:nvPr/>
        </p:nvSpPr>
        <p:spPr>
          <a:xfrm>
            <a:off x="6309360" y="1810512"/>
            <a:ext cx="1325880" cy="320040"/>
          </a:xfrm>
          <a:prstGeom prst="rect">
            <a:avLst/>
          </a:prstGeom>
          <a:noFill/>
          <a:ln/>
        </p:spPr>
        <p:txBody>
          <a:bodyPr wrap="square" lIns="0" tIns="0" rIns="0" bIns="0" rtlCol="0" anchor="t"/>
          <a:lstStyle/>
          <a:p>
            <a:pPr indent="0" marL="0">
              <a:buNone/>
            </a:pPr>
            <a:r>
              <a:rPr lang="en-US" sz="1400" b="1" dirty="0">
                <a:solidFill>
                  <a:srgbClr val="051C2C"/>
                </a:solidFill>
                <a:latin typeface="Arial" pitchFamily="34" charset="0"/>
                <a:ea typeface="Arial" pitchFamily="34" charset="-122"/>
                <a:cs typeface="Arial" pitchFamily="34" charset="-120"/>
              </a:rPr>
              <a:t>Guardrails</a:t>
            </a:r>
            <a:endParaRPr lang="en-US" sz="1400" dirty="0"/>
          </a:p>
        </p:txBody>
      </p:sp>
      <p:sp>
        <p:nvSpPr>
          <p:cNvPr id="21" name="Text 18"/>
          <p:cNvSpPr txBox="1"/>
          <p:nvPr/>
        </p:nvSpPr>
        <p:spPr>
          <a:xfrm>
            <a:off x="6309360" y="2194560"/>
            <a:ext cx="1325880" cy="118872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Listing checks in code, a median of 3+ listings, a request budget</a:t>
            </a:r>
            <a:endParaRPr lang="en-US" sz="1100" dirty="0"/>
          </a:p>
        </p:txBody>
      </p:sp>
      <p:sp>
        <p:nvSpPr>
          <p:cNvPr id="22" name="Shape 19"/>
          <p:cNvSpPr/>
          <p:nvPr/>
        </p:nvSpPr>
        <p:spPr>
          <a:xfrm>
            <a:off x="7799832" y="2468880"/>
            <a:ext cx="219456" cy="219456"/>
          </a:xfrm>
          <a:prstGeom prst="rightArrow">
            <a:avLst/>
          </a:prstGeom>
          <a:solidFill>
            <a:srgbClr val="2251FF"/>
          </a:solidFill>
          <a:ln w="12700">
            <a:solidFill>
              <a:srgbClr val="2251FF"/>
            </a:solidFill>
            <a:prstDash val="solid"/>
          </a:ln>
        </p:spPr>
      </p:sp>
      <p:sp>
        <p:nvSpPr>
          <p:cNvPr id="23" name="Shape 20"/>
          <p:cNvSpPr/>
          <p:nvPr/>
        </p:nvSpPr>
        <p:spPr>
          <a:xfrm>
            <a:off x="8046720" y="1691640"/>
            <a:ext cx="1600200" cy="1783080"/>
          </a:xfrm>
          <a:prstGeom prst="rect">
            <a:avLst/>
          </a:prstGeom>
          <a:solidFill>
            <a:srgbClr val="F2F4F7"/>
          </a:solidFill>
          <a:ln w="12700">
            <a:solidFill>
              <a:srgbClr val="F2F4F7"/>
            </a:solidFill>
            <a:prstDash val="solid"/>
          </a:ln>
        </p:spPr>
      </p:sp>
      <p:sp>
        <p:nvSpPr>
          <p:cNvPr id="24" name="Text 21"/>
          <p:cNvSpPr txBox="1"/>
          <p:nvPr/>
        </p:nvSpPr>
        <p:spPr>
          <a:xfrm>
            <a:off x="8183880" y="1810512"/>
            <a:ext cx="1325880" cy="320040"/>
          </a:xfrm>
          <a:prstGeom prst="rect">
            <a:avLst/>
          </a:prstGeom>
          <a:noFill/>
          <a:ln/>
        </p:spPr>
        <p:txBody>
          <a:bodyPr wrap="square" lIns="0" tIns="0" rIns="0" bIns="0" rtlCol="0" anchor="t"/>
          <a:lstStyle/>
          <a:p>
            <a:pPr indent="0" marL="0">
              <a:buNone/>
            </a:pPr>
            <a:r>
              <a:rPr lang="en-US" sz="1400" b="1" dirty="0">
                <a:solidFill>
                  <a:srgbClr val="051C2C"/>
                </a:solidFill>
                <a:latin typeface="Arial" pitchFamily="34" charset="0"/>
                <a:ea typeface="Arial" pitchFamily="34" charset="-122"/>
                <a:cs typeface="Arial" pitchFamily="34" charset="-120"/>
              </a:rPr>
              <a:t>Memory</a:t>
            </a:r>
            <a:endParaRPr lang="en-US" sz="1400" dirty="0"/>
          </a:p>
        </p:txBody>
      </p:sp>
      <p:sp>
        <p:nvSpPr>
          <p:cNvPr id="25" name="Text 22"/>
          <p:cNvSpPr txBox="1"/>
          <p:nvPr/>
        </p:nvSpPr>
        <p:spPr>
          <a:xfrm>
            <a:off x="8183880" y="2194560"/>
            <a:ext cx="1325880" cy="118872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SQLite prices, checks and research notes, committed to the repo</a:t>
            </a:r>
            <a:endParaRPr lang="en-US" sz="1100" dirty="0"/>
          </a:p>
        </p:txBody>
      </p:sp>
      <p:sp>
        <p:nvSpPr>
          <p:cNvPr id="26" name="Shape 23"/>
          <p:cNvSpPr/>
          <p:nvPr/>
        </p:nvSpPr>
        <p:spPr>
          <a:xfrm>
            <a:off x="9674352" y="2468880"/>
            <a:ext cx="219456" cy="219456"/>
          </a:xfrm>
          <a:prstGeom prst="rightArrow">
            <a:avLst/>
          </a:prstGeom>
          <a:solidFill>
            <a:srgbClr val="2251FF"/>
          </a:solidFill>
          <a:ln w="12700">
            <a:solidFill>
              <a:srgbClr val="2251FF"/>
            </a:solidFill>
            <a:prstDash val="solid"/>
          </a:ln>
        </p:spPr>
      </p:sp>
      <p:sp>
        <p:nvSpPr>
          <p:cNvPr id="27" name="Shape 24"/>
          <p:cNvSpPr/>
          <p:nvPr/>
        </p:nvSpPr>
        <p:spPr>
          <a:xfrm>
            <a:off x="9921240" y="1691640"/>
            <a:ext cx="1600200" cy="1783080"/>
          </a:xfrm>
          <a:prstGeom prst="rect">
            <a:avLst/>
          </a:prstGeom>
          <a:solidFill>
            <a:srgbClr val="F2F4F7"/>
          </a:solidFill>
          <a:ln w="12700">
            <a:solidFill>
              <a:srgbClr val="F2F4F7"/>
            </a:solidFill>
            <a:prstDash val="solid"/>
          </a:ln>
        </p:spPr>
      </p:sp>
      <p:sp>
        <p:nvSpPr>
          <p:cNvPr id="28" name="Text 25"/>
          <p:cNvSpPr txBox="1"/>
          <p:nvPr/>
        </p:nvSpPr>
        <p:spPr>
          <a:xfrm>
            <a:off x="10058400" y="1810512"/>
            <a:ext cx="1325880" cy="320040"/>
          </a:xfrm>
          <a:prstGeom prst="rect">
            <a:avLst/>
          </a:prstGeom>
          <a:noFill/>
          <a:ln/>
        </p:spPr>
        <p:txBody>
          <a:bodyPr wrap="square" lIns="0" tIns="0" rIns="0" bIns="0" rtlCol="0" anchor="t"/>
          <a:lstStyle/>
          <a:p>
            <a:pPr indent="0" marL="0">
              <a:buNone/>
            </a:pPr>
            <a:r>
              <a:rPr lang="en-US" sz="1400" b="1" dirty="0">
                <a:solidFill>
                  <a:srgbClr val="051C2C"/>
                </a:solidFill>
                <a:latin typeface="Arial" pitchFamily="34" charset="0"/>
                <a:ea typeface="Arial" pitchFamily="34" charset="-122"/>
                <a:cs typeface="Arial" pitchFamily="34" charset="-120"/>
              </a:rPr>
              <a:t>Output</a:t>
            </a:r>
            <a:endParaRPr lang="en-US" sz="1400" dirty="0"/>
          </a:p>
        </p:txBody>
      </p:sp>
      <p:sp>
        <p:nvSpPr>
          <p:cNvPr id="29" name="Text 26"/>
          <p:cNvSpPr txBox="1"/>
          <p:nvPr/>
        </p:nvSpPr>
        <p:spPr>
          <a:xfrm>
            <a:off x="10058400" y="2194560"/>
            <a:ext cx="1325880" cy="118872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Verdict computed in code; BUY alert on Telegram</a:t>
            </a:r>
            <a:endParaRPr lang="en-US" sz="1100" dirty="0"/>
          </a:p>
        </p:txBody>
      </p:sp>
      <p:sp>
        <p:nvSpPr>
          <p:cNvPr id="30" name="Shape 27"/>
          <p:cNvSpPr/>
          <p:nvPr/>
        </p:nvSpPr>
        <p:spPr>
          <a:xfrm>
            <a:off x="548640" y="3840480"/>
            <a:ext cx="5440680" cy="2011680"/>
          </a:xfrm>
          <a:prstGeom prst="rect">
            <a:avLst/>
          </a:prstGeom>
          <a:solidFill>
            <a:srgbClr val="FFFFFF"/>
          </a:solidFill>
          <a:ln w="12700">
            <a:solidFill>
              <a:srgbClr val="C9CED6"/>
            </a:solidFill>
            <a:prstDash val="solid"/>
          </a:ln>
        </p:spPr>
      </p:sp>
      <p:sp>
        <p:nvSpPr>
          <p:cNvPr id="31" name="Text 28"/>
          <p:cNvSpPr txBox="1"/>
          <p:nvPr/>
        </p:nvSpPr>
        <p:spPr>
          <a:xfrm>
            <a:off x="777240" y="3977640"/>
            <a:ext cx="4937760" cy="320040"/>
          </a:xfrm>
          <a:prstGeom prst="rect">
            <a:avLst/>
          </a:prstGeom>
          <a:noFill/>
          <a:ln/>
        </p:spPr>
        <p:txBody>
          <a:bodyPr wrap="square" lIns="0" tIns="0" rIns="0" bIns="0" rtlCol="0" anchor="t"/>
          <a:lstStyle/>
          <a:p>
            <a:pPr indent="0" marL="0">
              <a:buNone/>
            </a:pPr>
            <a:r>
              <a:rPr lang="en-US" sz="1800" b="1" dirty="0">
                <a:solidFill>
                  <a:srgbClr val="051C2C"/>
                </a:solidFill>
                <a:latin typeface="Georgia" pitchFamily="34" charset="0"/>
                <a:ea typeface="Georgia" pitchFamily="34" charset="-122"/>
                <a:cs typeface="Georgia" pitchFamily="34" charset="-120"/>
              </a:rPr>
              <a:t>The LLM decides</a:t>
            </a:r>
            <a:endParaRPr lang="en-US" sz="1800" dirty="0"/>
          </a:p>
        </p:txBody>
      </p:sp>
      <p:sp>
        <p:nvSpPr>
          <p:cNvPr id="32" name="Text 29"/>
          <p:cNvSpPr txBox="1"/>
          <p:nvPr/>
        </p:nvSpPr>
        <p:spPr>
          <a:xfrm>
            <a:off x="777240" y="438912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Which sources to search, and in what order</a:t>
            </a:r>
            <a:endParaRPr lang="en-US" sz="1300" dirty="0"/>
          </a:p>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Which listings to open and hand in</a:t>
            </a:r>
            <a:endParaRPr lang="en-US" sz="1300" dirty="0"/>
          </a:p>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How to search again when listings are rejected</a:t>
            </a:r>
            <a:endParaRPr lang="en-US" sz="1300" dirty="0"/>
          </a:p>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What to remember for the next check</a:t>
            </a:r>
            <a:endParaRPr lang="en-US" sz="1300" dirty="0"/>
          </a:p>
        </p:txBody>
      </p:sp>
      <p:sp>
        <p:nvSpPr>
          <p:cNvPr id="33" name="Shape 30"/>
          <p:cNvSpPr/>
          <p:nvPr/>
        </p:nvSpPr>
        <p:spPr>
          <a:xfrm>
            <a:off x="6217920" y="3840480"/>
            <a:ext cx="5422392" cy="2011680"/>
          </a:xfrm>
          <a:prstGeom prst="rect">
            <a:avLst/>
          </a:prstGeom>
          <a:solidFill>
            <a:srgbClr val="FFFFFF"/>
          </a:solidFill>
          <a:ln w="12700">
            <a:solidFill>
              <a:srgbClr val="C9CED6"/>
            </a:solidFill>
            <a:prstDash val="solid"/>
          </a:ln>
        </p:spPr>
      </p:sp>
      <p:sp>
        <p:nvSpPr>
          <p:cNvPr id="34" name="Text 31"/>
          <p:cNvSpPr txBox="1"/>
          <p:nvPr/>
        </p:nvSpPr>
        <p:spPr>
          <a:xfrm>
            <a:off x="6446520" y="3977640"/>
            <a:ext cx="4937760" cy="320040"/>
          </a:xfrm>
          <a:prstGeom prst="rect">
            <a:avLst/>
          </a:prstGeom>
          <a:noFill/>
          <a:ln/>
        </p:spPr>
        <p:txBody>
          <a:bodyPr wrap="square" lIns="0" tIns="0" rIns="0" bIns="0" rtlCol="0" anchor="t"/>
          <a:lstStyle/>
          <a:p>
            <a:pPr indent="0" marL="0">
              <a:buNone/>
            </a:pPr>
            <a:r>
              <a:rPr lang="en-US" sz="1800" b="1" dirty="0">
                <a:solidFill>
                  <a:srgbClr val="051C2C"/>
                </a:solidFill>
                <a:latin typeface="Georgia" pitchFamily="34" charset="0"/>
                <a:ea typeface="Georgia" pitchFamily="34" charset="-122"/>
                <a:cs typeface="Georgia" pitchFamily="34" charset="-120"/>
              </a:rPr>
              <a:t>Plain code enforces</a:t>
            </a:r>
            <a:endParaRPr lang="en-US" sz="1800" dirty="0"/>
          </a:p>
        </p:txBody>
      </p:sp>
      <p:sp>
        <p:nvSpPr>
          <p:cNvPr id="35" name="Text 32"/>
          <p:cNvSpPr txBox="1"/>
          <p:nvPr/>
        </p:nvSpPr>
        <p:spPr>
          <a:xfrm>
            <a:off x="6446520" y="438912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A price must be written on the page it came from</a:t>
            </a:r>
            <a:endParaRPr lang="en-US" sz="1300" dirty="0"/>
          </a:p>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3+ listings of the exact reference; outliers dropped</a:t>
            </a:r>
            <a:endParaRPr lang="en-US" sz="1300" dirty="0"/>
          </a:p>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The verdict (BUY, WAIT or OVERPRICED) is arithmetic</a:t>
            </a:r>
            <a:endParaRPr lang="en-US" sz="1300" dirty="0"/>
          </a:p>
          <a:p>
            <a:pPr marL="342900" indent="-342900">
              <a:spcAft>
                <a:spcPts val="600"/>
              </a:spcAft>
              <a:buSzPct val="100000"/>
              <a:buChar char="•"/>
            </a:pPr>
            <a:r>
              <a:rPr lang="en-US" sz="1300" dirty="0">
                <a:solidFill>
                  <a:srgbClr val="1F2933"/>
                </a:solidFill>
                <a:latin typeface="Arial" pitchFamily="34" charset="0"/>
                <a:ea typeface="Arial" pitchFamily="34" charset="-122"/>
                <a:cs typeface="Arial" pitchFamily="34" charset="-120"/>
              </a:rPr>
              <a:t>No repeat alert within 48 hours unless the price drops 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WHAT MAKES AN AGENT TRUSTWORTHY</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Autonomy is earned through constraints: five guardrails keep the agent honest</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watchagent/tools.py, agent.py, verdict.py, cli.py</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sp>
        <p:nvSpPr>
          <p:cNvPr id="7" name="Shape 4"/>
          <p:cNvSpPr/>
          <p:nvPr/>
        </p:nvSpPr>
        <p:spPr>
          <a:xfrm>
            <a:off x="548640" y="1783080"/>
            <a:ext cx="2048256" cy="3429000"/>
          </a:xfrm>
          <a:prstGeom prst="rect">
            <a:avLst/>
          </a:prstGeom>
          <a:solidFill>
            <a:srgbClr val="F2F4F7"/>
          </a:solidFill>
          <a:ln w="12700">
            <a:solidFill>
              <a:srgbClr val="F2F4F7"/>
            </a:solidFill>
            <a:prstDash val="solid"/>
          </a:ln>
        </p:spPr>
      </p:sp>
      <p:sp>
        <p:nvSpPr>
          <p:cNvPr id="8" name="Shape 5"/>
          <p:cNvSpPr/>
          <p:nvPr/>
        </p:nvSpPr>
        <p:spPr>
          <a:xfrm>
            <a:off x="731520" y="1965960"/>
            <a:ext cx="457200" cy="457200"/>
          </a:xfrm>
          <a:prstGeom prst="ellipse">
            <a:avLst/>
          </a:prstGeom>
          <a:solidFill>
            <a:srgbClr val="2251FF"/>
          </a:solidFill>
          <a:ln w="12700">
            <a:solidFill>
              <a:srgbClr val="2251FF"/>
            </a:solidFill>
            <a:prstDash val="solid"/>
          </a:ln>
        </p:spPr>
      </p:sp>
      <p:sp>
        <p:nvSpPr>
          <p:cNvPr id="9" name="Text 6"/>
          <p:cNvSpPr txBox="1"/>
          <p:nvPr/>
        </p:nvSpPr>
        <p:spPr>
          <a:xfrm>
            <a:off x="73152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731520" y="2606040"/>
            <a:ext cx="1691640" cy="640080"/>
          </a:xfrm>
          <a:prstGeom prst="rect">
            <a:avLst/>
          </a:prstGeom>
          <a:noFill/>
          <a:ln/>
        </p:spPr>
        <p:txBody>
          <a:bodyPr wrap="square" lIns="0" tIns="0" rIns="0" bIns="0" rtlCol="0" anchor="t"/>
          <a:lstStyle/>
          <a:p>
            <a:pPr indent="0" marL="0">
              <a:buNone/>
            </a:pPr>
            <a:r>
              <a:rPr lang="en-US" sz="1500" b="1" dirty="0">
                <a:solidFill>
                  <a:srgbClr val="051C2C"/>
                </a:solidFill>
                <a:latin typeface="Arial" pitchFamily="34" charset="0"/>
                <a:ea typeface="Arial" pitchFamily="34" charset="-122"/>
                <a:cs typeface="Arial" pitchFamily="34" charset="-120"/>
              </a:rPr>
              <a:t>Price grounding</a:t>
            </a:r>
            <a:endParaRPr lang="en-US" sz="1500" dirty="0"/>
          </a:p>
        </p:txBody>
      </p:sp>
      <p:sp>
        <p:nvSpPr>
          <p:cNvPr id="11" name="Text 8"/>
          <p:cNvSpPr txBox="1"/>
          <p:nvPr/>
        </p:nvSpPr>
        <p:spPr>
          <a:xfrm>
            <a:off x="731520" y="3246120"/>
            <a:ext cx="1691640" cy="132588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A listing counts only if its price is written on the page it came from, for the exact watch.</a:t>
            </a:r>
            <a:endParaRPr lang="en-US" sz="1300" dirty="0"/>
          </a:p>
        </p:txBody>
      </p:sp>
      <p:sp>
        <p:nvSpPr>
          <p:cNvPr id="12" name="Text 9"/>
          <p:cNvSpPr txBox="1"/>
          <p:nvPr/>
        </p:nvSpPr>
        <p:spPr>
          <a:xfrm>
            <a:off x="731520" y="4754880"/>
            <a:ext cx="1737360" cy="365760"/>
          </a:xfrm>
          <a:prstGeom prst="rect">
            <a:avLst/>
          </a:prstGeom>
          <a:noFill/>
          <a:ln/>
        </p:spPr>
        <p:txBody>
          <a:bodyPr wrap="square" lIns="0" tIns="0" rIns="0" bIns="0" rtlCol="0" anchor="t"/>
          <a:lstStyle/>
          <a:p>
            <a:pPr indent="0" marL="0">
              <a:buNone/>
            </a:pPr>
            <a:r>
              <a:rPr lang="en-US" sz="900" dirty="0">
                <a:solidFill>
                  <a:srgbClr val="6B7280"/>
                </a:solidFill>
                <a:latin typeface="Courier New" pitchFamily="34" charset="0"/>
                <a:ea typeface="Courier New" pitchFamily="34" charset="-122"/>
                <a:cs typeface="Courier New" pitchFamily="34" charset="-120"/>
              </a:rPr>
              <a:t>_listing_error</a:t>
            </a:r>
            <a:endParaRPr lang="en-US" sz="900" dirty="0"/>
          </a:p>
        </p:txBody>
      </p:sp>
      <p:sp>
        <p:nvSpPr>
          <p:cNvPr id="13" name="Shape 10"/>
          <p:cNvSpPr/>
          <p:nvPr/>
        </p:nvSpPr>
        <p:spPr>
          <a:xfrm>
            <a:off x="2779776" y="1783080"/>
            <a:ext cx="2048256" cy="3429000"/>
          </a:xfrm>
          <a:prstGeom prst="rect">
            <a:avLst/>
          </a:prstGeom>
          <a:solidFill>
            <a:srgbClr val="F2F4F7"/>
          </a:solidFill>
          <a:ln w="12700">
            <a:solidFill>
              <a:srgbClr val="F2F4F7"/>
            </a:solidFill>
            <a:prstDash val="solid"/>
          </a:ln>
        </p:spPr>
      </p:sp>
      <p:sp>
        <p:nvSpPr>
          <p:cNvPr id="14" name="Shape 11"/>
          <p:cNvSpPr/>
          <p:nvPr/>
        </p:nvSpPr>
        <p:spPr>
          <a:xfrm>
            <a:off x="2962656" y="1965960"/>
            <a:ext cx="457200" cy="457200"/>
          </a:xfrm>
          <a:prstGeom prst="ellipse">
            <a:avLst/>
          </a:prstGeom>
          <a:solidFill>
            <a:srgbClr val="051C2C"/>
          </a:solidFill>
          <a:ln w="12700">
            <a:solidFill>
              <a:srgbClr val="051C2C"/>
            </a:solidFill>
            <a:prstDash val="solid"/>
          </a:ln>
        </p:spPr>
      </p:sp>
      <p:sp>
        <p:nvSpPr>
          <p:cNvPr id="15" name="Text 12"/>
          <p:cNvSpPr txBox="1"/>
          <p:nvPr/>
        </p:nvSpPr>
        <p:spPr>
          <a:xfrm>
            <a:off x="2962656"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txBox="1"/>
          <p:nvPr/>
        </p:nvSpPr>
        <p:spPr>
          <a:xfrm>
            <a:off x="2962656" y="2606040"/>
            <a:ext cx="1691640" cy="640080"/>
          </a:xfrm>
          <a:prstGeom prst="rect">
            <a:avLst/>
          </a:prstGeom>
          <a:noFill/>
          <a:ln/>
        </p:spPr>
        <p:txBody>
          <a:bodyPr wrap="square" lIns="0" tIns="0" rIns="0" bIns="0" rtlCol="0" anchor="t"/>
          <a:lstStyle/>
          <a:p>
            <a:pPr indent="0" marL="0">
              <a:buNone/>
            </a:pPr>
            <a:r>
              <a:rPr lang="en-US" sz="1500" b="1" dirty="0">
                <a:solidFill>
                  <a:srgbClr val="051C2C"/>
                </a:solidFill>
                <a:latin typeface="Arial" pitchFamily="34" charset="0"/>
                <a:ea typeface="Arial" pitchFamily="34" charset="-122"/>
                <a:cs typeface="Arial" pitchFamily="34" charset="-120"/>
              </a:rPr>
              <a:t>Multi-listing consensus</a:t>
            </a:r>
            <a:endParaRPr lang="en-US" sz="1500" dirty="0"/>
          </a:p>
        </p:txBody>
      </p:sp>
      <p:sp>
        <p:nvSpPr>
          <p:cNvPr id="17" name="Text 14"/>
          <p:cNvSpPr txBox="1"/>
          <p:nvPr/>
        </p:nvSpPr>
        <p:spPr>
          <a:xfrm>
            <a:off x="2962656" y="3246120"/>
            <a:ext cx="1691640" cy="132588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At least 3 matching listings must agree; outliers are dropped and the middle price is recorded.</a:t>
            </a:r>
            <a:endParaRPr lang="en-US" sz="1300" dirty="0"/>
          </a:p>
        </p:txBody>
      </p:sp>
      <p:sp>
        <p:nvSpPr>
          <p:cNvPr id="18" name="Text 15"/>
          <p:cNvSpPr txBox="1"/>
          <p:nvPr/>
        </p:nvSpPr>
        <p:spPr>
          <a:xfrm>
            <a:off x="2962656" y="4754880"/>
            <a:ext cx="1737360" cy="365760"/>
          </a:xfrm>
          <a:prstGeom prst="rect">
            <a:avLst/>
          </a:prstGeom>
          <a:noFill/>
          <a:ln/>
        </p:spPr>
        <p:txBody>
          <a:bodyPr wrap="square" lIns="0" tIns="0" rIns="0" bIns="0" rtlCol="0" anchor="t"/>
          <a:lstStyle/>
          <a:p>
            <a:pPr indent="0" marL="0">
              <a:buNone/>
            </a:pPr>
            <a:r>
              <a:rPr lang="en-US" sz="900" dirty="0">
                <a:solidFill>
                  <a:srgbClr val="6B7280"/>
                </a:solidFill>
                <a:latin typeface="Courier New" pitchFamily="34" charset="0"/>
                <a:ea typeface="Courier New" pitchFamily="34" charset="-122"/>
                <a:cs typeface="Courier New" pitchFamily="34" charset="-120"/>
              </a:rPr>
              <a:t>submit_listings</a:t>
            </a:r>
            <a:endParaRPr lang="en-US" sz="900" dirty="0"/>
          </a:p>
        </p:txBody>
      </p:sp>
      <p:sp>
        <p:nvSpPr>
          <p:cNvPr id="19" name="Shape 16"/>
          <p:cNvSpPr/>
          <p:nvPr/>
        </p:nvSpPr>
        <p:spPr>
          <a:xfrm>
            <a:off x="5010912" y="1783080"/>
            <a:ext cx="2048256" cy="3429000"/>
          </a:xfrm>
          <a:prstGeom prst="rect">
            <a:avLst/>
          </a:prstGeom>
          <a:solidFill>
            <a:srgbClr val="F2F4F7"/>
          </a:solidFill>
          <a:ln w="12700">
            <a:solidFill>
              <a:srgbClr val="F2F4F7"/>
            </a:solidFill>
            <a:prstDash val="solid"/>
          </a:ln>
        </p:spPr>
      </p:sp>
      <p:sp>
        <p:nvSpPr>
          <p:cNvPr id="20" name="Shape 17"/>
          <p:cNvSpPr/>
          <p:nvPr/>
        </p:nvSpPr>
        <p:spPr>
          <a:xfrm>
            <a:off x="5193792" y="1965960"/>
            <a:ext cx="457200" cy="457200"/>
          </a:xfrm>
          <a:prstGeom prst="ellipse">
            <a:avLst/>
          </a:prstGeom>
          <a:solidFill>
            <a:srgbClr val="051C2C"/>
          </a:solidFill>
          <a:ln w="12700">
            <a:solidFill>
              <a:srgbClr val="051C2C"/>
            </a:solidFill>
            <a:prstDash val="solid"/>
          </a:ln>
        </p:spPr>
      </p:sp>
      <p:sp>
        <p:nvSpPr>
          <p:cNvPr id="21" name="Text 18"/>
          <p:cNvSpPr txBox="1"/>
          <p:nvPr/>
        </p:nvSpPr>
        <p:spPr>
          <a:xfrm>
            <a:off x="5193792"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19"/>
          <p:cNvSpPr txBox="1"/>
          <p:nvPr/>
        </p:nvSpPr>
        <p:spPr>
          <a:xfrm>
            <a:off x="5193792" y="2606040"/>
            <a:ext cx="1691640" cy="640080"/>
          </a:xfrm>
          <a:prstGeom prst="rect">
            <a:avLst/>
          </a:prstGeom>
          <a:noFill/>
          <a:ln/>
        </p:spPr>
        <p:txBody>
          <a:bodyPr wrap="square" lIns="0" tIns="0" rIns="0" bIns="0" rtlCol="0" anchor="t"/>
          <a:lstStyle/>
          <a:p>
            <a:pPr indent="0" marL="0">
              <a:buNone/>
            </a:pPr>
            <a:r>
              <a:rPr lang="en-US" sz="1500" b="1" dirty="0">
                <a:solidFill>
                  <a:srgbClr val="051C2C"/>
                </a:solidFill>
                <a:latin typeface="Arial" pitchFamily="34" charset="0"/>
                <a:ea typeface="Arial" pitchFamily="34" charset="-122"/>
                <a:cs typeface="Arial" pitchFamily="34" charset="-120"/>
              </a:rPr>
              <a:t>Code-computed verdict</a:t>
            </a:r>
            <a:endParaRPr lang="en-US" sz="1500" dirty="0"/>
          </a:p>
        </p:txBody>
      </p:sp>
      <p:sp>
        <p:nvSpPr>
          <p:cNvPr id="23" name="Text 20"/>
          <p:cNvSpPr txBox="1"/>
          <p:nvPr/>
        </p:nvSpPr>
        <p:spPr>
          <a:xfrm>
            <a:off x="5193792" y="3246120"/>
            <a:ext cx="1691640" cy="132588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BUY, WAIT or OVERPRICED is computed from price, target and trend, not written by the model.</a:t>
            </a:r>
            <a:endParaRPr lang="en-US" sz="1300" dirty="0"/>
          </a:p>
        </p:txBody>
      </p:sp>
      <p:sp>
        <p:nvSpPr>
          <p:cNvPr id="24" name="Text 21"/>
          <p:cNvSpPr txBox="1"/>
          <p:nvPr/>
        </p:nvSpPr>
        <p:spPr>
          <a:xfrm>
            <a:off x="5193792" y="4754880"/>
            <a:ext cx="1737360" cy="365760"/>
          </a:xfrm>
          <a:prstGeom prst="rect">
            <a:avLst/>
          </a:prstGeom>
          <a:noFill/>
          <a:ln/>
        </p:spPr>
        <p:txBody>
          <a:bodyPr wrap="square" lIns="0" tIns="0" rIns="0" bIns="0" rtlCol="0" anchor="t"/>
          <a:lstStyle/>
          <a:p>
            <a:pPr indent="0" marL="0">
              <a:buNone/>
            </a:pPr>
            <a:r>
              <a:rPr lang="en-US" sz="900" dirty="0">
                <a:solidFill>
                  <a:srgbClr val="6B7280"/>
                </a:solidFill>
                <a:latin typeface="Courier New" pitchFamily="34" charset="0"/>
                <a:ea typeface="Courier New" pitchFamily="34" charset="-122"/>
                <a:cs typeface="Courier New" pitchFamily="34" charset="-120"/>
              </a:rPr>
              <a:t>compute_verdict</a:t>
            </a:r>
            <a:endParaRPr lang="en-US" sz="900" dirty="0"/>
          </a:p>
        </p:txBody>
      </p:sp>
      <p:sp>
        <p:nvSpPr>
          <p:cNvPr id="25" name="Shape 22"/>
          <p:cNvSpPr/>
          <p:nvPr/>
        </p:nvSpPr>
        <p:spPr>
          <a:xfrm>
            <a:off x="7242048" y="1783080"/>
            <a:ext cx="2048256" cy="3429000"/>
          </a:xfrm>
          <a:prstGeom prst="rect">
            <a:avLst/>
          </a:prstGeom>
          <a:solidFill>
            <a:srgbClr val="F2F4F7"/>
          </a:solidFill>
          <a:ln w="12700">
            <a:solidFill>
              <a:srgbClr val="F2F4F7"/>
            </a:solidFill>
            <a:prstDash val="solid"/>
          </a:ln>
        </p:spPr>
      </p:sp>
      <p:sp>
        <p:nvSpPr>
          <p:cNvPr id="26" name="Shape 23"/>
          <p:cNvSpPr/>
          <p:nvPr/>
        </p:nvSpPr>
        <p:spPr>
          <a:xfrm>
            <a:off x="7424928" y="1965960"/>
            <a:ext cx="457200" cy="457200"/>
          </a:xfrm>
          <a:prstGeom prst="ellipse">
            <a:avLst/>
          </a:prstGeom>
          <a:solidFill>
            <a:srgbClr val="051C2C"/>
          </a:solidFill>
          <a:ln w="12700">
            <a:solidFill>
              <a:srgbClr val="051C2C"/>
            </a:solidFill>
            <a:prstDash val="solid"/>
          </a:ln>
        </p:spPr>
      </p:sp>
      <p:sp>
        <p:nvSpPr>
          <p:cNvPr id="27" name="Text 24"/>
          <p:cNvSpPr txBox="1"/>
          <p:nvPr/>
        </p:nvSpPr>
        <p:spPr>
          <a:xfrm>
            <a:off x="7424928"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8" name="Text 25"/>
          <p:cNvSpPr txBox="1"/>
          <p:nvPr/>
        </p:nvSpPr>
        <p:spPr>
          <a:xfrm>
            <a:off x="7424928" y="2606040"/>
            <a:ext cx="1691640" cy="640080"/>
          </a:xfrm>
          <a:prstGeom prst="rect">
            <a:avLst/>
          </a:prstGeom>
          <a:noFill/>
          <a:ln/>
        </p:spPr>
        <p:txBody>
          <a:bodyPr wrap="square" lIns="0" tIns="0" rIns="0" bIns="0" rtlCol="0" anchor="t"/>
          <a:lstStyle/>
          <a:p>
            <a:pPr indent="0" marL="0">
              <a:buNone/>
            </a:pPr>
            <a:r>
              <a:rPr lang="en-US" sz="1500" b="1" dirty="0">
                <a:solidFill>
                  <a:srgbClr val="051C2C"/>
                </a:solidFill>
                <a:latin typeface="Arial" pitchFamily="34" charset="0"/>
                <a:ea typeface="Arial" pitchFamily="34" charset="-122"/>
                <a:cs typeface="Arial" pitchFamily="34" charset="-120"/>
              </a:rPr>
              <a:t>Resilience</a:t>
            </a:r>
            <a:endParaRPr lang="en-US" sz="1500" dirty="0"/>
          </a:p>
        </p:txBody>
      </p:sp>
      <p:sp>
        <p:nvSpPr>
          <p:cNvPr id="29" name="Text 26"/>
          <p:cNvSpPr txBox="1"/>
          <p:nvPr/>
        </p:nvSpPr>
        <p:spPr>
          <a:xfrm>
            <a:off x="7424928" y="3246120"/>
            <a:ext cx="1691640" cy="132588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Research comes first; retries, a backup model and a daily request budget bound every run.</a:t>
            </a:r>
            <a:endParaRPr lang="en-US" sz="1300" dirty="0"/>
          </a:p>
        </p:txBody>
      </p:sp>
      <p:sp>
        <p:nvSpPr>
          <p:cNvPr id="30" name="Text 27"/>
          <p:cNvSpPr txBox="1"/>
          <p:nvPr/>
        </p:nvSpPr>
        <p:spPr>
          <a:xfrm>
            <a:off x="7424928" y="4754880"/>
            <a:ext cx="1737360" cy="365760"/>
          </a:xfrm>
          <a:prstGeom prst="rect">
            <a:avLst/>
          </a:prstGeom>
          <a:noFill/>
          <a:ln/>
        </p:spPr>
        <p:txBody>
          <a:bodyPr wrap="square" lIns="0" tIns="0" rIns="0" bIns="0" rtlCol="0" anchor="t"/>
          <a:lstStyle/>
          <a:p>
            <a:pPr indent="0" marL="0">
              <a:buNone/>
            </a:pPr>
            <a:r>
              <a:rPr lang="en-US" sz="900" dirty="0">
                <a:solidFill>
                  <a:srgbClr val="6B7280"/>
                </a:solidFill>
                <a:latin typeface="Courier New" pitchFamily="34" charset="0"/>
                <a:ea typeface="Courier New" pitchFamily="34" charset="-122"/>
                <a:cs typeface="Courier New" pitchFamily="34" charset="-120"/>
              </a:rPr>
              <a:t>request_budget</a:t>
            </a:r>
            <a:endParaRPr lang="en-US" sz="900" dirty="0"/>
          </a:p>
        </p:txBody>
      </p:sp>
      <p:sp>
        <p:nvSpPr>
          <p:cNvPr id="31" name="Shape 28"/>
          <p:cNvSpPr/>
          <p:nvPr/>
        </p:nvSpPr>
        <p:spPr>
          <a:xfrm>
            <a:off x="9473184" y="1783080"/>
            <a:ext cx="2048256" cy="3429000"/>
          </a:xfrm>
          <a:prstGeom prst="rect">
            <a:avLst/>
          </a:prstGeom>
          <a:solidFill>
            <a:srgbClr val="F2F4F7"/>
          </a:solidFill>
          <a:ln w="12700">
            <a:solidFill>
              <a:srgbClr val="F2F4F7"/>
            </a:solidFill>
            <a:prstDash val="solid"/>
          </a:ln>
        </p:spPr>
      </p:sp>
      <p:sp>
        <p:nvSpPr>
          <p:cNvPr id="32" name="Shape 29"/>
          <p:cNvSpPr/>
          <p:nvPr/>
        </p:nvSpPr>
        <p:spPr>
          <a:xfrm>
            <a:off x="9656064" y="1965960"/>
            <a:ext cx="457200" cy="457200"/>
          </a:xfrm>
          <a:prstGeom prst="ellipse">
            <a:avLst/>
          </a:prstGeom>
          <a:solidFill>
            <a:srgbClr val="051C2C"/>
          </a:solidFill>
          <a:ln w="12700">
            <a:solidFill>
              <a:srgbClr val="051C2C"/>
            </a:solidFill>
            <a:prstDash val="solid"/>
          </a:ln>
        </p:spPr>
      </p:sp>
      <p:sp>
        <p:nvSpPr>
          <p:cNvPr id="33" name="Text 30"/>
          <p:cNvSpPr txBox="1"/>
          <p:nvPr/>
        </p:nvSpPr>
        <p:spPr>
          <a:xfrm>
            <a:off x="9656064"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4" name="Text 31"/>
          <p:cNvSpPr txBox="1"/>
          <p:nvPr/>
        </p:nvSpPr>
        <p:spPr>
          <a:xfrm>
            <a:off x="9656064" y="2606040"/>
            <a:ext cx="1691640" cy="640080"/>
          </a:xfrm>
          <a:prstGeom prst="rect">
            <a:avLst/>
          </a:prstGeom>
          <a:noFill/>
          <a:ln/>
        </p:spPr>
        <p:txBody>
          <a:bodyPr wrap="square" lIns="0" tIns="0" rIns="0" bIns="0" rtlCol="0" anchor="t"/>
          <a:lstStyle/>
          <a:p>
            <a:pPr indent="0" marL="0">
              <a:buNone/>
            </a:pPr>
            <a:r>
              <a:rPr lang="en-US" sz="1500" b="1" dirty="0">
                <a:solidFill>
                  <a:srgbClr val="051C2C"/>
                </a:solidFill>
                <a:latin typeface="Arial" pitchFamily="34" charset="0"/>
                <a:ea typeface="Arial" pitchFamily="34" charset="-122"/>
                <a:cs typeface="Arial" pitchFamily="34" charset="-120"/>
              </a:rPr>
              <a:t>Alert hygiene</a:t>
            </a:r>
            <a:endParaRPr lang="en-US" sz="1500" dirty="0"/>
          </a:p>
        </p:txBody>
      </p:sp>
      <p:sp>
        <p:nvSpPr>
          <p:cNvPr id="35" name="Text 32"/>
          <p:cNvSpPr txBox="1"/>
          <p:nvPr/>
        </p:nvSpPr>
        <p:spPr>
          <a:xfrm>
            <a:off x="9656064" y="3246120"/>
            <a:ext cx="1691640" cy="132588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Only BUYs backed by 3+ listings alert, and not again within 48 hours unless the price drops 3%.</a:t>
            </a:r>
            <a:endParaRPr lang="en-US" sz="1300" dirty="0"/>
          </a:p>
        </p:txBody>
      </p:sp>
      <p:sp>
        <p:nvSpPr>
          <p:cNvPr id="36" name="Text 33"/>
          <p:cNvSpPr txBox="1"/>
          <p:nvPr/>
        </p:nvSpPr>
        <p:spPr>
          <a:xfrm>
            <a:off x="9656064" y="4754880"/>
            <a:ext cx="1737360" cy="365760"/>
          </a:xfrm>
          <a:prstGeom prst="rect">
            <a:avLst/>
          </a:prstGeom>
          <a:noFill/>
          <a:ln/>
        </p:spPr>
        <p:txBody>
          <a:bodyPr wrap="square" lIns="0" tIns="0" rIns="0" bIns="0" rtlCol="0" anchor="t"/>
          <a:lstStyle/>
          <a:p>
            <a:pPr indent="0" marL="0">
              <a:buNone/>
            </a:pPr>
            <a:r>
              <a:rPr lang="en-US" sz="900" dirty="0">
                <a:solidFill>
                  <a:srgbClr val="6B7280"/>
                </a:solidFill>
                <a:latin typeface="Courier New" pitchFamily="34" charset="0"/>
                <a:ea typeface="Courier New" pitchFamily="34" charset="-122"/>
                <a:cs typeface="Courier New" pitchFamily="34" charset="-120"/>
              </a:rPr>
              <a:t>should_alert</a:t>
            </a:r>
            <a:endParaRPr lang="en-US" sz="900" dirty="0"/>
          </a:p>
        </p:txBody>
      </p:sp>
      <p:sp>
        <p:nvSpPr>
          <p:cNvPr id="37" name="Shape 34"/>
          <p:cNvSpPr/>
          <p:nvPr/>
        </p:nvSpPr>
        <p:spPr>
          <a:xfrm>
            <a:off x="548640" y="5440680"/>
            <a:ext cx="11091672" cy="640080"/>
          </a:xfrm>
          <a:prstGeom prst="rect">
            <a:avLst/>
          </a:prstGeom>
          <a:solidFill>
            <a:srgbClr val="051C2C"/>
          </a:solidFill>
          <a:ln w="12700">
            <a:solidFill>
              <a:srgbClr val="051C2C"/>
            </a:solidFill>
            <a:prstDash val="solid"/>
          </a:ln>
        </p:spPr>
      </p:sp>
      <p:sp>
        <p:nvSpPr>
          <p:cNvPr id="38" name="Text 35"/>
          <p:cNvSpPr txBox="1"/>
          <p:nvPr/>
        </p:nvSpPr>
        <p:spPr>
          <a:xfrm>
            <a:off x="777240" y="5440680"/>
            <a:ext cx="1060704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None of this is AI: it is ordinary code wrapped around the model.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RESULTS</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Seven days of unattended runs: 5 of 10 watches now sit at or below the target price</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watches.db, 301 price observations over 7 days (15-21 Sep 2026). Latest price vs target, not the agent's verdict. Patek Nautilus is 0.3% above target.</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11</a:t>
            </a:r>
            <a:endParaRPr lang="en-US" sz="900" dirty="0"/>
          </a:p>
        </p:txBody>
      </p:sp>
      <p:graphicFrame>
        <p:nvGraphicFramePr>
          <p:cNvPr id="7" name="Chart 0" descr=""/>
          <p:cNvGraphicFramePr/>
          <p:nvPr/>
        </p:nvGraphicFramePr>
        <p:xfrm>
          <a:off x="457200" y="1600200"/>
          <a:ext cx="7223760" cy="470916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092440" y="1737360"/>
            <a:ext cx="1737360" cy="685800"/>
          </a:xfrm>
          <a:prstGeom prst="rect">
            <a:avLst/>
          </a:prstGeom>
          <a:noFill/>
          <a:ln/>
        </p:spPr>
        <p:txBody>
          <a:bodyPr wrap="square" lIns="0" tIns="0" rIns="0" bIns="0" rtlCol="0" anchor="t"/>
          <a:lstStyle/>
          <a:p>
            <a:pPr indent="0" marL="0">
              <a:buNone/>
            </a:pPr>
            <a:r>
              <a:rPr lang="en-US" sz="4000" b="1" dirty="0">
                <a:solidFill>
                  <a:srgbClr val="051C2C"/>
                </a:solidFill>
                <a:latin typeface="Georgia" pitchFamily="34" charset="0"/>
                <a:ea typeface="Georgia" pitchFamily="34" charset="-122"/>
                <a:cs typeface="Georgia" pitchFamily="34" charset="-120"/>
              </a:rPr>
              <a:t>10</a:t>
            </a:r>
            <a:endParaRPr lang="en-US" sz="4000" dirty="0"/>
          </a:p>
        </p:txBody>
      </p:sp>
      <p:sp>
        <p:nvSpPr>
          <p:cNvPr id="9" name="Text 5"/>
          <p:cNvSpPr txBox="1"/>
          <p:nvPr/>
        </p:nvSpPr>
        <p:spPr>
          <a:xfrm>
            <a:off x="8092440" y="2450592"/>
            <a:ext cx="1645920" cy="54864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watches tracked</a:t>
            </a:r>
            <a:endParaRPr lang="en-US" sz="1100" dirty="0"/>
          </a:p>
        </p:txBody>
      </p:sp>
      <p:sp>
        <p:nvSpPr>
          <p:cNvPr id="10" name="Text 6"/>
          <p:cNvSpPr txBox="1"/>
          <p:nvPr/>
        </p:nvSpPr>
        <p:spPr>
          <a:xfrm>
            <a:off x="9921240" y="1737360"/>
            <a:ext cx="1737360" cy="685800"/>
          </a:xfrm>
          <a:prstGeom prst="rect">
            <a:avLst/>
          </a:prstGeom>
          <a:noFill/>
          <a:ln/>
        </p:spPr>
        <p:txBody>
          <a:bodyPr wrap="square" lIns="0" tIns="0" rIns="0" bIns="0" rtlCol="0" anchor="t"/>
          <a:lstStyle/>
          <a:p>
            <a:pPr indent="0" marL="0">
              <a:buNone/>
            </a:pPr>
            <a:r>
              <a:rPr lang="en-US" sz="4000" b="1" dirty="0">
                <a:solidFill>
                  <a:srgbClr val="051C2C"/>
                </a:solidFill>
                <a:latin typeface="Georgia" pitchFamily="34" charset="0"/>
                <a:ea typeface="Georgia" pitchFamily="34" charset="-122"/>
                <a:cs typeface="Georgia" pitchFamily="34" charset="-120"/>
              </a:rPr>
              <a:t>301</a:t>
            </a:r>
            <a:endParaRPr lang="en-US" sz="4000" dirty="0"/>
          </a:p>
        </p:txBody>
      </p:sp>
      <p:sp>
        <p:nvSpPr>
          <p:cNvPr id="11" name="Text 7"/>
          <p:cNvSpPr txBox="1"/>
          <p:nvPr/>
        </p:nvSpPr>
        <p:spPr>
          <a:xfrm>
            <a:off x="9921240" y="2450592"/>
            <a:ext cx="1645920" cy="54864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price observations</a:t>
            </a:r>
            <a:endParaRPr lang="en-US" sz="1100" dirty="0"/>
          </a:p>
        </p:txBody>
      </p:sp>
      <p:sp>
        <p:nvSpPr>
          <p:cNvPr id="12" name="Text 8"/>
          <p:cNvSpPr txBox="1"/>
          <p:nvPr/>
        </p:nvSpPr>
        <p:spPr>
          <a:xfrm>
            <a:off x="8092440" y="3154680"/>
            <a:ext cx="1737360" cy="685800"/>
          </a:xfrm>
          <a:prstGeom prst="rect">
            <a:avLst/>
          </a:prstGeom>
          <a:noFill/>
          <a:ln/>
        </p:spPr>
        <p:txBody>
          <a:bodyPr wrap="square" lIns="0" tIns="0" rIns="0" bIns="0" rtlCol="0" anchor="t"/>
          <a:lstStyle/>
          <a:p>
            <a:pPr indent="0" marL="0">
              <a:buNone/>
            </a:pPr>
            <a:r>
              <a:rPr lang="en-US" sz="4000" b="1" dirty="0">
                <a:solidFill>
                  <a:srgbClr val="051C2C"/>
                </a:solidFill>
                <a:latin typeface="Georgia" pitchFamily="34" charset="0"/>
                <a:ea typeface="Georgia" pitchFamily="34" charset="-122"/>
                <a:cs typeface="Georgia" pitchFamily="34" charset="-120"/>
              </a:rPr>
              <a:t>51</a:t>
            </a:r>
            <a:endParaRPr lang="en-US" sz="4000" dirty="0"/>
          </a:p>
        </p:txBody>
      </p:sp>
      <p:sp>
        <p:nvSpPr>
          <p:cNvPr id="13" name="Text 9"/>
          <p:cNvSpPr txBox="1"/>
          <p:nvPr/>
        </p:nvSpPr>
        <p:spPr>
          <a:xfrm>
            <a:off x="8092440" y="3867912"/>
            <a:ext cx="1645920" cy="54864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confirmed across 2+ sources</a:t>
            </a:r>
            <a:endParaRPr lang="en-US" sz="1100" dirty="0"/>
          </a:p>
        </p:txBody>
      </p:sp>
      <p:sp>
        <p:nvSpPr>
          <p:cNvPr id="14" name="Text 10"/>
          <p:cNvSpPr txBox="1"/>
          <p:nvPr/>
        </p:nvSpPr>
        <p:spPr>
          <a:xfrm>
            <a:off x="9921240" y="3154680"/>
            <a:ext cx="1737360" cy="685800"/>
          </a:xfrm>
          <a:prstGeom prst="rect">
            <a:avLst/>
          </a:prstGeom>
          <a:noFill/>
          <a:ln/>
        </p:spPr>
        <p:txBody>
          <a:bodyPr wrap="square" lIns="0" tIns="0" rIns="0" bIns="0" rtlCol="0" anchor="t"/>
          <a:lstStyle/>
          <a:p>
            <a:pPr indent="0" marL="0">
              <a:buNone/>
            </a:pPr>
            <a:r>
              <a:rPr lang="en-US" sz="4000" b="1" dirty="0">
                <a:solidFill>
                  <a:srgbClr val="051C2C"/>
                </a:solidFill>
                <a:latin typeface="Georgia" pitchFamily="34" charset="0"/>
                <a:ea typeface="Georgia" pitchFamily="34" charset="-122"/>
                <a:cs typeface="Georgia" pitchFamily="34" charset="-120"/>
              </a:rPr>
              <a:t>6h</a:t>
            </a:r>
            <a:endParaRPr lang="en-US" sz="4000" dirty="0"/>
          </a:p>
        </p:txBody>
      </p:sp>
      <p:sp>
        <p:nvSpPr>
          <p:cNvPr id="15" name="Text 11"/>
          <p:cNvSpPr txBox="1"/>
          <p:nvPr/>
        </p:nvSpPr>
        <p:spPr>
          <a:xfrm>
            <a:off x="9921240" y="3867912"/>
            <a:ext cx="1645920" cy="54864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run interval, no human in the loop</a:t>
            </a:r>
            <a:endParaRPr lang="en-US" sz="1100" dirty="0"/>
          </a:p>
        </p:txBody>
      </p:sp>
      <p:sp>
        <p:nvSpPr>
          <p:cNvPr id="16" name="Shape 12"/>
          <p:cNvSpPr/>
          <p:nvPr/>
        </p:nvSpPr>
        <p:spPr>
          <a:xfrm>
            <a:off x="8092440" y="4754880"/>
            <a:ext cx="3547872" cy="1280160"/>
          </a:xfrm>
          <a:prstGeom prst="rect">
            <a:avLst/>
          </a:prstGeom>
          <a:solidFill>
            <a:srgbClr val="F2F4F7"/>
          </a:solidFill>
          <a:ln w="12700">
            <a:solidFill>
              <a:srgbClr val="F2F4F7"/>
            </a:solidFill>
            <a:prstDash val="solid"/>
          </a:ln>
        </p:spPr>
      </p:sp>
      <p:sp>
        <p:nvSpPr>
          <p:cNvPr id="17" name="Text 13"/>
          <p:cNvSpPr txBox="1"/>
          <p:nvPr/>
        </p:nvSpPr>
        <p:spPr>
          <a:xfrm>
            <a:off x="8275320" y="4846320"/>
            <a:ext cx="3200400" cy="274320"/>
          </a:xfrm>
          <a:prstGeom prst="rect">
            <a:avLst/>
          </a:prstGeom>
          <a:noFill/>
          <a:ln/>
        </p:spPr>
        <p:txBody>
          <a:bodyPr wrap="square" lIns="0" tIns="0" rIns="0" bIns="0" rtlCol="0" anchor="t"/>
          <a:lstStyle/>
          <a:p>
            <a:pPr indent="0" marL="0">
              <a:buNone/>
            </a:pPr>
            <a:r>
              <a:rPr lang="en-US" sz="1200" b="1" dirty="0">
                <a:solidFill>
                  <a:srgbClr val="051C2C"/>
                </a:solidFill>
                <a:latin typeface="Arial" pitchFamily="34" charset="0"/>
                <a:ea typeface="Arial" pitchFamily="34" charset="-122"/>
                <a:cs typeface="Arial" pitchFamily="34" charset="-120"/>
              </a:rPr>
              <a:t>Still needs a human eye</a:t>
            </a:r>
            <a:endParaRPr lang="en-US" sz="1200" dirty="0"/>
          </a:p>
        </p:txBody>
      </p:sp>
      <p:sp>
        <p:nvSpPr>
          <p:cNvPr id="18" name="Text 14"/>
          <p:cNvSpPr txBox="1"/>
          <p:nvPr/>
        </p:nvSpPr>
        <p:spPr>
          <a:xfrm>
            <a:off x="8275320" y="5166360"/>
            <a:ext cx="3200400" cy="100584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Lange Saxonia at 67% of target looks too good to be true. Grounding proves a price was quoted, not that it is the right listing.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THE FRAMEWORK JOURNEY</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Two detours taught us that the framework has to fit the agent: n8n and Agno fell short, LangChain fit</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author's experience building this project; comparison is for this use case only</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sp>
        <p:nvSpPr>
          <p:cNvPr id="7" name="Shape 4"/>
          <p:cNvSpPr/>
          <p:nvPr/>
        </p:nvSpPr>
        <p:spPr>
          <a:xfrm>
            <a:off x="548640" y="1783080"/>
            <a:ext cx="3566160" cy="3794760"/>
          </a:xfrm>
          <a:prstGeom prst="rect">
            <a:avLst/>
          </a:prstGeom>
          <a:solidFill>
            <a:srgbClr val="F2F4F7"/>
          </a:solidFill>
          <a:ln w="12700">
            <a:solidFill>
              <a:srgbClr val="F2F4F7"/>
            </a:solidFill>
            <a:prstDash val="solid"/>
          </a:ln>
        </p:spPr>
      </p:sp>
      <p:sp>
        <p:nvSpPr>
          <p:cNvPr id="8" name="Shape 5"/>
          <p:cNvSpPr/>
          <p:nvPr/>
        </p:nvSpPr>
        <p:spPr>
          <a:xfrm>
            <a:off x="822960" y="2011680"/>
            <a:ext cx="502920" cy="502920"/>
          </a:xfrm>
          <a:prstGeom prst="ellipse">
            <a:avLst/>
          </a:prstGeom>
          <a:solidFill>
            <a:srgbClr val="051C2C"/>
          </a:solidFill>
          <a:ln w="12700">
            <a:solidFill>
              <a:srgbClr val="051C2C"/>
            </a:solidFill>
            <a:prstDash val="solid"/>
          </a:ln>
        </p:spPr>
      </p:sp>
      <p:sp>
        <p:nvSpPr>
          <p:cNvPr id="9" name="Text 6"/>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2377440" y="2103120"/>
            <a:ext cx="1554480" cy="274320"/>
          </a:xfrm>
          <a:prstGeom prst="rect">
            <a:avLst/>
          </a:prstGeom>
          <a:noFill/>
          <a:ln/>
        </p:spPr>
        <p:txBody>
          <a:bodyPr wrap="square" lIns="0" tIns="0" rIns="0" bIns="0" rtlCol="0" anchor="t"/>
          <a:lstStyle/>
          <a:p>
            <a:pPr algn="r" indent="0" marL="0">
              <a:buNone/>
            </a:pPr>
            <a:r>
              <a:rPr lang="en-US" sz="1100" b="1" spc="100" kern="0" dirty="0">
                <a:solidFill>
                  <a:srgbClr val="6B7280"/>
                </a:solidFill>
                <a:latin typeface="Arial" pitchFamily="34" charset="0"/>
                <a:ea typeface="Arial" pitchFamily="34" charset="-122"/>
                <a:cs typeface="Arial" pitchFamily="34" charset="-120"/>
              </a:rPr>
              <a:t>NOT CHOSEN</a:t>
            </a:r>
            <a:endParaRPr lang="en-US" sz="1100" dirty="0"/>
          </a:p>
        </p:txBody>
      </p:sp>
      <p:sp>
        <p:nvSpPr>
          <p:cNvPr id="11" name="Text 8"/>
          <p:cNvSpPr txBox="1"/>
          <p:nvPr/>
        </p:nvSpPr>
        <p:spPr>
          <a:xfrm>
            <a:off x="822960" y="2743200"/>
            <a:ext cx="3017520" cy="502920"/>
          </a:xfrm>
          <a:prstGeom prst="rect">
            <a:avLst/>
          </a:prstGeom>
          <a:noFill/>
          <a:ln/>
        </p:spPr>
        <p:txBody>
          <a:bodyPr wrap="square" lIns="0" tIns="0" rIns="0" bIns="0" rtlCol="0" anchor="t"/>
          <a:lstStyle/>
          <a:p>
            <a:pPr indent="0" marL="0">
              <a:buNone/>
            </a:pPr>
            <a:r>
              <a:rPr lang="en-US" sz="2800" b="1" dirty="0">
                <a:solidFill>
                  <a:srgbClr val="051C2C"/>
                </a:solidFill>
                <a:latin typeface="Georgia" pitchFamily="34" charset="0"/>
                <a:ea typeface="Georgia" pitchFamily="34" charset="-122"/>
                <a:cs typeface="Georgia" pitchFamily="34" charset="-120"/>
              </a:rPr>
              <a:t>n8n</a:t>
            </a:r>
            <a:endParaRPr lang="en-US" sz="2800" dirty="0"/>
          </a:p>
        </p:txBody>
      </p:sp>
      <p:sp>
        <p:nvSpPr>
          <p:cNvPr id="12" name="Text 9"/>
          <p:cNvSpPr txBox="1"/>
          <p:nvPr/>
        </p:nvSpPr>
        <p:spPr>
          <a:xfrm>
            <a:off x="822960" y="3291840"/>
            <a:ext cx="3017520"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Visual workflow automation</a:t>
            </a:r>
            <a:endParaRPr lang="en-US" sz="1200" dirty="0"/>
          </a:p>
        </p:txBody>
      </p:sp>
      <p:sp>
        <p:nvSpPr>
          <p:cNvPr id="13" name="Text 10"/>
          <p:cNvSpPr txBox="1"/>
          <p:nvPr/>
        </p:nvSpPr>
        <p:spPr>
          <a:xfrm>
            <a:off x="822960" y="3840480"/>
            <a:ext cx="3017520" cy="365760"/>
          </a:xfrm>
          <a:prstGeom prst="rect">
            <a:avLst/>
          </a:prstGeom>
          <a:noFill/>
          <a:ln/>
        </p:spPr>
        <p:txBody>
          <a:bodyPr wrap="square" lIns="0" tIns="0" rIns="0" bIns="0" rtlCol="0" anchor="t"/>
          <a:lstStyle/>
          <a:p>
            <a:pPr indent="0" marL="0">
              <a:buNone/>
            </a:pPr>
            <a:r>
              <a:rPr lang="en-US" sz="1600" b="1" dirty="0">
                <a:solidFill>
                  <a:srgbClr val="2251FF"/>
                </a:solidFill>
                <a:latin typeface="Arial" pitchFamily="34" charset="0"/>
                <a:ea typeface="Arial" pitchFamily="34" charset="-122"/>
                <a:cs typeface="Arial" pitchFamily="34" charset="-120"/>
              </a:rPr>
              <a:t>Too rigid for agent logic</a:t>
            </a:r>
            <a:endParaRPr lang="en-US" sz="1600" dirty="0"/>
          </a:p>
        </p:txBody>
      </p:sp>
      <p:sp>
        <p:nvSpPr>
          <p:cNvPr id="14" name="Text 11"/>
          <p:cNvSpPr txBox="1"/>
          <p:nvPr/>
        </p:nvSpPr>
        <p:spPr>
          <a:xfrm>
            <a:off x="822960" y="4297680"/>
            <a:ext cx="3017520" cy="1188720"/>
          </a:xfrm>
          <a:prstGeom prst="rect">
            <a:avLst/>
          </a:prstGeom>
          <a:noFill/>
          <a:ln/>
        </p:spPr>
        <p:txBody>
          <a:bodyPr wrap="square" lIns="0" tIns="0" rIns="0" bIns="0" rtlCol="0" anchor="t"/>
          <a:lstStyle/>
          <a:p>
            <a:pPr indent="0" marL="0">
              <a:buNone/>
            </a:pPr>
            <a:r>
              <a:rPr lang="en-US" sz="1300" dirty="0">
                <a:solidFill>
                  <a:srgbClr val="051C2C"/>
                </a:solidFill>
                <a:latin typeface="Arial" pitchFamily="34" charset="0"/>
                <a:ea typeface="Arial" pitchFamily="34" charset="-122"/>
                <a:cs typeface="Arial" pitchFamily="34" charset="-120"/>
              </a:rPr>
              <a:t>Custom reasoning steps, grounding checks and consensus rules did not fit the node-and-connection model.</a:t>
            </a:r>
            <a:endParaRPr lang="en-US" sz="1300" dirty="0"/>
          </a:p>
        </p:txBody>
      </p:sp>
      <p:sp>
        <p:nvSpPr>
          <p:cNvPr id="15" name="Shape 12"/>
          <p:cNvSpPr/>
          <p:nvPr/>
        </p:nvSpPr>
        <p:spPr>
          <a:xfrm>
            <a:off x="4297680" y="1783080"/>
            <a:ext cx="3566160" cy="3794760"/>
          </a:xfrm>
          <a:prstGeom prst="rect">
            <a:avLst/>
          </a:prstGeom>
          <a:solidFill>
            <a:srgbClr val="F2F4F7"/>
          </a:solidFill>
          <a:ln w="12700">
            <a:solidFill>
              <a:srgbClr val="F2F4F7"/>
            </a:solidFill>
            <a:prstDash val="solid"/>
          </a:ln>
        </p:spPr>
      </p:sp>
      <p:sp>
        <p:nvSpPr>
          <p:cNvPr id="16" name="Shape 13"/>
          <p:cNvSpPr/>
          <p:nvPr/>
        </p:nvSpPr>
        <p:spPr>
          <a:xfrm>
            <a:off x="4572000" y="2011680"/>
            <a:ext cx="502920" cy="502920"/>
          </a:xfrm>
          <a:prstGeom prst="ellipse">
            <a:avLst/>
          </a:prstGeom>
          <a:solidFill>
            <a:srgbClr val="051C2C"/>
          </a:solidFill>
          <a:ln w="12700">
            <a:solidFill>
              <a:srgbClr val="051C2C"/>
            </a:solidFill>
            <a:prstDash val="solid"/>
          </a:ln>
        </p:spPr>
      </p:sp>
      <p:sp>
        <p:nvSpPr>
          <p:cNvPr id="17" name="Text 14"/>
          <p:cNvSpPr txBox="1"/>
          <p:nvPr/>
        </p:nvSpPr>
        <p:spPr>
          <a:xfrm>
            <a:off x="457200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8" name="Text 15"/>
          <p:cNvSpPr txBox="1"/>
          <p:nvPr/>
        </p:nvSpPr>
        <p:spPr>
          <a:xfrm>
            <a:off x="6126480" y="2103120"/>
            <a:ext cx="1554480" cy="274320"/>
          </a:xfrm>
          <a:prstGeom prst="rect">
            <a:avLst/>
          </a:prstGeom>
          <a:noFill/>
          <a:ln/>
        </p:spPr>
        <p:txBody>
          <a:bodyPr wrap="square" lIns="0" tIns="0" rIns="0" bIns="0" rtlCol="0" anchor="t"/>
          <a:lstStyle/>
          <a:p>
            <a:pPr algn="r" indent="0" marL="0">
              <a:buNone/>
            </a:pPr>
            <a:r>
              <a:rPr lang="en-US" sz="1100" b="1" spc="100" kern="0" dirty="0">
                <a:solidFill>
                  <a:srgbClr val="6B7280"/>
                </a:solidFill>
                <a:latin typeface="Arial" pitchFamily="34" charset="0"/>
                <a:ea typeface="Arial" pitchFamily="34" charset="-122"/>
                <a:cs typeface="Arial" pitchFamily="34" charset="-120"/>
              </a:rPr>
              <a:t>NOT CHOSEN</a:t>
            </a:r>
            <a:endParaRPr lang="en-US" sz="1100" dirty="0"/>
          </a:p>
        </p:txBody>
      </p:sp>
      <p:sp>
        <p:nvSpPr>
          <p:cNvPr id="19" name="Text 16"/>
          <p:cNvSpPr txBox="1"/>
          <p:nvPr/>
        </p:nvSpPr>
        <p:spPr>
          <a:xfrm>
            <a:off x="4572000" y="2743200"/>
            <a:ext cx="3017520" cy="502920"/>
          </a:xfrm>
          <a:prstGeom prst="rect">
            <a:avLst/>
          </a:prstGeom>
          <a:noFill/>
          <a:ln/>
        </p:spPr>
        <p:txBody>
          <a:bodyPr wrap="square" lIns="0" tIns="0" rIns="0" bIns="0" rtlCol="0" anchor="t"/>
          <a:lstStyle/>
          <a:p>
            <a:pPr indent="0" marL="0">
              <a:buNone/>
            </a:pPr>
            <a:r>
              <a:rPr lang="en-US" sz="2800" b="1" dirty="0">
                <a:solidFill>
                  <a:srgbClr val="051C2C"/>
                </a:solidFill>
                <a:latin typeface="Georgia" pitchFamily="34" charset="0"/>
                <a:ea typeface="Georgia" pitchFamily="34" charset="-122"/>
                <a:cs typeface="Georgia" pitchFamily="34" charset="-120"/>
              </a:rPr>
              <a:t>Agno</a:t>
            </a:r>
            <a:endParaRPr lang="en-US" sz="2800" dirty="0"/>
          </a:p>
        </p:txBody>
      </p:sp>
      <p:sp>
        <p:nvSpPr>
          <p:cNvPr id="20" name="Text 17"/>
          <p:cNvSpPr txBox="1"/>
          <p:nvPr/>
        </p:nvSpPr>
        <p:spPr>
          <a:xfrm>
            <a:off x="4572000" y="3291840"/>
            <a:ext cx="3017520" cy="3200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Python agent framework</a:t>
            </a:r>
            <a:endParaRPr lang="en-US" sz="1200" dirty="0"/>
          </a:p>
        </p:txBody>
      </p:sp>
      <p:sp>
        <p:nvSpPr>
          <p:cNvPr id="21" name="Text 18"/>
          <p:cNvSpPr txBox="1"/>
          <p:nvPr/>
        </p:nvSpPr>
        <p:spPr>
          <a:xfrm>
            <a:off x="4572000" y="3840480"/>
            <a:ext cx="3017520" cy="365760"/>
          </a:xfrm>
          <a:prstGeom prst="rect">
            <a:avLst/>
          </a:prstGeom>
          <a:noFill/>
          <a:ln/>
        </p:spPr>
        <p:txBody>
          <a:bodyPr wrap="square" lIns="0" tIns="0" rIns="0" bIns="0" rtlCol="0" anchor="t"/>
          <a:lstStyle/>
          <a:p>
            <a:pPr indent="0" marL="0">
              <a:buNone/>
            </a:pPr>
            <a:r>
              <a:rPr lang="en-US" sz="1600" b="1" dirty="0">
                <a:solidFill>
                  <a:srgbClr val="2251FF"/>
                </a:solidFill>
                <a:latin typeface="Arial" pitchFamily="34" charset="0"/>
                <a:ea typeface="Arial" pitchFamily="34" charset="-122"/>
                <a:cs typeface="Arial" pitchFamily="34" charset="-120"/>
              </a:rPr>
              <a:t>Ecosystem and docs gaps</a:t>
            </a:r>
            <a:endParaRPr lang="en-US" sz="1600" dirty="0"/>
          </a:p>
        </p:txBody>
      </p:sp>
      <p:sp>
        <p:nvSpPr>
          <p:cNvPr id="22" name="Text 19"/>
          <p:cNvSpPr txBox="1"/>
          <p:nvPr/>
        </p:nvSpPr>
        <p:spPr>
          <a:xfrm>
            <a:off x="4572000" y="4297680"/>
            <a:ext cx="3017520" cy="1188720"/>
          </a:xfrm>
          <a:prstGeom prst="rect">
            <a:avLst/>
          </a:prstGeom>
          <a:noFill/>
          <a:ln/>
        </p:spPr>
        <p:txBody>
          <a:bodyPr wrap="square" lIns="0" tIns="0" rIns="0" bIns="0" rtlCol="0" anchor="t"/>
          <a:lstStyle/>
          <a:p>
            <a:pPr indent="0" marL="0">
              <a:buNone/>
            </a:pPr>
            <a:r>
              <a:rPr lang="en-US" sz="1300" dirty="0">
                <a:solidFill>
                  <a:srgbClr val="051C2C"/>
                </a:solidFill>
                <a:latin typeface="Arial" pitchFamily="34" charset="0"/>
                <a:ea typeface="Arial" pitchFamily="34" charset="-122"/>
                <a:cs typeface="Arial" pitchFamily="34" charset="-120"/>
              </a:rPr>
              <a:t>Right shape, but fewer integrations and less documentation than this project needed.</a:t>
            </a:r>
            <a:endParaRPr lang="en-US" sz="1300" dirty="0"/>
          </a:p>
        </p:txBody>
      </p:sp>
      <p:sp>
        <p:nvSpPr>
          <p:cNvPr id="23" name="Shape 20"/>
          <p:cNvSpPr/>
          <p:nvPr/>
        </p:nvSpPr>
        <p:spPr>
          <a:xfrm>
            <a:off x="8046720" y="1783080"/>
            <a:ext cx="3566160" cy="3794760"/>
          </a:xfrm>
          <a:prstGeom prst="rect">
            <a:avLst/>
          </a:prstGeom>
          <a:solidFill>
            <a:srgbClr val="051C2C"/>
          </a:solidFill>
          <a:ln w="12700">
            <a:solidFill>
              <a:srgbClr val="051C2C"/>
            </a:solidFill>
            <a:prstDash val="solid"/>
          </a:ln>
        </p:spPr>
      </p:sp>
      <p:sp>
        <p:nvSpPr>
          <p:cNvPr id="24" name="Shape 21"/>
          <p:cNvSpPr/>
          <p:nvPr/>
        </p:nvSpPr>
        <p:spPr>
          <a:xfrm>
            <a:off x="8321040" y="2011680"/>
            <a:ext cx="502920" cy="502920"/>
          </a:xfrm>
          <a:prstGeom prst="ellipse">
            <a:avLst/>
          </a:prstGeom>
          <a:solidFill>
            <a:srgbClr val="2251FF"/>
          </a:solidFill>
          <a:ln w="12700">
            <a:solidFill>
              <a:srgbClr val="2251FF"/>
            </a:solidFill>
            <a:prstDash val="solid"/>
          </a:ln>
        </p:spPr>
      </p:sp>
      <p:sp>
        <p:nvSpPr>
          <p:cNvPr id="25" name="Text 22"/>
          <p:cNvSpPr txBox="1"/>
          <p:nvPr/>
        </p:nvSpPr>
        <p:spPr>
          <a:xfrm>
            <a:off x="832104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6" name="Text 23"/>
          <p:cNvSpPr txBox="1"/>
          <p:nvPr/>
        </p:nvSpPr>
        <p:spPr>
          <a:xfrm>
            <a:off x="9875520" y="2103120"/>
            <a:ext cx="1554480" cy="274320"/>
          </a:xfrm>
          <a:prstGeom prst="rect">
            <a:avLst/>
          </a:prstGeom>
          <a:noFill/>
          <a:ln/>
        </p:spPr>
        <p:txBody>
          <a:bodyPr wrap="square" lIns="0" tIns="0" rIns="0" bIns="0" rtlCol="0" anchor="t"/>
          <a:lstStyle/>
          <a:p>
            <a:pPr algn="r" indent="0" marL="0">
              <a:buNone/>
            </a:pPr>
            <a:r>
              <a:rPr lang="en-US" sz="1100" b="1" spc="100" kern="0" dirty="0">
                <a:solidFill>
                  <a:srgbClr val="8FB0FF"/>
                </a:solidFill>
                <a:latin typeface="Arial" pitchFamily="34" charset="0"/>
                <a:ea typeface="Arial" pitchFamily="34" charset="-122"/>
                <a:cs typeface="Arial" pitchFamily="34" charset="-120"/>
              </a:rPr>
              <a:t>CHOSEN</a:t>
            </a:r>
            <a:endParaRPr lang="en-US" sz="1100" dirty="0"/>
          </a:p>
        </p:txBody>
      </p:sp>
      <p:sp>
        <p:nvSpPr>
          <p:cNvPr id="27" name="Text 24"/>
          <p:cNvSpPr txBox="1"/>
          <p:nvPr/>
        </p:nvSpPr>
        <p:spPr>
          <a:xfrm>
            <a:off x="8321040" y="2743200"/>
            <a:ext cx="3017520" cy="502920"/>
          </a:xfrm>
          <a:prstGeom prst="rect">
            <a:avLst/>
          </a:prstGeom>
          <a:noFill/>
          <a:ln/>
        </p:spPr>
        <p:txBody>
          <a:bodyPr wrap="square" lIns="0" tIns="0" rIns="0" bIns="0"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LangChain</a:t>
            </a:r>
            <a:endParaRPr lang="en-US" sz="2800" dirty="0"/>
          </a:p>
        </p:txBody>
      </p:sp>
      <p:sp>
        <p:nvSpPr>
          <p:cNvPr id="28" name="Text 25"/>
          <p:cNvSpPr txBox="1"/>
          <p:nvPr/>
        </p:nvSpPr>
        <p:spPr>
          <a:xfrm>
            <a:off x="8321040" y="3291840"/>
            <a:ext cx="3017520" cy="320040"/>
          </a:xfrm>
          <a:prstGeom prst="rect">
            <a:avLst/>
          </a:prstGeom>
          <a:noFill/>
          <a:ln/>
        </p:spPr>
        <p:txBody>
          <a:bodyPr wrap="square" lIns="0" tIns="0" rIns="0" bIns="0" rtlCol="0" anchor="t"/>
          <a:lstStyle/>
          <a:p>
            <a:pPr indent="0" marL="0">
              <a:buNone/>
            </a:pPr>
            <a:r>
              <a:rPr lang="en-US" sz="1200" dirty="0">
                <a:solidFill>
                  <a:srgbClr val="C9D6F2"/>
                </a:solidFill>
                <a:latin typeface="Arial" pitchFamily="34" charset="0"/>
                <a:ea typeface="Arial" pitchFamily="34" charset="-122"/>
                <a:cs typeface="Arial" pitchFamily="34" charset="-120"/>
              </a:rPr>
              <a:t>Python agent framework and ecosystem</a:t>
            </a:r>
            <a:endParaRPr lang="en-US" sz="1200" dirty="0"/>
          </a:p>
        </p:txBody>
      </p:sp>
      <p:sp>
        <p:nvSpPr>
          <p:cNvPr id="29" name="Text 26"/>
          <p:cNvSpPr txBox="1"/>
          <p:nvPr/>
        </p:nvSpPr>
        <p:spPr>
          <a:xfrm>
            <a:off x="8321040" y="3840480"/>
            <a:ext cx="301752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Control plus ecosystem</a:t>
            </a:r>
            <a:endParaRPr lang="en-US" sz="1600" dirty="0"/>
          </a:p>
        </p:txBody>
      </p:sp>
      <p:sp>
        <p:nvSpPr>
          <p:cNvPr id="30" name="Text 27"/>
          <p:cNvSpPr txBox="1"/>
          <p:nvPr/>
        </p:nvSpPr>
        <p:spPr>
          <a:xfrm>
            <a:off x="8321040" y="4297680"/>
            <a:ext cx="3017520" cy="11887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create_agent, typed tools, Pydantic structured output and ready integrations (Gemini, Tavily). Guardrails are just Python.</a:t>
            </a:r>
            <a:endParaRPr lang="en-US" sz="1300" dirty="0"/>
          </a:p>
        </p:txBody>
      </p:sp>
      <p:sp>
        <p:nvSpPr>
          <p:cNvPr id="31" name="Shape 28"/>
          <p:cNvSpPr/>
          <p:nvPr/>
        </p:nvSpPr>
        <p:spPr>
          <a:xfrm>
            <a:off x="548640" y="5760720"/>
            <a:ext cx="11091672" cy="502920"/>
          </a:xfrm>
          <a:prstGeom prst="rect">
            <a:avLst/>
          </a:prstGeom>
          <a:solidFill>
            <a:srgbClr val="2251FF"/>
          </a:solidFill>
          <a:ln w="12700">
            <a:solidFill>
              <a:srgbClr val="2251FF"/>
            </a:solidFill>
            <a:prstDash val="solid"/>
          </a:ln>
        </p:spPr>
      </p:sp>
      <p:sp>
        <p:nvSpPr>
          <p:cNvPr id="32" name="Text 29"/>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Lesson: choose the framework by the shape of the problem, not by hype.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PLATFORM COMPARISON: PROS AND CONS</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Each platform has a sweet spot: n8n for integrations, Agno for lean agents, LangChain for custom, production-grade ones</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n8n docs (Sustainable Use License, pricing); Agno and LangChain documentation; author's experience where marked *</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sp>
        <p:nvSpPr>
          <p:cNvPr id="7" name="Shape 4"/>
          <p:cNvSpPr/>
          <p:nvPr/>
        </p:nvSpPr>
        <p:spPr>
          <a:xfrm>
            <a:off x="548640" y="1783080"/>
            <a:ext cx="3566160" cy="4480560"/>
          </a:xfrm>
          <a:prstGeom prst="rect">
            <a:avLst/>
          </a:prstGeom>
          <a:solidFill>
            <a:srgbClr val="F2F4F7"/>
          </a:solidFill>
          <a:ln w="12700">
            <a:solidFill>
              <a:srgbClr val="F2F4F7"/>
            </a:solidFill>
            <a:prstDash val="solid"/>
          </a:ln>
        </p:spPr>
      </p:sp>
      <p:sp>
        <p:nvSpPr>
          <p:cNvPr id="8" name="Shape 5"/>
          <p:cNvSpPr/>
          <p:nvPr/>
        </p:nvSpPr>
        <p:spPr>
          <a:xfrm>
            <a:off x="548640" y="1783080"/>
            <a:ext cx="3566160" cy="777240"/>
          </a:xfrm>
          <a:prstGeom prst="rect">
            <a:avLst/>
          </a:prstGeom>
          <a:solidFill>
            <a:srgbClr val="051C2C"/>
          </a:solidFill>
          <a:ln w="12700">
            <a:solidFill>
              <a:srgbClr val="051C2C"/>
            </a:solidFill>
            <a:prstDash val="solid"/>
          </a:ln>
        </p:spPr>
      </p:sp>
      <p:sp>
        <p:nvSpPr>
          <p:cNvPr id="9" name="Text 6"/>
          <p:cNvSpPr txBox="1"/>
          <p:nvPr/>
        </p:nvSpPr>
        <p:spPr>
          <a:xfrm>
            <a:off x="777240" y="1828800"/>
            <a:ext cx="3108960" cy="411480"/>
          </a:xfrm>
          <a:prstGeom prst="rect">
            <a:avLst/>
          </a:prstGeom>
          <a:noFill/>
          <a:ln/>
        </p:spPr>
        <p:txBody>
          <a:bodyPr wrap="square" lIns="0" tIns="0" rIns="0" bIns="0" rtlCol="0" anchor="t"/>
          <a:lstStyle/>
          <a:p>
            <a:pPr indent="0" marL="0">
              <a:buNone/>
            </a:pPr>
            <a:r>
              <a:rPr lang="en-US" sz="2000" b="1" dirty="0">
                <a:solidFill>
                  <a:srgbClr val="FFFFFF"/>
                </a:solidFill>
                <a:latin typeface="Georgia" pitchFamily="34" charset="0"/>
                <a:ea typeface="Georgia" pitchFamily="34" charset="-122"/>
                <a:cs typeface="Georgia" pitchFamily="34" charset="-120"/>
              </a:rPr>
              <a:t>n8n</a:t>
            </a:r>
            <a:endParaRPr lang="en-US" sz="2000" dirty="0"/>
          </a:p>
        </p:txBody>
      </p:sp>
      <p:sp>
        <p:nvSpPr>
          <p:cNvPr id="10" name="Text 7"/>
          <p:cNvSpPr txBox="1"/>
          <p:nvPr/>
        </p:nvSpPr>
        <p:spPr>
          <a:xfrm>
            <a:off x="777240" y="2240280"/>
            <a:ext cx="3108960" cy="274320"/>
          </a:xfrm>
          <a:prstGeom prst="rect">
            <a:avLst/>
          </a:prstGeom>
          <a:noFill/>
          <a:ln/>
        </p:spPr>
        <p:txBody>
          <a:bodyPr wrap="square" lIns="0" tIns="0" rIns="0" bIns="0" rtlCol="0" anchor="t"/>
          <a:lstStyle/>
          <a:p>
            <a:pPr indent="0" marL="0">
              <a:buNone/>
            </a:pPr>
            <a:r>
              <a:rPr lang="en-US" sz="1100" dirty="0">
                <a:solidFill>
                  <a:srgbClr val="DDE6FA"/>
                </a:solidFill>
                <a:latin typeface="Arial" pitchFamily="34" charset="0"/>
                <a:ea typeface="Arial" pitchFamily="34" charset="-122"/>
                <a:cs typeface="Arial" pitchFamily="34" charset="-120"/>
              </a:rPr>
              <a:t>Visual workflow automation</a:t>
            </a:r>
            <a:endParaRPr lang="en-US" sz="1100" dirty="0"/>
          </a:p>
        </p:txBody>
      </p:sp>
      <p:sp>
        <p:nvSpPr>
          <p:cNvPr id="11" name="Text 8"/>
          <p:cNvSpPr txBox="1"/>
          <p:nvPr/>
        </p:nvSpPr>
        <p:spPr>
          <a:xfrm>
            <a:off x="777240" y="2697480"/>
            <a:ext cx="310896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PROS</a:t>
            </a:r>
            <a:endParaRPr lang="en-US" sz="1000" dirty="0"/>
          </a:p>
        </p:txBody>
      </p:sp>
      <p:sp>
        <p:nvSpPr>
          <p:cNvPr id="12" name="Text 9"/>
          <p:cNvSpPr txBox="1"/>
          <p:nvPr/>
        </p:nvSpPr>
        <p:spPr>
          <a:xfrm>
            <a:off x="777240" y="2944368"/>
            <a:ext cx="315468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500+ built-in integrations</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Fast visual prototyping; low barrier for non-developers</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Free to self-host (fair-code Sustainable Use License)</a:t>
            </a:r>
            <a:endParaRPr lang="en-US" sz="1150" dirty="0"/>
          </a:p>
        </p:txBody>
      </p:sp>
      <p:sp>
        <p:nvSpPr>
          <p:cNvPr id="13" name="Text 10"/>
          <p:cNvSpPr txBox="1"/>
          <p:nvPr/>
        </p:nvSpPr>
        <p:spPr>
          <a:xfrm>
            <a:off x="777240" y="4434840"/>
            <a:ext cx="3108960" cy="228600"/>
          </a:xfrm>
          <a:prstGeom prst="rect">
            <a:avLst/>
          </a:prstGeom>
          <a:noFill/>
          <a:ln/>
        </p:spPr>
        <p:txBody>
          <a:bodyPr wrap="square" lIns="0" tIns="0" rIns="0" bIns="0" rtlCol="0" anchor="t"/>
          <a:lstStyle/>
          <a:p>
            <a:pPr indent="0" marL="0">
              <a:buNone/>
            </a:pPr>
            <a:r>
              <a:rPr lang="en-US" sz="1000" b="1" spc="200" kern="0" dirty="0">
                <a:solidFill>
                  <a:srgbClr val="B42318"/>
                </a:solidFill>
                <a:latin typeface="Arial" pitchFamily="34" charset="0"/>
                <a:ea typeface="Arial" pitchFamily="34" charset="-122"/>
                <a:cs typeface="Arial" pitchFamily="34" charset="-120"/>
              </a:rPr>
              <a:t>CONS</a:t>
            </a:r>
            <a:endParaRPr lang="en-US" sz="1000" dirty="0"/>
          </a:p>
        </p:txBody>
      </p:sp>
      <p:sp>
        <p:nvSpPr>
          <p:cNvPr id="14" name="Text 11"/>
          <p:cNvSpPr txBox="1"/>
          <p:nvPr/>
        </p:nvSpPr>
        <p:spPr>
          <a:xfrm>
            <a:off x="777240" y="4681728"/>
            <a:ext cx="3154680" cy="1508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Rigid for custom agent logic*</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Large flows get hard to read and review</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Git version control needs a paid (Business) plan</a:t>
            </a:r>
            <a:endParaRPr lang="en-US" sz="1150" dirty="0"/>
          </a:p>
        </p:txBody>
      </p:sp>
      <p:sp>
        <p:nvSpPr>
          <p:cNvPr id="15" name="Shape 12"/>
          <p:cNvSpPr/>
          <p:nvPr/>
        </p:nvSpPr>
        <p:spPr>
          <a:xfrm>
            <a:off x="4297680" y="1783080"/>
            <a:ext cx="3566160" cy="4480560"/>
          </a:xfrm>
          <a:prstGeom prst="rect">
            <a:avLst/>
          </a:prstGeom>
          <a:solidFill>
            <a:srgbClr val="F2F4F7"/>
          </a:solidFill>
          <a:ln w="12700">
            <a:solidFill>
              <a:srgbClr val="F2F4F7"/>
            </a:solidFill>
            <a:prstDash val="solid"/>
          </a:ln>
        </p:spPr>
      </p:sp>
      <p:sp>
        <p:nvSpPr>
          <p:cNvPr id="16" name="Shape 13"/>
          <p:cNvSpPr/>
          <p:nvPr/>
        </p:nvSpPr>
        <p:spPr>
          <a:xfrm>
            <a:off x="4297680" y="1783080"/>
            <a:ext cx="3566160" cy="777240"/>
          </a:xfrm>
          <a:prstGeom prst="rect">
            <a:avLst/>
          </a:prstGeom>
          <a:solidFill>
            <a:srgbClr val="051C2C"/>
          </a:solidFill>
          <a:ln w="12700">
            <a:solidFill>
              <a:srgbClr val="051C2C"/>
            </a:solidFill>
            <a:prstDash val="solid"/>
          </a:ln>
        </p:spPr>
      </p:sp>
      <p:sp>
        <p:nvSpPr>
          <p:cNvPr id="17" name="Text 14"/>
          <p:cNvSpPr txBox="1"/>
          <p:nvPr/>
        </p:nvSpPr>
        <p:spPr>
          <a:xfrm>
            <a:off x="4526280" y="1828800"/>
            <a:ext cx="3108960" cy="411480"/>
          </a:xfrm>
          <a:prstGeom prst="rect">
            <a:avLst/>
          </a:prstGeom>
          <a:noFill/>
          <a:ln/>
        </p:spPr>
        <p:txBody>
          <a:bodyPr wrap="square" lIns="0" tIns="0" rIns="0" bIns="0" rtlCol="0" anchor="t"/>
          <a:lstStyle/>
          <a:p>
            <a:pPr indent="0" marL="0">
              <a:buNone/>
            </a:pPr>
            <a:r>
              <a:rPr lang="en-US" sz="2000" b="1" dirty="0">
                <a:solidFill>
                  <a:srgbClr val="FFFFFF"/>
                </a:solidFill>
                <a:latin typeface="Georgia" pitchFamily="34" charset="0"/>
                <a:ea typeface="Georgia" pitchFamily="34" charset="-122"/>
                <a:cs typeface="Georgia" pitchFamily="34" charset="-120"/>
              </a:rPr>
              <a:t>Agno</a:t>
            </a:r>
            <a:endParaRPr lang="en-US" sz="2000" dirty="0"/>
          </a:p>
        </p:txBody>
      </p:sp>
      <p:sp>
        <p:nvSpPr>
          <p:cNvPr id="18" name="Text 15"/>
          <p:cNvSpPr txBox="1"/>
          <p:nvPr/>
        </p:nvSpPr>
        <p:spPr>
          <a:xfrm>
            <a:off x="4526280" y="2240280"/>
            <a:ext cx="3108960" cy="274320"/>
          </a:xfrm>
          <a:prstGeom prst="rect">
            <a:avLst/>
          </a:prstGeom>
          <a:noFill/>
          <a:ln/>
        </p:spPr>
        <p:txBody>
          <a:bodyPr wrap="square" lIns="0" tIns="0" rIns="0" bIns="0" rtlCol="0" anchor="t"/>
          <a:lstStyle/>
          <a:p>
            <a:pPr indent="0" marL="0">
              <a:buNone/>
            </a:pPr>
            <a:r>
              <a:rPr lang="en-US" sz="1100" dirty="0">
                <a:solidFill>
                  <a:srgbClr val="DDE6FA"/>
                </a:solidFill>
                <a:latin typeface="Arial" pitchFamily="34" charset="0"/>
                <a:ea typeface="Arial" pitchFamily="34" charset="-122"/>
                <a:cs typeface="Arial" pitchFamily="34" charset="-120"/>
              </a:rPr>
              <a:t>Lightweight Python agent framework</a:t>
            </a:r>
            <a:endParaRPr lang="en-US" sz="1100" dirty="0"/>
          </a:p>
        </p:txBody>
      </p:sp>
      <p:sp>
        <p:nvSpPr>
          <p:cNvPr id="19" name="Text 16"/>
          <p:cNvSpPr txBox="1"/>
          <p:nvPr/>
        </p:nvSpPr>
        <p:spPr>
          <a:xfrm>
            <a:off x="4526280" y="2697480"/>
            <a:ext cx="310896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PROS</a:t>
            </a:r>
            <a:endParaRPr lang="en-US" sz="1000" dirty="0"/>
          </a:p>
        </p:txBody>
      </p:sp>
      <p:sp>
        <p:nvSpPr>
          <p:cNvPr id="20" name="Text 17"/>
          <p:cNvSpPr txBox="1"/>
          <p:nvPr/>
        </p:nvSpPr>
        <p:spPr>
          <a:xfrm>
            <a:off x="4526280" y="2944368"/>
            <a:ext cx="315468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Clean, Pythonic API for agents, teams and workflows</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Memory and knowledge built in; you own the data</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Apache 2.0, with the AgentOS runtime and UI</a:t>
            </a:r>
            <a:endParaRPr lang="en-US" sz="1150" dirty="0"/>
          </a:p>
        </p:txBody>
      </p:sp>
      <p:sp>
        <p:nvSpPr>
          <p:cNvPr id="21" name="Text 18"/>
          <p:cNvSpPr txBox="1"/>
          <p:nvPr/>
        </p:nvSpPr>
        <p:spPr>
          <a:xfrm>
            <a:off x="4526280" y="4434840"/>
            <a:ext cx="3108960" cy="228600"/>
          </a:xfrm>
          <a:prstGeom prst="rect">
            <a:avLst/>
          </a:prstGeom>
          <a:noFill/>
          <a:ln/>
        </p:spPr>
        <p:txBody>
          <a:bodyPr wrap="square" lIns="0" tIns="0" rIns="0" bIns="0" rtlCol="0" anchor="t"/>
          <a:lstStyle/>
          <a:p>
            <a:pPr indent="0" marL="0">
              <a:buNone/>
            </a:pPr>
            <a:r>
              <a:rPr lang="en-US" sz="1000" b="1" spc="200" kern="0" dirty="0">
                <a:solidFill>
                  <a:srgbClr val="B42318"/>
                </a:solidFill>
                <a:latin typeface="Arial" pitchFamily="34" charset="0"/>
                <a:ea typeface="Arial" pitchFamily="34" charset="-122"/>
                <a:cs typeface="Arial" pitchFamily="34" charset="-120"/>
              </a:rPr>
              <a:t>CONS</a:t>
            </a:r>
            <a:endParaRPr lang="en-US" sz="1000" dirty="0"/>
          </a:p>
        </p:txBody>
      </p:sp>
      <p:sp>
        <p:nvSpPr>
          <p:cNvPr id="22" name="Text 19"/>
          <p:cNvSpPr txBox="1"/>
          <p:nvPr/>
        </p:nvSpPr>
        <p:spPr>
          <a:xfrm>
            <a:off x="4526280" y="4681728"/>
            <a:ext cx="3154680" cy="1508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Ecosystem and docs gaps*</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Smaller community than LangChain</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Rebranded from Phidata in 2025, so older material can be out of date</a:t>
            </a:r>
            <a:endParaRPr lang="en-US" sz="1150" dirty="0"/>
          </a:p>
        </p:txBody>
      </p:sp>
      <p:sp>
        <p:nvSpPr>
          <p:cNvPr id="23" name="Shape 20"/>
          <p:cNvSpPr/>
          <p:nvPr/>
        </p:nvSpPr>
        <p:spPr>
          <a:xfrm>
            <a:off x="8046720" y="1783080"/>
            <a:ext cx="3566160" cy="4480560"/>
          </a:xfrm>
          <a:prstGeom prst="rect">
            <a:avLst/>
          </a:prstGeom>
          <a:solidFill>
            <a:srgbClr val="F2F4F7"/>
          </a:solidFill>
          <a:ln w="12700">
            <a:solidFill>
              <a:srgbClr val="F2F4F7"/>
            </a:solidFill>
            <a:prstDash val="solid"/>
          </a:ln>
        </p:spPr>
      </p:sp>
      <p:sp>
        <p:nvSpPr>
          <p:cNvPr id="24" name="Shape 21"/>
          <p:cNvSpPr/>
          <p:nvPr/>
        </p:nvSpPr>
        <p:spPr>
          <a:xfrm>
            <a:off x="8046720" y="1783080"/>
            <a:ext cx="3566160" cy="777240"/>
          </a:xfrm>
          <a:prstGeom prst="rect">
            <a:avLst/>
          </a:prstGeom>
          <a:solidFill>
            <a:srgbClr val="2251FF"/>
          </a:solidFill>
          <a:ln w="12700">
            <a:solidFill>
              <a:srgbClr val="2251FF"/>
            </a:solidFill>
            <a:prstDash val="solid"/>
          </a:ln>
        </p:spPr>
      </p:sp>
      <p:sp>
        <p:nvSpPr>
          <p:cNvPr id="25" name="Text 22"/>
          <p:cNvSpPr txBox="1"/>
          <p:nvPr/>
        </p:nvSpPr>
        <p:spPr>
          <a:xfrm>
            <a:off x="8275320" y="1828800"/>
            <a:ext cx="3108960" cy="411480"/>
          </a:xfrm>
          <a:prstGeom prst="rect">
            <a:avLst/>
          </a:prstGeom>
          <a:noFill/>
          <a:ln/>
        </p:spPr>
        <p:txBody>
          <a:bodyPr wrap="square" lIns="0" tIns="0" rIns="0" bIns="0" rtlCol="0" anchor="t"/>
          <a:lstStyle/>
          <a:p>
            <a:pPr indent="0" marL="0">
              <a:buNone/>
            </a:pPr>
            <a:r>
              <a:rPr lang="en-US" sz="2000" b="1" dirty="0">
                <a:solidFill>
                  <a:srgbClr val="FFFFFF"/>
                </a:solidFill>
                <a:latin typeface="Georgia" pitchFamily="34" charset="0"/>
                <a:ea typeface="Georgia" pitchFamily="34" charset="-122"/>
                <a:cs typeface="Georgia" pitchFamily="34" charset="-120"/>
              </a:rPr>
              <a:t>LangChain</a:t>
            </a:r>
            <a:endParaRPr lang="en-US" sz="2000" dirty="0"/>
          </a:p>
        </p:txBody>
      </p:sp>
      <p:sp>
        <p:nvSpPr>
          <p:cNvPr id="26" name="Text 23"/>
          <p:cNvSpPr txBox="1"/>
          <p:nvPr/>
        </p:nvSpPr>
        <p:spPr>
          <a:xfrm>
            <a:off x="8275320" y="2240280"/>
            <a:ext cx="3108960" cy="274320"/>
          </a:xfrm>
          <a:prstGeom prst="rect">
            <a:avLst/>
          </a:prstGeom>
          <a:noFill/>
          <a:ln/>
        </p:spPr>
        <p:txBody>
          <a:bodyPr wrap="square" lIns="0" tIns="0" rIns="0" bIns="0" rtlCol="0" anchor="t"/>
          <a:lstStyle/>
          <a:p>
            <a:pPr indent="0" marL="0">
              <a:buNone/>
            </a:pPr>
            <a:r>
              <a:rPr lang="en-US" sz="1100" dirty="0">
                <a:solidFill>
                  <a:srgbClr val="DDE6FA"/>
                </a:solidFill>
                <a:latin typeface="Arial" pitchFamily="34" charset="0"/>
                <a:ea typeface="Arial" pitchFamily="34" charset="-122"/>
                <a:cs typeface="Arial" pitchFamily="34" charset="-120"/>
              </a:rPr>
              <a:t>Agent framework and ecosystem</a:t>
            </a:r>
            <a:endParaRPr lang="en-US" sz="1100" dirty="0"/>
          </a:p>
        </p:txBody>
      </p:sp>
      <p:sp>
        <p:nvSpPr>
          <p:cNvPr id="27" name="Text 24"/>
          <p:cNvSpPr txBox="1"/>
          <p:nvPr/>
        </p:nvSpPr>
        <p:spPr>
          <a:xfrm>
            <a:off x="8275320" y="2697480"/>
            <a:ext cx="310896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PROS</a:t>
            </a:r>
            <a:endParaRPr lang="en-US" sz="1000" dirty="0"/>
          </a:p>
        </p:txBody>
      </p:sp>
      <p:sp>
        <p:nvSpPr>
          <p:cNvPr id="28" name="Text 25"/>
          <p:cNvSpPr txBox="1"/>
          <p:nvPr/>
        </p:nvSpPr>
        <p:spPr>
          <a:xfrm>
            <a:off x="8275320" y="2944368"/>
            <a:ext cx="315468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Largest ecosystem of models, tools and vector stores</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create_agent plus typed structured output; MIT, v1.0 stable</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LangGraph and LangSmith for orchestration and tracing</a:t>
            </a:r>
            <a:endParaRPr lang="en-US" sz="1150" dirty="0"/>
          </a:p>
        </p:txBody>
      </p:sp>
      <p:sp>
        <p:nvSpPr>
          <p:cNvPr id="29" name="Text 26"/>
          <p:cNvSpPr txBox="1"/>
          <p:nvPr/>
        </p:nvSpPr>
        <p:spPr>
          <a:xfrm>
            <a:off x="8275320" y="4434840"/>
            <a:ext cx="3108960" cy="228600"/>
          </a:xfrm>
          <a:prstGeom prst="rect">
            <a:avLst/>
          </a:prstGeom>
          <a:noFill/>
          <a:ln/>
        </p:spPr>
        <p:txBody>
          <a:bodyPr wrap="square" lIns="0" tIns="0" rIns="0" bIns="0" rtlCol="0" anchor="t"/>
          <a:lstStyle/>
          <a:p>
            <a:pPr indent="0" marL="0">
              <a:buNone/>
            </a:pPr>
            <a:r>
              <a:rPr lang="en-US" sz="1000" b="1" spc="200" kern="0" dirty="0">
                <a:solidFill>
                  <a:srgbClr val="B42318"/>
                </a:solidFill>
                <a:latin typeface="Arial" pitchFamily="34" charset="0"/>
                <a:ea typeface="Arial" pitchFamily="34" charset="-122"/>
                <a:cs typeface="Arial" pitchFamily="34" charset="-120"/>
              </a:rPr>
              <a:t>CONS</a:t>
            </a:r>
            <a:endParaRPr lang="en-US" sz="1000" dirty="0"/>
          </a:p>
        </p:txBody>
      </p:sp>
      <p:sp>
        <p:nvSpPr>
          <p:cNvPr id="30" name="Text 27"/>
          <p:cNvSpPr txBox="1"/>
          <p:nvPr/>
        </p:nvSpPr>
        <p:spPr>
          <a:xfrm>
            <a:off x="8275320" y="4681728"/>
            <a:ext cx="3154680" cy="15087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More code and more concepts to learn</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Several packages to manage (core, Gemini, Tavily)</a:t>
            </a:r>
            <a:endParaRPr lang="en-US" sz="1150" dirty="0"/>
          </a:p>
          <a:p>
            <a:pPr marL="342900" indent="-342900">
              <a:spcAft>
                <a:spcPts val="400"/>
              </a:spcAft>
              <a:buSzPct val="100000"/>
              <a:buChar char="•"/>
            </a:pPr>
            <a:r>
              <a:rPr lang="en-US" sz="1150" dirty="0">
                <a:solidFill>
                  <a:srgbClr val="1F2933"/>
                </a:solidFill>
                <a:latin typeface="Arial" pitchFamily="34" charset="0"/>
                <a:ea typeface="Arial" pitchFamily="34" charset="-122"/>
                <a:cs typeface="Arial" pitchFamily="34" charset="-120"/>
              </a:rPr>
              <a:t>Abstraction layers can hide what the model is doing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WHICH PLATFORM WHEN?</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For this use case LangChain scores highest on control and ecosystem; n8n wins only on ease for non-developers</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author's assessment for the WatchAgent use case (4 = strongest); not a general benchmark</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14</a:t>
            </a:r>
            <a:endParaRPr lang="en-US" sz="900" dirty="0"/>
          </a:p>
        </p:txBody>
      </p:sp>
      <p:sp>
        <p:nvSpPr>
          <p:cNvPr id="7" name="Text 4"/>
          <p:cNvSpPr txBox="1"/>
          <p:nvPr/>
        </p:nvSpPr>
        <p:spPr>
          <a:xfrm>
            <a:off x="3931920" y="1783080"/>
            <a:ext cx="1371600" cy="365760"/>
          </a:xfrm>
          <a:prstGeom prst="rect">
            <a:avLst/>
          </a:prstGeom>
          <a:noFill/>
          <a:ln/>
        </p:spPr>
        <p:txBody>
          <a:bodyPr wrap="square" lIns="0" tIns="0" rIns="0" bIns="0" rtlCol="0" anchor="t"/>
          <a:lstStyle/>
          <a:p>
            <a:pPr algn="ctr" indent="0" marL="0">
              <a:buNone/>
            </a:pPr>
            <a:r>
              <a:rPr lang="en-US" sz="1400" b="1" dirty="0">
                <a:solidFill>
                  <a:srgbClr val="051C2C"/>
                </a:solidFill>
                <a:latin typeface="Arial" pitchFamily="34" charset="0"/>
                <a:ea typeface="Arial" pitchFamily="34" charset="-122"/>
                <a:cs typeface="Arial" pitchFamily="34" charset="-120"/>
              </a:rPr>
              <a:t>n8n</a:t>
            </a:r>
            <a:endParaRPr lang="en-US" sz="1400" dirty="0"/>
          </a:p>
        </p:txBody>
      </p:sp>
      <p:sp>
        <p:nvSpPr>
          <p:cNvPr id="8" name="Text 5"/>
          <p:cNvSpPr txBox="1"/>
          <p:nvPr/>
        </p:nvSpPr>
        <p:spPr>
          <a:xfrm>
            <a:off x="5349240" y="1783080"/>
            <a:ext cx="1371600" cy="365760"/>
          </a:xfrm>
          <a:prstGeom prst="rect">
            <a:avLst/>
          </a:prstGeom>
          <a:noFill/>
          <a:ln/>
        </p:spPr>
        <p:txBody>
          <a:bodyPr wrap="square" lIns="0" tIns="0" rIns="0" bIns="0" rtlCol="0" anchor="t"/>
          <a:lstStyle/>
          <a:p>
            <a:pPr algn="ctr" indent="0" marL="0">
              <a:buNone/>
            </a:pPr>
            <a:r>
              <a:rPr lang="en-US" sz="1400" b="1" dirty="0">
                <a:solidFill>
                  <a:srgbClr val="051C2C"/>
                </a:solidFill>
                <a:latin typeface="Arial" pitchFamily="34" charset="0"/>
                <a:ea typeface="Arial" pitchFamily="34" charset="-122"/>
                <a:cs typeface="Arial" pitchFamily="34" charset="-120"/>
              </a:rPr>
              <a:t>Agno</a:t>
            </a:r>
            <a:endParaRPr lang="en-US" sz="1400" dirty="0"/>
          </a:p>
        </p:txBody>
      </p:sp>
      <p:sp>
        <p:nvSpPr>
          <p:cNvPr id="9" name="Text 6"/>
          <p:cNvSpPr txBox="1"/>
          <p:nvPr/>
        </p:nvSpPr>
        <p:spPr>
          <a:xfrm>
            <a:off x="6766560" y="1783080"/>
            <a:ext cx="1371600" cy="365760"/>
          </a:xfrm>
          <a:prstGeom prst="rect">
            <a:avLst/>
          </a:prstGeom>
          <a:noFill/>
          <a:ln/>
        </p:spPr>
        <p:txBody>
          <a:bodyPr wrap="square" lIns="0" tIns="0" rIns="0" bIns="0" rtlCol="0" anchor="t"/>
          <a:lstStyle/>
          <a:p>
            <a:pPr algn="ctr" indent="0" marL="0">
              <a:buNone/>
            </a:pPr>
            <a:r>
              <a:rPr lang="en-US" sz="1400" b="1" dirty="0">
                <a:solidFill>
                  <a:srgbClr val="2251FF"/>
                </a:solidFill>
                <a:latin typeface="Arial" pitchFamily="34" charset="0"/>
                <a:ea typeface="Arial" pitchFamily="34" charset="-122"/>
                <a:cs typeface="Arial" pitchFamily="34" charset="-120"/>
              </a:rPr>
              <a:t>LangChain</a:t>
            </a:r>
            <a:endParaRPr lang="en-US" sz="1400" dirty="0"/>
          </a:p>
        </p:txBody>
      </p:sp>
      <p:sp>
        <p:nvSpPr>
          <p:cNvPr id="10" name="Shape 7"/>
          <p:cNvSpPr/>
          <p:nvPr/>
        </p:nvSpPr>
        <p:spPr>
          <a:xfrm>
            <a:off x="548640" y="2231136"/>
            <a:ext cx="7635240" cy="621792"/>
          </a:xfrm>
          <a:prstGeom prst="rect">
            <a:avLst/>
          </a:prstGeom>
          <a:solidFill>
            <a:srgbClr val="F2F4F7"/>
          </a:solidFill>
          <a:ln w="12700">
            <a:solidFill>
              <a:srgbClr val="F2F4F7"/>
            </a:solidFill>
            <a:prstDash val="solid"/>
          </a:ln>
        </p:spPr>
      </p:sp>
      <p:sp>
        <p:nvSpPr>
          <p:cNvPr id="11" name="Text 8"/>
          <p:cNvSpPr txBox="1"/>
          <p:nvPr/>
        </p:nvSpPr>
        <p:spPr>
          <a:xfrm>
            <a:off x="731520" y="2286000"/>
            <a:ext cx="3200400" cy="512064"/>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Flexibility for custom agent logic</a:t>
            </a:r>
            <a:endParaRPr lang="en-US" sz="1300" dirty="0"/>
          </a:p>
        </p:txBody>
      </p:sp>
      <p:sp>
        <p:nvSpPr>
          <p:cNvPr id="12" name="Shape 9"/>
          <p:cNvSpPr/>
          <p:nvPr/>
        </p:nvSpPr>
        <p:spPr>
          <a:xfrm>
            <a:off x="4014216" y="2414016"/>
            <a:ext cx="182880" cy="182880"/>
          </a:xfrm>
          <a:prstGeom prst="ellipse">
            <a:avLst/>
          </a:prstGeom>
          <a:solidFill>
            <a:srgbClr val="051C2C"/>
          </a:solidFill>
          <a:ln w="12700">
            <a:solidFill>
              <a:srgbClr val="051C2C"/>
            </a:solidFill>
            <a:prstDash val="solid"/>
          </a:ln>
        </p:spPr>
      </p:sp>
      <p:sp>
        <p:nvSpPr>
          <p:cNvPr id="13" name="Shape 10"/>
          <p:cNvSpPr/>
          <p:nvPr/>
        </p:nvSpPr>
        <p:spPr>
          <a:xfrm>
            <a:off x="4270248" y="2414016"/>
            <a:ext cx="182880" cy="182880"/>
          </a:xfrm>
          <a:prstGeom prst="ellipse">
            <a:avLst/>
          </a:prstGeom>
          <a:solidFill>
            <a:srgbClr val="FFFFFF"/>
          </a:solidFill>
          <a:ln w="12700">
            <a:solidFill>
              <a:srgbClr val="C9CED6"/>
            </a:solidFill>
            <a:prstDash val="solid"/>
          </a:ln>
        </p:spPr>
      </p:sp>
      <p:sp>
        <p:nvSpPr>
          <p:cNvPr id="14" name="Shape 11"/>
          <p:cNvSpPr/>
          <p:nvPr/>
        </p:nvSpPr>
        <p:spPr>
          <a:xfrm>
            <a:off x="4526280" y="2414016"/>
            <a:ext cx="182880" cy="182880"/>
          </a:xfrm>
          <a:prstGeom prst="ellipse">
            <a:avLst/>
          </a:prstGeom>
          <a:solidFill>
            <a:srgbClr val="FFFFFF"/>
          </a:solidFill>
          <a:ln w="12700">
            <a:solidFill>
              <a:srgbClr val="C9CED6"/>
            </a:solidFill>
            <a:prstDash val="solid"/>
          </a:ln>
        </p:spPr>
      </p:sp>
      <p:sp>
        <p:nvSpPr>
          <p:cNvPr id="15" name="Shape 12"/>
          <p:cNvSpPr/>
          <p:nvPr/>
        </p:nvSpPr>
        <p:spPr>
          <a:xfrm>
            <a:off x="4782312" y="2414016"/>
            <a:ext cx="182880" cy="182880"/>
          </a:xfrm>
          <a:prstGeom prst="ellipse">
            <a:avLst/>
          </a:prstGeom>
          <a:solidFill>
            <a:srgbClr val="FFFFFF"/>
          </a:solidFill>
          <a:ln w="12700">
            <a:solidFill>
              <a:srgbClr val="C9CED6"/>
            </a:solidFill>
            <a:prstDash val="solid"/>
          </a:ln>
        </p:spPr>
      </p:sp>
      <p:sp>
        <p:nvSpPr>
          <p:cNvPr id="16" name="Shape 13"/>
          <p:cNvSpPr/>
          <p:nvPr/>
        </p:nvSpPr>
        <p:spPr>
          <a:xfrm>
            <a:off x="5431536" y="2414016"/>
            <a:ext cx="182880" cy="182880"/>
          </a:xfrm>
          <a:prstGeom prst="ellipse">
            <a:avLst/>
          </a:prstGeom>
          <a:solidFill>
            <a:srgbClr val="051C2C"/>
          </a:solidFill>
          <a:ln w="12700">
            <a:solidFill>
              <a:srgbClr val="051C2C"/>
            </a:solidFill>
            <a:prstDash val="solid"/>
          </a:ln>
        </p:spPr>
      </p:sp>
      <p:sp>
        <p:nvSpPr>
          <p:cNvPr id="17" name="Shape 14"/>
          <p:cNvSpPr/>
          <p:nvPr/>
        </p:nvSpPr>
        <p:spPr>
          <a:xfrm>
            <a:off x="5687568" y="2414016"/>
            <a:ext cx="182880" cy="182880"/>
          </a:xfrm>
          <a:prstGeom prst="ellipse">
            <a:avLst/>
          </a:prstGeom>
          <a:solidFill>
            <a:srgbClr val="051C2C"/>
          </a:solidFill>
          <a:ln w="12700">
            <a:solidFill>
              <a:srgbClr val="051C2C"/>
            </a:solidFill>
            <a:prstDash val="solid"/>
          </a:ln>
        </p:spPr>
      </p:sp>
      <p:sp>
        <p:nvSpPr>
          <p:cNvPr id="18" name="Shape 15"/>
          <p:cNvSpPr/>
          <p:nvPr/>
        </p:nvSpPr>
        <p:spPr>
          <a:xfrm>
            <a:off x="5943600" y="2414016"/>
            <a:ext cx="182880" cy="182880"/>
          </a:xfrm>
          <a:prstGeom prst="ellipse">
            <a:avLst/>
          </a:prstGeom>
          <a:solidFill>
            <a:srgbClr val="051C2C"/>
          </a:solidFill>
          <a:ln w="12700">
            <a:solidFill>
              <a:srgbClr val="051C2C"/>
            </a:solidFill>
            <a:prstDash val="solid"/>
          </a:ln>
        </p:spPr>
      </p:sp>
      <p:sp>
        <p:nvSpPr>
          <p:cNvPr id="19" name="Shape 16"/>
          <p:cNvSpPr/>
          <p:nvPr/>
        </p:nvSpPr>
        <p:spPr>
          <a:xfrm>
            <a:off x="6199632" y="2414016"/>
            <a:ext cx="182880" cy="182880"/>
          </a:xfrm>
          <a:prstGeom prst="ellipse">
            <a:avLst/>
          </a:prstGeom>
          <a:solidFill>
            <a:srgbClr val="FFFFFF"/>
          </a:solidFill>
          <a:ln w="12700">
            <a:solidFill>
              <a:srgbClr val="C9CED6"/>
            </a:solidFill>
            <a:prstDash val="solid"/>
          </a:ln>
        </p:spPr>
      </p:sp>
      <p:sp>
        <p:nvSpPr>
          <p:cNvPr id="20" name="Shape 17"/>
          <p:cNvSpPr/>
          <p:nvPr/>
        </p:nvSpPr>
        <p:spPr>
          <a:xfrm>
            <a:off x="6848856" y="2414016"/>
            <a:ext cx="182880" cy="182880"/>
          </a:xfrm>
          <a:prstGeom prst="ellipse">
            <a:avLst/>
          </a:prstGeom>
          <a:solidFill>
            <a:srgbClr val="2251FF"/>
          </a:solidFill>
          <a:ln w="12700">
            <a:solidFill>
              <a:srgbClr val="2251FF"/>
            </a:solidFill>
            <a:prstDash val="solid"/>
          </a:ln>
        </p:spPr>
      </p:sp>
      <p:sp>
        <p:nvSpPr>
          <p:cNvPr id="21" name="Shape 18"/>
          <p:cNvSpPr/>
          <p:nvPr/>
        </p:nvSpPr>
        <p:spPr>
          <a:xfrm>
            <a:off x="7104888" y="2414016"/>
            <a:ext cx="182880" cy="182880"/>
          </a:xfrm>
          <a:prstGeom prst="ellipse">
            <a:avLst/>
          </a:prstGeom>
          <a:solidFill>
            <a:srgbClr val="2251FF"/>
          </a:solidFill>
          <a:ln w="12700">
            <a:solidFill>
              <a:srgbClr val="2251FF"/>
            </a:solidFill>
            <a:prstDash val="solid"/>
          </a:ln>
        </p:spPr>
      </p:sp>
      <p:sp>
        <p:nvSpPr>
          <p:cNvPr id="22" name="Shape 19"/>
          <p:cNvSpPr/>
          <p:nvPr/>
        </p:nvSpPr>
        <p:spPr>
          <a:xfrm>
            <a:off x="7360920" y="2414016"/>
            <a:ext cx="182880" cy="182880"/>
          </a:xfrm>
          <a:prstGeom prst="ellipse">
            <a:avLst/>
          </a:prstGeom>
          <a:solidFill>
            <a:srgbClr val="2251FF"/>
          </a:solidFill>
          <a:ln w="12700">
            <a:solidFill>
              <a:srgbClr val="2251FF"/>
            </a:solidFill>
            <a:prstDash val="solid"/>
          </a:ln>
        </p:spPr>
      </p:sp>
      <p:sp>
        <p:nvSpPr>
          <p:cNvPr id="23" name="Shape 20"/>
          <p:cNvSpPr/>
          <p:nvPr/>
        </p:nvSpPr>
        <p:spPr>
          <a:xfrm>
            <a:off x="7616952" y="2414016"/>
            <a:ext cx="182880" cy="182880"/>
          </a:xfrm>
          <a:prstGeom prst="ellipse">
            <a:avLst/>
          </a:prstGeom>
          <a:solidFill>
            <a:srgbClr val="2251FF"/>
          </a:solidFill>
          <a:ln w="12700">
            <a:solidFill>
              <a:srgbClr val="2251FF"/>
            </a:solidFill>
            <a:prstDash val="solid"/>
          </a:ln>
        </p:spPr>
      </p:sp>
      <p:sp>
        <p:nvSpPr>
          <p:cNvPr id="24" name="Text 21"/>
          <p:cNvSpPr txBox="1"/>
          <p:nvPr/>
        </p:nvSpPr>
        <p:spPr>
          <a:xfrm>
            <a:off x="731520" y="2944368"/>
            <a:ext cx="3200400" cy="512064"/>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Ecosystem and integrations</a:t>
            </a:r>
            <a:endParaRPr lang="en-US" sz="1300" dirty="0"/>
          </a:p>
        </p:txBody>
      </p:sp>
      <p:sp>
        <p:nvSpPr>
          <p:cNvPr id="25" name="Shape 22"/>
          <p:cNvSpPr/>
          <p:nvPr/>
        </p:nvSpPr>
        <p:spPr>
          <a:xfrm>
            <a:off x="4014216" y="3072384"/>
            <a:ext cx="182880" cy="182880"/>
          </a:xfrm>
          <a:prstGeom prst="ellipse">
            <a:avLst/>
          </a:prstGeom>
          <a:solidFill>
            <a:srgbClr val="051C2C"/>
          </a:solidFill>
          <a:ln w="12700">
            <a:solidFill>
              <a:srgbClr val="051C2C"/>
            </a:solidFill>
            <a:prstDash val="solid"/>
          </a:ln>
        </p:spPr>
      </p:sp>
      <p:sp>
        <p:nvSpPr>
          <p:cNvPr id="26" name="Shape 23"/>
          <p:cNvSpPr/>
          <p:nvPr/>
        </p:nvSpPr>
        <p:spPr>
          <a:xfrm>
            <a:off x="4270248" y="3072384"/>
            <a:ext cx="182880" cy="182880"/>
          </a:xfrm>
          <a:prstGeom prst="ellipse">
            <a:avLst/>
          </a:prstGeom>
          <a:solidFill>
            <a:srgbClr val="051C2C"/>
          </a:solidFill>
          <a:ln w="12700">
            <a:solidFill>
              <a:srgbClr val="051C2C"/>
            </a:solidFill>
            <a:prstDash val="solid"/>
          </a:ln>
        </p:spPr>
      </p:sp>
      <p:sp>
        <p:nvSpPr>
          <p:cNvPr id="27" name="Shape 24"/>
          <p:cNvSpPr/>
          <p:nvPr/>
        </p:nvSpPr>
        <p:spPr>
          <a:xfrm>
            <a:off x="4526280" y="3072384"/>
            <a:ext cx="182880" cy="182880"/>
          </a:xfrm>
          <a:prstGeom prst="ellipse">
            <a:avLst/>
          </a:prstGeom>
          <a:solidFill>
            <a:srgbClr val="051C2C"/>
          </a:solidFill>
          <a:ln w="12700">
            <a:solidFill>
              <a:srgbClr val="051C2C"/>
            </a:solidFill>
            <a:prstDash val="solid"/>
          </a:ln>
        </p:spPr>
      </p:sp>
      <p:sp>
        <p:nvSpPr>
          <p:cNvPr id="28" name="Shape 25"/>
          <p:cNvSpPr/>
          <p:nvPr/>
        </p:nvSpPr>
        <p:spPr>
          <a:xfrm>
            <a:off x="4782312" y="3072384"/>
            <a:ext cx="182880" cy="182880"/>
          </a:xfrm>
          <a:prstGeom prst="ellipse">
            <a:avLst/>
          </a:prstGeom>
          <a:solidFill>
            <a:srgbClr val="FFFFFF"/>
          </a:solidFill>
          <a:ln w="12700">
            <a:solidFill>
              <a:srgbClr val="C9CED6"/>
            </a:solidFill>
            <a:prstDash val="solid"/>
          </a:ln>
        </p:spPr>
      </p:sp>
      <p:sp>
        <p:nvSpPr>
          <p:cNvPr id="29" name="Shape 26"/>
          <p:cNvSpPr/>
          <p:nvPr/>
        </p:nvSpPr>
        <p:spPr>
          <a:xfrm>
            <a:off x="5431536" y="3072384"/>
            <a:ext cx="182880" cy="182880"/>
          </a:xfrm>
          <a:prstGeom prst="ellipse">
            <a:avLst/>
          </a:prstGeom>
          <a:solidFill>
            <a:srgbClr val="051C2C"/>
          </a:solidFill>
          <a:ln w="12700">
            <a:solidFill>
              <a:srgbClr val="051C2C"/>
            </a:solidFill>
            <a:prstDash val="solid"/>
          </a:ln>
        </p:spPr>
      </p:sp>
      <p:sp>
        <p:nvSpPr>
          <p:cNvPr id="30" name="Shape 27"/>
          <p:cNvSpPr/>
          <p:nvPr/>
        </p:nvSpPr>
        <p:spPr>
          <a:xfrm>
            <a:off x="5687568" y="3072384"/>
            <a:ext cx="182880" cy="182880"/>
          </a:xfrm>
          <a:prstGeom prst="ellipse">
            <a:avLst/>
          </a:prstGeom>
          <a:solidFill>
            <a:srgbClr val="051C2C"/>
          </a:solidFill>
          <a:ln w="12700">
            <a:solidFill>
              <a:srgbClr val="051C2C"/>
            </a:solidFill>
            <a:prstDash val="solid"/>
          </a:ln>
        </p:spPr>
      </p:sp>
      <p:sp>
        <p:nvSpPr>
          <p:cNvPr id="31" name="Shape 28"/>
          <p:cNvSpPr/>
          <p:nvPr/>
        </p:nvSpPr>
        <p:spPr>
          <a:xfrm>
            <a:off x="5943600" y="3072384"/>
            <a:ext cx="182880" cy="182880"/>
          </a:xfrm>
          <a:prstGeom prst="ellipse">
            <a:avLst/>
          </a:prstGeom>
          <a:solidFill>
            <a:srgbClr val="FFFFFF"/>
          </a:solidFill>
          <a:ln w="12700">
            <a:solidFill>
              <a:srgbClr val="C9CED6"/>
            </a:solidFill>
            <a:prstDash val="solid"/>
          </a:ln>
        </p:spPr>
      </p:sp>
      <p:sp>
        <p:nvSpPr>
          <p:cNvPr id="32" name="Shape 29"/>
          <p:cNvSpPr/>
          <p:nvPr/>
        </p:nvSpPr>
        <p:spPr>
          <a:xfrm>
            <a:off x="6199632" y="3072384"/>
            <a:ext cx="182880" cy="182880"/>
          </a:xfrm>
          <a:prstGeom prst="ellipse">
            <a:avLst/>
          </a:prstGeom>
          <a:solidFill>
            <a:srgbClr val="FFFFFF"/>
          </a:solidFill>
          <a:ln w="12700">
            <a:solidFill>
              <a:srgbClr val="C9CED6"/>
            </a:solidFill>
            <a:prstDash val="solid"/>
          </a:ln>
        </p:spPr>
      </p:sp>
      <p:sp>
        <p:nvSpPr>
          <p:cNvPr id="33" name="Shape 30"/>
          <p:cNvSpPr/>
          <p:nvPr/>
        </p:nvSpPr>
        <p:spPr>
          <a:xfrm>
            <a:off x="6848856" y="3072384"/>
            <a:ext cx="182880" cy="182880"/>
          </a:xfrm>
          <a:prstGeom prst="ellipse">
            <a:avLst/>
          </a:prstGeom>
          <a:solidFill>
            <a:srgbClr val="2251FF"/>
          </a:solidFill>
          <a:ln w="12700">
            <a:solidFill>
              <a:srgbClr val="2251FF"/>
            </a:solidFill>
            <a:prstDash val="solid"/>
          </a:ln>
        </p:spPr>
      </p:sp>
      <p:sp>
        <p:nvSpPr>
          <p:cNvPr id="34" name="Shape 31"/>
          <p:cNvSpPr/>
          <p:nvPr/>
        </p:nvSpPr>
        <p:spPr>
          <a:xfrm>
            <a:off x="7104888" y="3072384"/>
            <a:ext cx="182880" cy="182880"/>
          </a:xfrm>
          <a:prstGeom prst="ellipse">
            <a:avLst/>
          </a:prstGeom>
          <a:solidFill>
            <a:srgbClr val="2251FF"/>
          </a:solidFill>
          <a:ln w="12700">
            <a:solidFill>
              <a:srgbClr val="2251FF"/>
            </a:solidFill>
            <a:prstDash val="solid"/>
          </a:ln>
        </p:spPr>
      </p:sp>
      <p:sp>
        <p:nvSpPr>
          <p:cNvPr id="35" name="Shape 32"/>
          <p:cNvSpPr/>
          <p:nvPr/>
        </p:nvSpPr>
        <p:spPr>
          <a:xfrm>
            <a:off x="7360920" y="3072384"/>
            <a:ext cx="182880" cy="182880"/>
          </a:xfrm>
          <a:prstGeom prst="ellipse">
            <a:avLst/>
          </a:prstGeom>
          <a:solidFill>
            <a:srgbClr val="2251FF"/>
          </a:solidFill>
          <a:ln w="12700">
            <a:solidFill>
              <a:srgbClr val="2251FF"/>
            </a:solidFill>
            <a:prstDash val="solid"/>
          </a:ln>
        </p:spPr>
      </p:sp>
      <p:sp>
        <p:nvSpPr>
          <p:cNvPr id="36" name="Shape 33"/>
          <p:cNvSpPr/>
          <p:nvPr/>
        </p:nvSpPr>
        <p:spPr>
          <a:xfrm>
            <a:off x="7616952" y="3072384"/>
            <a:ext cx="182880" cy="182880"/>
          </a:xfrm>
          <a:prstGeom prst="ellipse">
            <a:avLst/>
          </a:prstGeom>
          <a:solidFill>
            <a:srgbClr val="2251FF"/>
          </a:solidFill>
          <a:ln w="12700">
            <a:solidFill>
              <a:srgbClr val="2251FF"/>
            </a:solidFill>
            <a:prstDash val="solid"/>
          </a:ln>
        </p:spPr>
      </p:sp>
      <p:sp>
        <p:nvSpPr>
          <p:cNvPr id="37" name="Shape 34"/>
          <p:cNvSpPr/>
          <p:nvPr/>
        </p:nvSpPr>
        <p:spPr>
          <a:xfrm>
            <a:off x="548640" y="3547872"/>
            <a:ext cx="7635240" cy="621792"/>
          </a:xfrm>
          <a:prstGeom prst="rect">
            <a:avLst/>
          </a:prstGeom>
          <a:solidFill>
            <a:srgbClr val="F2F4F7"/>
          </a:solidFill>
          <a:ln w="12700">
            <a:solidFill>
              <a:srgbClr val="F2F4F7"/>
            </a:solidFill>
            <a:prstDash val="solid"/>
          </a:ln>
        </p:spPr>
      </p:sp>
      <p:sp>
        <p:nvSpPr>
          <p:cNvPr id="38" name="Text 35"/>
          <p:cNvSpPr txBox="1"/>
          <p:nvPr/>
        </p:nvSpPr>
        <p:spPr>
          <a:xfrm>
            <a:off x="731520" y="3602736"/>
            <a:ext cx="3200400" cy="512064"/>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Docs and community</a:t>
            </a:r>
            <a:endParaRPr lang="en-US" sz="1300" dirty="0"/>
          </a:p>
        </p:txBody>
      </p:sp>
      <p:sp>
        <p:nvSpPr>
          <p:cNvPr id="39" name="Shape 36"/>
          <p:cNvSpPr/>
          <p:nvPr/>
        </p:nvSpPr>
        <p:spPr>
          <a:xfrm>
            <a:off x="4014216" y="3730752"/>
            <a:ext cx="182880" cy="182880"/>
          </a:xfrm>
          <a:prstGeom prst="ellipse">
            <a:avLst/>
          </a:prstGeom>
          <a:solidFill>
            <a:srgbClr val="051C2C"/>
          </a:solidFill>
          <a:ln w="12700">
            <a:solidFill>
              <a:srgbClr val="051C2C"/>
            </a:solidFill>
            <a:prstDash val="solid"/>
          </a:ln>
        </p:spPr>
      </p:sp>
      <p:sp>
        <p:nvSpPr>
          <p:cNvPr id="40" name="Shape 37"/>
          <p:cNvSpPr/>
          <p:nvPr/>
        </p:nvSpPr>
        <p:spPr>
          <a:xfrm>
            <a:off x="4270248" y="3730752"/>
            <a:ext cx="182880" cy="182880"/>
          </a:xfrm>
          <a:prstGeom prst="ellipse">
            <a:avLst/>
          </a:prstGeom>
          <a:solidFill>
            <a:srgbClr val="051C2C"/>
          </a:solidFill>
          <a:ln w="12700">
            <a:solidFill>
              <a:srgbClr val="051C2C"/>
            </a:solidFill>
            <a:prstDash val="solid"/>
          </a:ln>
        </p:spPr>
      </p:sp>
      <p:sp>
        <p:nvSpPr>
          <p:cNvPr id="41" name="Shape 38"/>
          <p:cNvSpPr/>
          <p:nvPr/>
        </p:nvSpPr>
        <p:spPr>
          <a:xfrm>
            <a:off x="4526280" y="3730752"/>
            <a:ext cx="182880" cy="182880"/>
          </a:xfrm>
          <a:prstGeom prst="ellipse">
            <a:avLst/>
          </a:prstGeom>
          <a:solidFill>
            <a:srgbClr val="051C2C"/>
          </a:solidFill>
          <a:ln w="12700">
            <a:solidFill>
              <a:srgbClr val="051C2C"/>
            </a:solidFill>
            <a:prstDash val="solid"/>
          </a:ln>
        </p:spPr>
      </p:sp>
      <p:sp>
        <p:nvSpPr>
          <p:cNvPr id="42" name="Shape 39"/>
          <p:cNvSpPr/>
          <p:nvPr/>
        </p:nvSpPr>
        <p:spPr>
          <a:xfrm>
            <a:off x="4782312" y="3730752"/>
            <a:ext cx="182880" cy="182880"/>
          </a:xfrm>
          <a:prstGeom prst="ellipse">
            <a:avLst/>
          </a:prstGeom>
          <a:solidFill>
            <a:srgbClr val="FFFFFF"/>
          </a:solidFill>
          <a:ln w="12700">
            <a:solidFill>
              <a:srgbClr val="C9CED6"/>
            </a:solidFill>
            <a:prstDash val="solid"/>
          </a:ln>
        </p:spPr>
      </p:sp>
      <p:sp>
        <p:nvSpPr>
          <p:cNvPr id="43" name="Shape 40"/>
          <p:cNvSpPr/>
          <p:nvPr/>
        </p:nvSpPr>
        <p:spPr>
          <a:xfrm>
            <a:off x="5431536" y="3730752"/>
            <a:ext cx="182880" cy="182880"/>
          </a:xfrm>
          <a:prstGeom prst="ellipse">
            <a:avLst/>
          </a:prstGeom>
          <a:solidFill>
            <a:srgbClr val="051C2C"/>
          </a:solidFill>
          <a:ln w="12700">
            <a:solidFill>
              <a:srgbClr val="051C2C"/>
            </a:solidFill>
            <a:prstDash val="solid"/>
          </a:ln>
        </p:spPr>
      </p:sp>
      <p:sp>
        <p:nvSpPr>
          <p:cNvPr id="44" name="Shape 41"/>
          <p:cNvSpPr/>
          <p:nvPr/>
        </p:nvSpPr>
        <p:spPr>
          <a:xfrm>
            <a:off x="5687568" y="3730752"/>
            <a:ext cx="182880" cy="182880"/>
          </a:xfrm>
          <a:prstGeom prst="ellipse">
            <a:avLst/>
          </a:prstGeom>
          <a:solidFill>
            <a:srgbClr val="051C2C"/>
          </a:solidFill>
          <a:ln w="12700">
            <a:solidFill>
              <a:srgbClr val="051C2C"/>
            </a:solidFill>
            <a:prstDash val="solid"/>
          </a:ln>
        </p:spPr>
      </p:sp>
      <p:sp>
        <p:nvSpPr>
          <p:cNvPr id="45" name="Shape 42"/>
          <p:cNvSpPr/>
          <p:nvPr/>
        </p:nvSpPr>
        <p:spPr>
          <a:xfrm>
            <a:off x="5943600" y="3730752"/>
            <a:ext cx="182880" cy="182880"/>
          </a:xfrm>
          <a:prstGeom prst="ellipse">
            <a:avLst/>
          </a:prstGeom>
          <a:solidFill>
            <a:srgbClr val="FFFFFF"/>
          </a:solidFill>
          <a:ln w="12700">
            <a:solidFill>
              <a:srgbClr val="C9CED6"/>
            </a:solidFill>
            <a:prstDash val="solid"/>
          </a:ln>
        </p:spPr>
      </p:sp>
      <p:sp>
        <p:nvSpPr>
          <p:cNvPr id="46" name="Shape 43"/>
          <p:cNvSpPr/>
          <p:nvPr/>
        </p:nvSpPr>
        <p:spPr>
          <a:xfrm>
            <a:off x="6199632" y="3730752"/>
            <a:ext cx="182880" cy="182880"/>
          </a:xfrm>
          <a:prstGeom prst="ellipse">
            <a:avLst/>
          </a:prstGeom>
          <a:solidFill>
            <a:srgbClr val="FFFFFF"/>
          </a:solidFill>
          <a:ln w="12700">
            <a:solidFill>
              <a:srgbClr val="C9CED6"/>
            </a:solidFill>
            <a:prstDash val="solid"/>
          </a:ln>
        </p:spPr>
      </p:sp>
      <p:sp>
        <p:nvSpPr>
          <p:cNvPr id="47" name="Shape 44"/>
          <p:cNvSpPr/>
          <p:nvPr/>
        </p:nvSpPr>
        <p:spPr>
          <a:xfrm>
            <a:off x="6848856" y="3730752"/>
            <a:ext cx="182880" cy="182880"/>
          </a:xfrm>
          <a:prstGeom prst="ellipse">
            <a:avLst/>
          </a:prstGeom>
          <a:solidFill>
            <a:srgbClr val="2251FF"/>
          </a:solidFill>
          <a:ln w="12700">
            <a:solidFill>
              <a:srgbClr val="2251FF"/>
            </a:solidFill>
            <a:prstDash val="solid"/>
          </a:ln>
        </p:spPr>
      </p:sp>
      <p:sp>
        <p:nvSpPr>
          <p:cNvPr id="48" name="Shape 45"/>
          <p:cNvSpPr/>
          <p:nvPr/>
        </p:nvSpPr>
        <p:spPr>
          <a:xfrm>
            <a:off x="7104888" y="3730752"/>
            <a:ext cx="182880" cy="182880"/>
          </a:xfrm>
          <a:prstGeom prst="ellipse">
            <a:avLst/>
          </a:prstGeom>
          <a:solidFill>
            <a:srgbClr val="2251FF"/>
          </a:solidFill>
          <a:ln w="12700">
            <a:solidFill>
              <a:srgbClr val="2251FF"/>
            </a:solidFill>
            <a:prstDash val="solid"/>
          </a:ln>
        </p:spPr>
      </p:sp>
      <p:sp>
        <p:nvSpPr>
          <p:cNvPr id="49" name="Shape 46"/>
          <p:cNvSpPr/>
          <p:nvPr/>
        </p:nvSpPr>
        <p:spPr>
          <a:xfrm>
            <a:off x="7360920" y="3730752"/>
            <a:ext cx="182880" cy="182880"/>
          </a:xfrm>
          <a:prstGeom prst="ellipse">
            <a:avLst/>
          </a:prstGeom>
          <a:solidFill>
            <a:srgbClr val="2251FF"/>
          </a:solidFill>
          <a:ln w="12700">
            <a:solidFill>
              <a:srgbClr val="2251FF"/>
            </a:solidFill>
            <a:prstDash val="solid"/>
          </a:ln>
        </p:spPr>
      </p:sp>
      <p:sp>
        <p:nvSpPr>
          <p:cNvPr id="50" name="Shape 47"/>
          <p:cNvSpPr/>
          <p:nvPr/>
        </p:nvSpPr>
        <p:spPr>
          <a:xfrm>
            <a:off x="7616952" y="3730752"/>
            <a:ext cx="182880" cy="182880"/>
          </a:xfrm>
          <a:prstGeom prst="ellipse">
            <a:avLst/>
          </a:prstGeom>
          <a:solidFill>
            <a:srgbClr val="2251FF"/>
          </a:solidFill>
          <a:ln w="12700">
            <a:solidFill>
              <a:srgbClr val="2251FF"/>
            </a:solidFill>
            <a:prstDash val="solid"/>
          </a:ln>
        </p:spPr>
      </p:sp>
      <p:sp>
        <p:nvSpPr>
          <p:cNvPr id="51" name="Text 48"/>
          <p:cNvSpPr txBox="1"/>
          <p:nvPr/>
        </p:nvSpPr>
        <p:spPr>
          <a:xfrm>
            <a:off x="731520" y="4261104"/>
            <a:ext cx="3200400" cy="512064"/>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Ease for non-developers</a:t>
            </a:r>
            <a:endParaRPr lang="en-US" sz="1300" dirty="0"/>
          </a:p>
        </p:txBody>
      </p:sp>
      <p:sp>
        <p:nvSpPr>
          <p:cNvPr id="52" name="Shape 49"/>
          <p:cNvSpPr/>
          <p:nvPr/>
        </p:nvSpPr>
        <p:spPr>
          <a:xfrm>
            <a:off x="4014216" y="4389120"/>
            <a:ext cx="182880" cy="182880"/>
          </a:xfrm>
          <a:prstGeom prst="ellipse">
            <a:avLst/>
          </a:prstGeom>
          <a:solidFill>
            <a:srgbClr val="051C2C"/>
          </a:solidFill>
          <a:ln w="12700">
            <a:solidFill>
              <a:srgbClr val="051C2C"/>
            </a:solidFill>
            <a:prstDash val="solid"/>
          </a:ln>
        </p:spPr>
      </p:sp>
      <p:sp>
        <p:nvSpPr>
          <p:cNvPr id="53" name="Shape 50"/>
          <p:cNvSpPr/>
          <p:nvPr/>
        </p:nvSpPr>
        <p:spPr>
          <a:xfrm>
            <a:off x="4270248" y="4389120"/>
            <a:ext cx="182880" cy="182880"/>
          </a:xfrm>
          <a:prstGeom prst="ellipse">
            <a:avLst/>
          </a:prstGeom>
          <a:solidFill>
            <a:srgbClr val="051C2C"/>
          </a:solidFill>
          <a:ln w="12700">
            <a:solidFill>
              <a:srgbClr val="051C2C"/>
            </a:solidFill>
            <a:prstDash val="solid"/>
          </a:ln>
        </p:spPr>
      </p:sp>
      <p:sp>
        <p:nvSpPr>
          <p:cNvPr id="54" name="Shape 51"/>
          <p:cNvSpPr/>
          <p:nvPr/>
        </p:nvSpPr>
        <p:spPr>
          <a:xfrm>
            <a:off x="4526280" y="4389120"/>
            <a:ext cx="182880" cy="182880"/>
          </a:xfrm>
          <a:prstGeom prst="ellipse">
            <a:avLst/>
          </a:prstGeom>
          <a:solidFill>
            <a:srgbClr val="051C2C"/>
          </a:solidFill>
          <a:ln w="12700">
            <a:solidFill>
              <a:srgbClr val="051C2C"/>
            </a:solidFill>
            <a:prstDash val="solid"/>
          </a:ln>
        </p:spPr>
      </p:sp>
      <p:sp>
        <p:nvSpPr>
          <p:cNvPr id="55" name="Shape 52"/>
          <p:cNvSpPr/>
          <p:nvPr/>
        </p:nvSpPr>
        <p:spPr>
          <a:xfrm>
            <a:off x="4782312" y="4389120"/>
            <a:ext cx="182880" cy="182880"/>
          </a:xfrm>
          <a:prstGeom prst="ellipse">
            <a:avLst/>
          </a:prstGeom>
          <a:solidFill>
            <a:srgbClr val="051C2C"/>
          </a:solidFill>
          <a:ln w="12700">
            <a:solidFill>
              <a:srgbClr val="051C2C"/>
            </a:solidFill>
            <a:prstDash val="solid"/>
          </a:ln>
        </p:spPr>
      </p:sp>
      <p:sp>
        <p:nvSpPr>
          <p:cNvPr id="56" name="Shape 53"/>
          <p:cNvSpPr/>
          <p:nvPr/>
        </p:nvSpPr>
        <p:spPr>
          <a:xfrm>
            <a:off x="5431536" y="4389120"/>
            <a:ext cx="182880" cy="182880"/>
          </a:xfrm>
          <a:prstGeom prst="ellipse">
            <a:avLst/>
          </a:prstGeom>
          <a:solidFill>
            <a:srgbClr val="051C2C"/>
          </a:solidFill>
          <a:ln w="12700">
            <a:solidFill>
              <a:srgbClr val="051C2C"/>
            </a:solidFill>
            <a:prstDash val="solid"/>
          </a:ln>
        </p:spPr>
      </p:sp>
      <p:sp>
        <p:nvSpPr>
          <p:cNvPr id="57" name="Shape 54"/>
          <p:cNvSpPr/>
          <p:nvPr/>
        </p:nvSpPr>
        <p:spPr>
          <a:xfrm>
            <a:off x="5687568" y="4389120"/>
            <a:ext cx="182880" cy="182880"/>
          </a:xfrm>
          <a:prstGeom prst="ellipse">
            <a:avLst/>
          </a:prstGeom>
          <a:solidFill>
            <a:srgbClr val="051C2C"/>
          </a:solidFill>
          <a:ln w="12700">
            <a:solidFill>
              <a:srgbClr val="051C2C"/>
            </a:solidFill>
            <a:prstDash val="solid"/>
          </a:ln>
        </p:spPr>
      </p:sp>
      <p:sp>
        <p:nvSpPr>
          <p:cNvPr id="58" name="Shape 55"/>
          <p:cNvSpPr/>
          <p:nvPr/>
        </p:nvSpPr>
        <p:spPr>
          <a:xfrm>
            <a:off x="5943600" y="4389120"/>
            <a:ext cx="182880" cy="182880"/>
          </a:xfrm>
          <a:prstGeom prst="ellipse">
            <a:avLst/>
          </a:prstGeom>
          <a:solidFill>
            <a:srgbClr val="FFFFFF"/>
          </a:solidFill>
          <a:ln w="12700">
            <a:solidFill>
              <a:srgbClr val="C9CED6"/>
            </a:solidFill>
            <a:prstDash val="solid"/>
          </a:ln>
        </p:spPr>
      </p:sp>
      <p:sp>
        <p:nvSpPr>
          <p:cNvPr id="59" name="Shape 56"/>
          <p:cNvSpPr/>
          <p:nvPr/>
        </p:nvSpPr>
        <p:spPr>
          <a:xfrm>
            <a:off x="6199632" y="4389120"/>
            <a:ext cx="182880" cy="182880"/>
          </a:xfrm>
          <a:prstGeom prst="ellipse">
            <a:avLst/>
          </a:prstGeom>
          <a:solidFill>
            <a:srgbClr val="FFFFFF"/>
          </a:solidFill>
          <a:ln w="12700">
            <a:solidFill>
              <a:srgbClr val="C9CED6"/>
            </a:solidFill>
            <a:prstDash val="solid"/>
          </a:ln>
        </p:spPr>
      </p:sp>
      <p:sp>
        <p:nvSpPr>
          <p:cNvPr id="60" name="Shape 57"/>
          <p:cNvSpPr/>
          <p:nvPr/>
        </p:nvSpPr>
        <p:spPr>
          <a:xfrm>
            <a:off x="6848856" y="4389120"/>
            <a:ext cx="182880" cy="182880"/>
          </a:xfrm>
          <a:prstGeom prst="ellipse">
            <a:avLst/>
          </a:prstGeom>
          <a:solidFill>
            <a:srgbClr val="2251FF"/>
          </a:solidFill>
          <a:ln w="12700">
            <a:solidFill>
              <a:srgbClr val="2251FF"/>
            </a:solidFill>
            <a:prstDash val="solid"/>
          </a:ln>
        </p:spPr>
      </p:sp>
      <p:sp>
        <p:nvSpPr>
          <p:cNvPr id="61" name="Shape 58"/>
          <p:cNvSpPr/>
          <p:nvPr/>
        </p:nvSpPr>
        <p:spPr>
          <a:xfrm>
            <a:off x="7104888" y="4389120"/>
            <a:ext cx="182880" cy="182880"/>
          </a:xfrm>
          <a:prstGeom prst="ellipse">
            <a:avLst/>
          </a:prstGeom>
          <a:solidFill>
            <a:srgbClr val="FFFFFF"/>
          </a:solidFill>
          <a:ln w="12700">
            <a:solidFill>
              <a:srgbClr val="C9CED6"/>
            </a:solidFill>
            <a:prstDash val="solid"/>
          </a:ln>
        </p:spPr>
      </p:sp>
      <p:sp>
        <p:nvSpPr>
          <p:cNvPr id="62" name="Shape 59"/>
          <p:cNvSpPr/>
          <p:nvPr/>
        </p:nvSpPr>
        <p:spPr>
          <a:xfrm>
            <a:off x="7360920" y="4389120"/>
            <a:ext cx="182880" cy="182880"/>
          </a:xfrm>
          <a:prstGeom prst="ellipse">
            <a:avLst/>
          </a:prstGeom>
          <a:solidFill>
            <a:srgbClr val="FFFFFF"/>
          </a:solidFill>
          <a:ln w="12700">
            <a:solidFill>
              <a:srgbClr val="C9CED6"/>
            </a:solidFill>
            <a:prstDash val="solid"/>
          </a:ln>
        </p:spPr>
      </p:sp>
      <p:sp>
        <p:nvSpPr>
          <p:cNvPr id="63" name="Shape 60"/>
          <p:cNvSpPr/>
          <p:nvPr/>
        </p:nvSpPr>
        <p:spPr>
          <a:xfrm>
            <a:off x="7616952" y="4389120"/>
            <a:ext cx="182880" cy="182880"/>
          </a:xfrm>
          <a:prstGeom prst="ellipse">
            <a:avLst/>
          </a:prstGeom>
          <a:solidFill>
            <a:srgbClr val="FFFFFF"/>
          </a:solidFill>
          <a:ln w="12700">
            <a:solidFill>
              <a:srgbClr val="C9CED6"/>
            </a:solidFill>
            <a:prstDash val="solid"/>
          </a:ln>
        </p:spPr>
      </p:sp>
      <p:sp>
        <p:nvSpPr>
          <p:cNvPr id="64" name="Shape 61"/>
          <p:cNvSpPr/>
          <p:nvPr/>
        </p:nvSpPr>
        <p:spPr>
          <a:xfrm>
            <a:off x="548640" y="4864608"/>
            <a:ext cx="7635240" cy="621792"/>
          </a:xfrm>
          <a:prstGeom prst="rect">
            <a:avLst/>
          </a:prstGeom>
          <a:solidFill>
            <a:srgbClr val="F2F4F7"/>
          </a:solidFill>
          <a:ln w="12700">
            <a:solidFill>
              <a:srgbClr val="F2F4F7"/>
            </a:solidFill>
            <a:prstDash val="solid"/>
          </a:ln>
        </p:spPr>
      </p:sp>
      <p:sp>
        <p:nvSpPr>
          <p:cNvPr id="65" name="Text 62"/>
          <p:cNvSpPr txBox="1"/>
          <p:nvPr/>
        </p:nvSpPr>
        <p:spPr>
          <a:xfrm>
            <a:off x="731520" y="4919472"/>
            <a:ext cx="3200400" cy="512064"/>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Versioning, testing and CI</a:t>
            </a:r>
            <a:endParaRPr lang="en-US" sz="1300" dirty="0"/>
          </a:p>
        </p:txBody>
      </p:sp>
      <p:sp>
        <p:nvSpPr>
          <p:cNvPr id="66" name="Shape 63"/>
          <p:cNvSpPr/>
          <p:nvPr/>
        </p:nvSpPr>
        <p:spPr>
          <a:xfrm>
            <a:off x="4014216" y="5047488"/>
            <a:ext cx="182880" cy="182880"/>
          </a:xfrm>
          <a:prstGeom prst="ellipse">
            <a:avLst/>
          </a:prstGeom>
          <a:solidFill>
            <a:srgbClr val="051C2C"/>
          </a:solidFill>
          <a:ln w="12700">
            <a:solidFill>
              <a:srgbClr val="051C2C"/>
            </a:solidFill>
            <a:prstDash val="solid"/>
          </a:ln>
        </p:spPr>
      </p:sp>
      <p:sp>
        <p:nvSpPr>
          <p:cNvPr id="67" name="Shape 64"/>
          <p:cNvSpPr/>
          <p:nvPr/>
        </p:nvSpPr>
        <p:spPr>
          <a:xfrm>
            <a:off x="4270248" y="5047488"/>
            <a:ext cx="182880" cy="182880"/>
          </a:xfrm>
          <a:prstGeom prst="ellipse">
            <a:avLst/>
          </a:prstGeom>
          <a:solidFill>
            <a:srgbClr val="FFFFFF"/>
          </a:solidFill>
          <a:ln w="12700">
            <a:solidFill>
              <a:srgbClr val="C9CED6"/>
            </a:solidFill>
            <a:prstDash val="solid"/>
          </a:ln>
        </p:spPr>
      </p:sp>
      <p:sp>
        <p:nvSpPr>
          <p:cNvPr id="68" name="Shape 65"/>
          <p:cNvSpPr/>
          <p:nvPr/>
        </p:nvSpPr>
        <p:spPr>
          <a:xfrm>
            <a:off x="4526280" y="5047488"/>
            <a:ext cx="182880" cy="182880"/>
          </a:xfrm>
          <a:prstGeom prst="ellipse">
            <a:avLst/>
          </a:prstGeom>
          <a:solidFill>
            <a:srgbClr val="FFFFFF"/>
          </a:solidFill>
          <a:ln w="12700">
            <a:solidFill>
              <a:srgbClr val="C9CED6"/>
            </a:solidFill>
            <a:prstDash val="solid"/>
          </a:ln>
        </p:spPr>
      </p:sp>
      <p:sp>
        <p:nvSpPr>
          <p:cNvPr id="69" name="Shape 66"/>
          <p:cNvSpPr/>
          <p:nvPr/>
        </p:nvSpPr>
        <p:spPr>
          <a:xfrm>
            <a:off x="4782312" y="5047488"/>
            <a:ext cx="182880" cy="182880"/>
          </a:xfrm>
          <a:prstGeom prst="ellipse">
            <a:avLst/>
          </a:prstGeom>
          <a:solidFill>
            <a:srgbClr val="FFFFFF"/>
          </a:solidFill>
          <a:ln w="12700">
            <a:solidFill>
              <a:srgbClr val="C9CED6"/>
            </a:solidFill>
            <a:prstDash val="solid"/>
          </a:ln>
        </p:spPr>
      </p:sp>
      <p:sp>
        <p:nvSpPr>
          <p:cNvPr id="70" name="Shape 67"/>
          <p:cNvSpPr/>
          <p:nvPr/>
        </p:nvSpPr>
        <p:spPr>
          <a:xfrm>
            <a:off x="5431536" y="5047488"/>
            <a:ext cx="182880" cy="182880"/>
          </a:xfrm>
          <a:prstGeom prst="ellipse">
            <a:avLst/>
          </a:prstGeom>
          <a:solidFill>
            <a:srgbClr val="051C2C"/>
          </a:solidFill>
          <a:ln w="12700">
            <a:solidFill>
              <a:srgbClr val="051C2C"/>
            </a:solidFill>
            <a:prstDash val="solid"/>
          </a:ln>
        </p:spPr>
      </p:sp>
      <p:sp>
        <p:nvSpPr>
          <p:cNvPr id="71" name="Shape 68"/>
          <p:cNvSpPr/>
          <p:nvPr/>
        </p:nvSpPr>
        <p:spPr>
          <a:xfrm>
            <a:off x="5687568" y="5047488"/>
            <a:ext cx="182880" cy="182880"/>
          </a:xfrm>
          <a:prstGeom prst="ellipse">
            <a:avLst/>
          </a:prstGeom>
          <a:solidFill>
            <a:srgbClr val="051C2C"/>
          </a:solidFill>
          <a:ln w="12700">
            <a:solidFill>
              <a:srgbClr val="051C2C"/>
            </a:solidFill>
            <a:prstDash val="solid"/>
          </a:ln>
        </p:spPr>
      </p:sp>
      <p:sp>
        <p:nvSpPr>
          <p:cNvPr id="72" name="Shape 69"/>
          <p:cNvSpPr/>
          <p:nvPr/>
        </p:nvSpPr>
        <p:spPr>
          <a:xfrm>
            <a:off x="5943600" y="5047488"/>
            <a:ext cx="182880" cy="182880"/>
          </a:xfrm>
          <a:prstGeom prst="ellipse">
            <a:avLst/>
          </a:prstGeom>
          <a:solidFill>
            <a:srgbClr val="051C2C"/>
          </a:solidFill>
          <a:ln w="12700">
            <a:solidFill>
              <a:srgbClr val="051C2C"/>
            </a:solidFill>
            <a:prstDash val="solid"/>
          </a:ln>
        </p:spPr>
      </p:sp>
      <p:sp>
        <p:nvSpPr>
          <p:cNvPr id="73" name="Shape 70"/>
          <p:cNvSpPr/>
          <p:nvPr/>
        </p:nvSpPr>
        <p:spPr>
          <a:xfrm>
            <a:off x="6199632" y="5047488"/>
            <a:ext cx="182880" cy="182880"/>
          </a:xfrm>
          <a:prstGeom prst="ellipse">
            <a:avLst/>
          </a:prstGeom>
          <a:solidFill>
            <a:srgbClr val="FFFFFF"/>
          </a:solidFill>
          <a:ln w="12700">
            <a:solidFill>
              <a:srgbClr val="C9CED6"/>
            </a:solidFill>
            <a:prstDash val="solid"/>
          </a:ln>
        </p:spPr>
      </p:sp>
      <p:sp>
        <p:nvSpPr>
          <p:cNvPr id="74" name="Shape 71"/>
          <p:cNvSpPr/>
          <p:nvPr/>
        </p:nvSpPr>
        <p:spPr>
          <a:xfrm>
            <a:off x="6848856" y="5047488"/>
            <a:ext cx="182880" cy="182880"/>
          </a:xfrm>
          <a:prstGeom prst="ellipse">
            <a:avLst/>
          </a:prstGeom>
          <a:solidFill>
            <a:srgbClr val="2251FF"/>
          </a:solidFill>
          <a:ln w="12700">
            <a:solidFill>
              <a:srgbClr val="2251FF"/>
            </a:solidFill>
            <a:prstDash val="solid"/>
          </a:ln>
        </p:spPr>
      </p:sp>
      <p:sp>
        <p:nvSpPr>
          <p:cNvPr id="75" name="Shape 72"/>
          <p:cNvSpPr/>
          <p:nvPr/>
        </p:nvSpPr>
        <p:spPr>
          <a:xfrm>
            <a:off x="7104888" y="5047488"/>
            <a:ext cx="182880" cy="182880"/>
          </a:xfrm>
          <a:prstGeom prst="ellipse">
            <a:avLst/>
          </a:prstGeom>
          <a:solidFill>
            <a:srgbClr val="2251FF"/>
          </a:solidFill>
          <a:ln w="12700">
            <a:solidFill>
              <a:srgbClr val="2251FF"/>
            </a:solidFill>
            <a:prstDash val="solid"/>
          </a:ln>
        </p:spPr>
      </p:sp>
      <p:sp>
        <p:nvSpPr>
          <p:cNvPr id="76" name="Shape 73"/>
          <p:cNvSpPr/>
          <p:nvPr/>
        </p:nvSpPr>
        <p:spPr>
          <a:xfrm>
            <a:off x="7360920" y="5047488"/>
            <a:ext cx="182880" cy="182880"/>
          </a:xfrm>
          <a:prstGeom prst="ellipse">
            <a:avLst/>
          </a:prstGeom>
          <a:solidFill>
            <a:srgbClr val="2251FF"/>
          </a:solidFill>
          <a:ln w="12700">
            <a:solidFill>
              <a:srgbClr val="2251FF"/>
            </a:solidFill>
            <a:prstDash val="solid"/>
          </a:ln>
        </p:spPr>
      </p:sp>
      <p:sp>
        <p:nvSpPr>
          <p:cNvPr id="77" name="Shape 74"/>
          <p:cNvSpPr/>
          <p:nvPr/>
        </p:nvSpPr>
        <p:spPr>
          <a:xfrm>
            <a:off x="7616952" y="5047488"/>
            <a:ext cx="182880" cy="182880"/>
          </a:xfrm>
          <a:prstGeom prst="ellipse">
            <a:avLst/>
          </a:prstGeom>
          <a:solidFill>
            <a:srgbClr val="2251FF"/>
          </a:solidFill>
          <a:ln w="12700">
            <a:solidFill>
              <a:srgbClr val="2251FF"/>
            </a:solidFill>
            <a:prstDash val="solid"/>
          </a:ln>
        </p:spPr>
      </p:sp>
      <p:sp>
        <p:nvSpPr>
          <p:cNvPr id="78" name="Text 75"/>
          <p:cNvSpPr txBox="1"/>
          <p:nvPr/>
        </p:nvSpPr>
        <p:spPr>
          <a:xfrm>
            <a:off x="731520" y="5577840"/>
            <a:ext cx="3200400" cy="512064"/>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Observability and deployment</a:t>
            </a:r>
            <a:endParaRPr lang="en-US" sz="1300" dirty="0"/>
          </a:p>
        </p:txBody>
      </p:sp>
      <p:sp>
        <p:nvSpPr>
          <p:cNvPr id="79" name="Shape 76"/>
          <p:cNvSpPr/>
          <p:nvPr/>
        </p:nvSpPr>
        <p:spPr>
          <a:xfrm>
            <a:off x="4014216" y="5705856"/>
            <a:ext cx="182880" cy="182880"/>
          </a:xfrm>
          <a:prstGeom prst="ellipse">
            <a:avLst/>
          </a:prstGeom>
          <a:solidFill>
            <a:srgbClr val="051C2C"/>
          </a:solidFill>
          <a:ln w="12700">
            <a:solidFill>
              <a:srgbClr val="051C2C"/>
            </a:solidFill>
            <a:prstDash val="solid"/>
          </a:ln>
        </p:spPr>
      </p:sp>
      <p:sp>
        <p:nvSpPr>
          <p:cNvPr id="80" name="Shape 77"/>
          <p:cNvSpPr/>
          <p:nvPr/>
        </p:nvSpPr>
        <p:spPr>
          <a:xfrm>
            <a:off x="4270248" y="5705856"/>
            <a:ext cx="182880" cy="182880"/>
          </a:xfrm>
          <a:prstGeom prst="ellipse">
            <a:avLst/>
          </a:prstGeom>
          <a:solidFill>
            <a:srgbClr val="051C2C"/>
          </a:solidFill>
          <a:ln w="12700">
            <a:solidFill>
              <a:srgbClr val="051C2C"/>
            </a:solidFill>
            <a:prstDash val="solid"/>
          </a:ln>
        </p:spPr>
      </p:sp>
      <p:sp>
        <p:nvSpPr>
          <p:cNvPr id="81" name="Shape 78"/>
          <p:cNvSpPr/>
          <p:nvPr/>
        </p:nvSpPr>
        <p:spPr>
          <a:xfrm>
            <a:off x="4526280" y="5705856"/>
            <a:ext cx="182880" cy="182880"/>
          </a:xfrm>
          <a:prstGeom prst="ellipse">
            <a:avLst/>
          </a:prstGeom>
          <a:solidFill>
            <a:srgbClr val="051C2C"/>
          </a:solidFill>
          <a:ln w="12700">
            <a:solidFill>
              <a:srgbClr val="051C2C"/>
            </a:solidFill>
            <a:prstDash val="solid"/>
          </a:ln>
        </p:spPr>
      </p:sp>
      <p:sp>
        <p:nvSpPr>
          <p:cNvPr id="82" name="Shape 79"/>
          <p:cNvSpPr/>
          <p:nvPr/>
        </p:nvSpPr>
        <p:spPr>
          <a:xfrm>
            <a:off x="4782312" y="5705856"/>
            <a:ext cx="182880" cy="182880"/>
          </a:xfrm>
          <a:prstGeom prst="ellipse">
            <a:avLst/>
          </a:prstGeom>
          <a:solidFill>
            <a:srgbClr val="FFFFFF"/>
          </a:solidFill>
          <a:ln w="12700">
            <a:solidFill>
              <a:srgbClr val="C9CED6"/>
            </a:solidFill>
            <a:prstDash val="solid"/>
          </a:ln>
        </p:spPr>
      </p:sp>
      <p:sp>
        <p:nvSpPr>
          <p:cNvPr id="83" name="Shape 80"/>
          <p:cNvSpPr/>
          <p:nvPr/>
        </p:nvSpPr>
        <p:spPr>
          <a:xfrm>
            <a:off x="5431536" y="5705856"/>
            <a:ext cx="182880" cy="182880"/>
          </a:xfrm>
          <a:prstGeom prst="ellipse">
            <a:avLst/>
          </a:prstGeom>
          <a:solidFill>
            <a:srgbClr val="051C2C"/>
          </a:solidFill>
          <a:ln w="12700">
            <a:solidFill>
              <a:srgbClr val="051C2C"/>
            </a:solidFill>
            <a:prstDash val="solid"/>
          </a:ln>
        </p:spPr>
      </p:sp>
      <p:sp>
        <p:nvSpPr>
          <p:cNvPr id="84" name="Shape 81"/>
          <p:cNvSpPr/>
          <p:nvPr/>
        </p:nvSpPr>
        <p:spPr>
          <a:xfrm>
            <a:off x="5687568" y="5705856"/>
            <a:ext cx="182880" cy="182880"/>
          </a:xfrm>
          <a:prstGeom prst="ellipse">
            <a:avLst/>
          </a:prstGeom>
          <a:solidFill>
            <a:srgbClr val="051C2C"/>
          </a:solidFill>
          <a:ln w="12700">
            <a:solidFill>
              <a:srgbClr val="051C2C"/>
            </a:solidFill>
            <a:prstDash val="solid"/>
          </a:ln>
        </p:spPr>
      </p:sp>
      <p:sp>
        <p:nvSpPr>
          <p:cNvPr id="85" name="Shape 82"/>
          <p:cNvSpPr/>
          <p:nvPr/>
        </p:nvSpPr>
        <p:spPr>
          <a:xfrm>
            <a:off x="5943600" y="5705856"/>
            <a:ext cx="182880" cy="182880"/>
          </a:xfrm>
          <a:prstGeom prst="ellipse">
            <a:avLst/>
          </a:prstGeom>
          <a:solidFill>
            <a:srgbClr val="051C2C"/>
          </a:solidFill>
          <a:ln w="12700">
            <a:solidFill>
              <a:srgbClr val="051C2C"/>
            </a:solidFill>
            <a:prstDash val="solid"/>
          </a:ln>
        </p:spPr>
      </p:sp>
      <p:sp>
        <p:nvSpPr>
          <p:cNvPr id="86" name="Shape 83"/>
          <p:cNvSpPr/>
          <p:nvPr/>
        </p:nvSpPr>
        <p:spPr>
          <a:xfrm>
            <a:off x="6199632" y="5705856"/>
            <a:ext cx="182880" cy="182880"/>
          </a:xfrm>
          <a:prstGeom prst="ellipse">
            <a:avLst/>
          </a:prstGeom>
          <a:solidFill>
            <a:srgbClr val="FFFFFF"/>
          </a:solidFill>
          <a:ln w="12700">
            <a:solidFill>
              <a:srgbClr val="C9CED6"/>
            </a:solidFill>
            <a:prstDash val="solid"/>
          </a:ln>
        </p:spPr>
      </p:sp>
      <p:sp>
        <p:nvSpPr>
          <p:cNvPr id="87" name="Shape 84"/>
          <p:cNvSpPr/>
          <p:nvPr/>
        </p:nvSpPr>
        <p:spPr>
          <a:xfrm>
            <a:off x="6848856" y="5705856"/>
            <a:ext cx="182880" cy="182880"/>
          </a:xfrm>
          <a:prstGeom prst="ellipse">
            <a:avLst/>
          </a:prstGeom>
          <a:solidFill>
            <a:srgbClr val="2251FF"/>
          </a:solidFill>
          <a:ln w="12700">
            <a:solidFill>
              <a:srgbClr val="2251FF"/>
            </a:solidFill>
            <a:prstDash val="solid"/>
          </a:ln>
        </p:spPr>
      </p:sp>
      <p:sp>
        <p:nvSpPr>
          <p:cNvPr id="88" name="Shape 85"/>
          <p:cNvSpPr/>
          <p:nvPr/>
        </p:nvSpPr>
        <p:spPr>
          <a:xfrm>
            <a:off x="7104888" y="5705856"/>
            <a:ext cx="182880" cy="182880"/>
          </a:xfrm>
          <a:prstGeom prst="ellipse">
            <a:avLst/>
          </a:prstGeom>
          <a:solidFill>
            <a:srgbClr val="2251FF"/>
          </a:solidFill>
          <a:ln w="12700">
            <a:solidFill>
              <a:srgbClr val="2251FF"/>
            </a:solidFill>
            <a:prstDash val="solid"/>
          </a:ln>
        </p:spPr>
      </p:sp>
      <p:sp>
        <p:nvSpPr>
          <p:cNvPr id="89" name="Shape 86"/>
          <p:cNvSpPr/>
          <p:nvPr/>
        </p:nvSpPr>
        <p:spPr>
          <a:xfrm>
            <a:off x="7360920" y="5705856"/>
            <a:ext cx="182880" cy="182880"/>
          </a:xfrm>
          <a:prstGeom prst="ellipse">
            <a:avLst/>
          </a:prstGeom>
          <a:solidFill>
            <a:srgbClr val="2251FF"/>
          </a:solidFill>
          <a:ln w="12700">
            <a:solidFill>
              <a:srgbClr val="2251FF"/>
            </a:solidFill>
            <a:prstDash val="solid"/>
          </a:ln>
        </p:spPr>
      </p:sp>
      <p:sp>
        <p:nvSpPr>
          <p:cNvPr id="90" name="Shape 87"/>
          <p:cNvSpPr/>
          <p:nvPr/>
        </p:nvSpPr>
        <p:spPr>
          <a:xfrm>
            <a:off x="7616952" y="5705856"/>
            <a:ext cx="182880" cy="182880"/>
          </a:xfrm>
          <a:prstGeom prst="ellipse">
            <a:avLst/>
          </a:prstGeom>
          <a:solidFill>
            <a:srgbClr val="2251FF"/>
          </a:solidFill>
          <a:ln w="12700">
            <a:solidFill>
              <a:srgbClr val="2251FF"/>
            </a:solidFill>
            <a:prstDash val="solid"/>
          </a:ln>
        </p:spPr>
      </p:sp>
      <p:sp>
        <p:nvSpPr>
          <p:cNvPr id="91" name="Shape 88"/>
          <p:cNvSpPr/>
          <p:nvPr/>
        </p:nvSpPr>
        <p:spPr>
          <a:xfrm>
            <a:off x="8503920" y="1783080"/>
            <a:ext cx="3136392" cy="4434840"/>
          </a:xfrm>
          <a:prstGeom prst="rect">
            <a:avLst/>
          </a:prstGeom>
          <a:solidFill>
            <a:srgbClr val="051C2C"/>
          </a:solidFill>
          <a:ln w="12700">
            <a:solidFill>
              <a:srgbClr val="051C2C"/>
            </a:solidFill>
            <a:prstDash val="solid"/>
          </a:ln>
        </p:spPr>
      </p:sp>
      <p:sp>
        <p:nvSpPr>
          <p:cNvPr id="92" name="Text 89"/>
          <p:cNvSpPr txBox="1"/>
          <p:nvPr/>
        </p:nvSpPr>
        <p:spPr>
          <a:xfrm>
            <a:off x="8732520" y="1920240"/>
            <a:ext cx="2743200" cy="365760"/>
          </a:xfrm>
          <a:prstGeom prst="rect">
            <a:avLst/>
          </a:prstGeom>
          <a:noFill/>
          <a:ln/>
        </p:spPr>
        <p:txBody>
          <a:bodyPr wrap="square" lIns="0" tIns="0" rIns="0" bIns="0" rtlCol="0" anchor="t"/>
          <a:lstStyle/>
          <a:p>
            <a:pPr indent="0" marL="0">
              <a:buNone/>
            </a:pPr>
            <a:r>
              <a:rPr lang="en-US" sz="2000" b="1" dirty="0">
                <a:solidFill>
                  <a:srgbClr val="FFFFFF"/>
                </a:solidFill>
                <a:latin typeface="Georgia" pitchFamily="34" charset="0"/>
                <a:ea typeface="Georgia" pitchFamily="34" charset="-122"/>
                <a:cs typeface="Georgia" pitchFamily="34" charset="-120"/>
              </a:rPr>
              <a:t>Bottom line</a:t>
            </a:r>
            <a:endParaRPr lang="en-US" sz="2000" dirty="0"/>
          </a:p>
        </p:txBody>
      </p:sp>
      <p:sp>
        <p:nvSpPr>
          <p:cNvPr id="93" name="Text 90"/>
          <p:cNvSpPr txBox="1"/>
          <p:nvPr/>
        </p:nvSpPr>
        <p:spPr>
          <a:xfrm>
            <a:off x="8732520" y="2468880"/>
            <a:ext cx="2743200" cy="274320"/>
          </a:xfrm>
          <a:prstGeom prst="rect">
            <a:avLst/>
          </a:prstGeom>
          <a:noFill/>
          <a:ln/>
        </p:spPr>
        <p:txBody>
          <a:bodyPr wrap="square" lIns="0" tIns="0" rIns="0" bIns="0" rtlCol="0" anchor="t"/>
          <a:lstStyle/>
          <a:p>
            <a:pPr indent="0" marL="0">
              <a:buNone/>
            </a:pPr>
            <a:r>
              <a:rPr lang="en-US" sz="1300" b="1" dirty="0">
                <a:solidFill>
                  <a:srgbClr val="8FB0FF"/>
                </a:solidFill>
                <a:latin typeface="Arial" pitchFamily="34" charset="0"/>
                <a:ea typeface="Arial" pitchFamily="34" charset="-122"/>
                <a:cs typeface="Arial" pitchFamily="34" charset="-120"/>
              </a:rPr>
              <a:t>n8n</a:t>
            </a:r>
            <a:endParaRPr lang="en-US" sz="1300" dirty="0"/>
          </a:p>
        </p:txBody>
      </p:sp>
      <p:sp>
        <p:nvSpPr>
          <p:cNvPr id="94" name="Text 91"/>
          <p:cNvSpPr txBox="1"/>
          <p:nvPr/>
        </p:nvSpPr>
        <p:spPr>
          <a:xfrm>
            <a:off x="8732520" y="2761488"/>
            <a:ext cx="2697480" cy="86868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Deterministic automations and quick integrations, especially with non-developers.</a:t>
            </a:r>
            <a:endParaRPr lang="en-US" sz="1200" dirty="0"/>
          </a:p>
        </p:txBody>
      </p:sp>
      <p:sp>
        <p:nvSpPr>
          <p:cNvPr id="95" name="Text 92"/>
          <p:cNvSpPr txBox="1"/>
          <p:nvPr/>
        </p:nvSpPr>
        <p:spPr>
          <a:xfrm>
            <a:off x="8732520" y="3703320"/>
            <a:ext cx="2743200" cy="274320"/>
          </a:xfrm>
          <a:prstGeom prst="rect">
            <a:avLst/>
          </a:prstGeom>
          <a:noFill/>
          <a:ln/>
        </p:spPr>
        <p:txBody>
          <a:bodyPr wrap="square" lIns="0" tIns="0" rIns="0" bIns="0" rtlCol="0" anchor="t"/>
          <a:lstStyle/>
          <a:p>
            <a:pPr indent="0" marL="0">
              <a:buNone/>
            </a:pPr>
            <a:r>
              <a:rPr lang="en-US" sz="1300" b="1" dirty="0">
                <a:solidFill>
                  <a:srgbClr val="8FB0FF"/>
                </a:solidFill>
                <a:latin typeface="Arial" pitchFamily="34" charset="0"/>
                <a:ea typeface="Arial" pitchFamily="34" charset="-122"/>
                <a:cs typeface="Arial" pitchFamily="34" charset="-120"/>
              </a:rPr>
              <a:t>Agno</a:t>
            </a:r>
            <a:endParaRPr lang="en-US" sz="1300" dirty="0"/>
          </a:p>
        </p:txBody>
      </p:sp>
      <p:sp>
        <p:nvSpPr>
          <p:cNvPr id="96" name="Text 93"/>
          <p:cNvSpPr txBox="1"/>
          <p:nvPr/>
        </p:nvSpPr>
        <p:spPr>
          <a:xfrm>
            <a:off x="8732520" y="3995928"/>
            <a:ext cx="2697480" cy="86868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Lean Python agent prototypes, if its ecosystem covers what you need.</a:t>
            </a:r>
            <a:endParaRPr lang="en-US" sz="1200" dirty="0"/>
          </a:p>
        </p:txBody>
      </p:sp>
      <p:sp>
        <p:nvSpPr>
          <p:cNvPr id="97" name="Text 94"/>
          <p:cNvSpPr txBox="1"/>
          <p:nvPr/>
        </p:nvSpPr>
        <p:spPr>
          <a:xfrm>
            <a:off x="8732520" y="4937760"/>
            <a:ext cx="2743200" cy="274320"/>
          </a:xfrm>
          <a:prstGeom prst="rect">
            <a:avLst/>
          </a:prstGeom>
          <a:noFill/>
          <a:ln/>
        </p:spPr>
        <p:txBody>
          <a:bodyPr wrap="square" lIns="0" tIns="0" rIns="0" bIns="0" rtlCol="0" anchor="t"/>
          <a:lstStyle/>
          <a:p>
            <a:pPr indent="0" marL="0">
              <a:buNone/>
            </a:pPr>
            <a:r>
              <a:rPr lang="en-US" sz="1300" b="1" dirty="0">
                <a:solidFill>
                  <a:srgbClr val="8FB0FF"/>
                </a:solidFill>
                <a:latin typeface="Arial" pitchFamily="34" charset="0"/>
                <a:ea typeface="Arial" pitchFamily="34" charset="-122"/>
                <a:cs typeface="Arial" pitchFamily="34" charset="-120"/>
              </a:rPr>
              <a:t>LangChain</a:t>
            </a:r>
            <a:endParaRPr lang="en-US" sz="1300" dirty="0"/>
          </a:p>
        </p:txBody>
      </p:sp>
      <p:sp>
        <p:nvSpPr>
          <p:cNvPr id="98" name="Text 95"/>
          <p:cNvSpPr txBox="1"/>
          <p:nvPr/>
        </p:nvSpPr>
        <p:spPr>
          <a:xfrm>
            <a:off x="8732520" y="5230368"/>
            <a:ext cx="2697480" cy="86868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Custom, production-grade agents needing guardrails, tests and tracing.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TAKEAWAYS AND NEXT STEPS</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Start small: pick one repetitive judgement task, give an agent two or three tools, and add guardrails first</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 repository</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15</a:t>
            </a:r>
            <a:endParaRPr lang="en-US" sz="900" dirty="0"/>
          </a:p>
        </p:txBody>
      </p:sp>
      <p:sp>
        <p:nvSpPr>
          <p:cNvPr id="7" name="Shape 4"/>
          <p:cNvSpPr/>
          <p:nvPr/>
        </p:nvSpPr>
        <p:spPr>
          <a:xfrm>
            <a:off x="548640" y="1828800"/>
            <a:ext cx="548640" cy="548640"/>
          </a:xfrm>
          <a:prstGeom prst="ellipse">
            <a:avLst/>
          </a:prstGeom>
          <a:solidFill>
            <a:srgbClr val="051C2C"/>
          </a:solidFill>
          <a:ln w="12700">
            <a:solidFill>
              <a:srgbClr val="051C2C"/>
            </a:solidFill>
            <a:prstDash val="solid"/>
          </a:ln>
        </p:spPr>
      </p:sp>
      <p:sp>
        <p:nvSpPr>
          <p:cNvPr id="8" name="Text 5"/>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txBox="1"/>
          <p:nvPr/>
        </p:nvSpPr>
        <p:spPr>
          <a:xfrm>
            <a:off x="1371600" y="1783080"/>
            <a:ext cx="5486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Pick a task</a:t>
            </a:r>
            <a:endParaRPr lang="en-US" sz="1800" dirty="0"/>
          </a:p>
        </p:txBody>
      </p:sp>
      <p:sp>
        <p:nvSpPr>
          <p:cNvPr id="10" name="Text 7"/>
          <p:cNvSpPr txBox="1"/>
          <p:nvPr/>
        </p:nvSpPr>
        <p:spPr>
          <a:xfrm>
            <a:off x="1371600" y="2167128"/>
            <a:ext cx="5669280" cy="64008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Repetitive, needs judgement, and has an easy way to check the answer.</a:t>
            </a:r>
            <a:endParaRPr lang="en-US" sz="1400" dirty="0"/>
          </a:p>
        </p:txBody>
      </p:sp>
      <p:sp>
        <p:nvSpPr>
          <p:cNvPr id="11" name="Shape 8"/>
          <p:cNvSpPr/>
          <p:nvPr/>
        </p:nvSpPr>
        <p:spPr>
          <a:xfrm>
            <a:off x="548640" y="2926080"/>
            <a:ext cx="548640" cy="548640"/>
          </a:xfrm>
          <a:prstGeom prst="ellipse">
            <a:avLst/>
          </a:prstGeom>
          <a:solidFill>
            <a:srgbClr val="051C2C"/>
          </a:solidFill>
          <a:ln w="12700">
            <a:solidFill>
              <a:srgbClr val="051C2C"/>
            </a:solidFill>
            <a:prstDash val="solid"/>
          </a:ln>
        </p:spPr>
      </p:sp>
      <p:sp>
        <p:nvSpPr>
          <p:cNvPr id="12" name="Text 9"/>
          <p:cNvSpPr txBox="1"/>
          <p:nvPr/>
        </p:nvSpPr>
        <p:spPr>
          <a:xfrm>
            <a:off x="548640" y="2926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txBox="1"/>
          <p:nvPr/>
        </p:nvSpPr>
        <p:spPr>
          <a:xfrm>
            <a:off x="1371600" y="2880360"/>
            <a:ext cx="5486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Start tiny</a:t>
            </a:r>
            <a:endParaRPr lang="en-US" sz="1800" dirty="0"/>
          </a:p>
        </p:txBody>
      </p:sp>
      <p:sp>
        <p:nvSpPr>
          <p:cNvPr id="14" name="Text 11"/>
          <p:cNvSpPr txBox="1"/>
          <p:nvPr/>
        </p:nvSpPr>
        <p:spPr>
          <a:xfrm>
            <a:off x="1371600" y="3264408"/>
            <a:ext cx="5669280" cy="64008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One agent, two or three tools. Add more only when needed.</a:t>
            </a:r>
            <a:endParaRPr lang="en-US" sz="1400" dirty="0"/>
          </a:p>
        </p:txBody>
      </p:sp>
      <p:sp>
        <p:nvSpPr>
          <p:cNvPr id="15" name="Shape 12"/>
          <p:cNvSpPr/>
          <p:nvPr/>
        </p:nvSpPr>
        <p:spPr>
          <a:xfrm>
            <a:off x="548640" y="4023360"/>
            <a:ext cx="548640" cy="548640"/>
          </a:xfrm>
          <a:prstGeom prst="ellipse">
            <a:avLst/>
          </a:prstGeom>
          <a:solidFill>
            <a:srgbClr val="051C2C"/>
          </a:solidFill>
          <a:ln w="12700">
            <a:solidFill>
              <a:srgbClr val="051C2C"/>
            </a:solidFill>
            <a:prstDash val="solid"/>
          </a:ln>
        </p:spPr>
      </p:sp>
      <p:sp>
        <p:nvSpPr>
          <p:cNvPr id="16" name="Text 13"/>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txBox="1"/>
          <p:nvPr/>
        </p:nvSpPr>
        <p:spPr>
          <a:xfrm>
            <a:off x="1371600" y="3977640"/>
            <a:ext cx="5486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Guardrails first</a:t>
            </a:r>
            <a:endParaRPr lang="en-US" sz="1800" dirty="0"/>
          </a:p>
        </p:txBody>
      </p:sp>
      <p:sp>
        <p:nvSpPr>
          <p:cNvPr id="18" name="Text 15"/>
          <p:cNvSpPr txBox="1"/>
          <p:nvPr/>
        </p:nvSpPr>
        <p:spPr>
          <a:xfrm>
            <a:off x="1371600" y="4361688"/>
            <a:ext cx="5669280" cy="64008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Validate every tool input and constrain the final output.</a:t>
            </a:r>
            <a:endParaRPr lang="en-US" sz="1400" dirty="0"/>
          </a:p>
        </p:txBody>
      </p:sp>
      <p:sp>
        <p:nvSpPr>
          <p:cNvPr id="19" name="Shape 16"/>
          <p:cNvSpPr/>
          <p:nvPr/>
        </p:nvSpPr>
        <p:spPr>
          <a:xfrm>
            <a:off x="548640" y="5120640"/>
            <a:ext cx="548640" cy="548640"/>
          </a:xfrm>
          <a:prstGeom prst="ellipse">
            <a:avLst/>
          </a:prstGeom>
          <a:solidFill>
            <a:srgbClr val="051C2C"/>
          </a:solidFill>
          <a:ln w="12700">
            <a:solidFill>
              <a:srgbClr val="051C2C"/>
            </a:solidFill>
            <a:prstDash val="solid"/>
          </a:ln>
        </p:spPr>
      </p:sp>
      <p:sp>
        <p:nvSpPr>
          <p:cNvPr id="20" name="Text 17"/>
          <p:cNvSpPr txBox="1"/>
          <p:nvPr/>
        </p:nvSpPr>
        <p:spPr>
          <a:xfrm>
            <a:off x="548640" y="5120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txBox="1"/>
          <p:nvPr/>
        </p:nvSpPr>
        <p:spPr>
          <a:xfrm>
            <a:off x="1371600" y="5074920"/>
            <a:ext cx="5486400" cy="365760"/>
          </a:xfrm>
          <a:prstGeom prst="rect">
            <a:avLst/>
          </a:prstGeom>
          <a:noFill/>
          <a:ln/>
        </p:spPr>
        <p:txBody>
          <a:bodyPr wrap="square" lIns="0" tIns="0" rIns="0" bIns="0" rtlCol="0" anchor="t"/>
          <a:lstStyle/>
          <a:p>
            <a:pPr indent="0" marL="0">
              <a:buNone/>
            </a:pPr>
            <a:r>
              <a:rPr lang="en-US" sz="1800" b="1" dirty="0">
                <a:solidFill>
                  <a:srgbClr val="051C2C"/>
                </a:solidFill>
                <a:latin typeface="Arial" pitchFamily="34" charset="0"/>
                <a:ea typeface="Arial" pitchFamily="34" charset="-122"/>
                <a:cs typeface="Arial" pitchFamily="34" charset="-120"/>
              </a:rPr>
              <a:t>Measure and review</a:t>
            </a:r>
            <a:endParaRPr lang="en-US" sz="1800" dirty="0"/>
          </a:p>
        </p:txBody>
      </p:sp>
      <p:sp>
        <p:nvSpPr>
          <p:cNvPr id="22" name="Text 19"/>
          <p:cNvSpPr txBox="1"/>
          <p:nvPr/>
        </p:nvSpPr>
        <p:spPr>
          <a:xfrm>
            <a:off x="1371600" y="5458968"/>
            <a:ext cx="5669280" cy="64008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Log what it did, keep a human eye on outliers, then widen scope.</a:t>
            </a:r>
            <a:endParaRPr lang="en-US" sz="1400" dirty="0"/>
          </a:p>
        </p:txBody>
      </p:sp>
      <p:sp>
        <p:nvSpPr>
          <p:cNvPr id="23" name="Shape 20"/>
          <p:cNvSpPr/>
          <p:nvPr/>
        </p:nvSpPr>
        <p:spPr>
          <a:xfrm>
            <a:off x="7680960" y="1783080"/>
            <a:ext cx="3959352" cy="3931920"/>
          </a:xfrm>
          <a:prstGeom prst="rect">
            <a:avLst/>
          </a:prstGeom>
          <a:solidFill>
            <a:srgbClr val="051C2C"/>
          </a:solidFill>
          <a:ln w="12700">
            <a:solidFill>
              <a:srgbClr val="051C2C"/>
            </a:solidFill>
            <a:prstDash val="solid"/>
          </a:ln>
        </p:spPr>
      </p:sp>
      <p:sp>
        <p:nvSpPr>
          <p:cNvPr id="24" name="Text 21"/>
          <p:cNvSpPr txBox="1"/>
          <p:nvPr/>
        </p:nvSpPr>
        <p:spPr>
          <a:xfrm>
            <a:off x="8001000" y="2194560"/>
            <a:ext cx="3383280" cy="731520"/>
          </a:xfrm>
          <a:prstGeom prst="rect">
            <a:avLst/>
          </a:prstGeom>
          <a:noFill/>
          <a:ln/>
        </p:spPr>
        <p:txBody>
          <a:bodyPr wrap="square" lIns="0" tIns="0" rIns="0" bIns="0" rtlCol="0" anchor="t"/>
          <a:lstStyle/>
          <a:p>
            <a:pPr indent="0" marL="0">
              <a:buNone/>
            </a:pPr>
            <a:r>
              <a:rPr lang="en-US" sz="3600" b="1" dirty="0">
                <a:solidFill>
                  <a:srgbClr val="FFFFFF"/>
                </a:solidFill>
                <a:latin typeface="Georgia" pitchFamily="34" charset="0"/>
                <a:ea typeface="Georgia" pitchFamily="34" charset="-122"/>
                <a:cs typeface="Georgia" pitchFamily="34" charset="-120"/>
              </a:rPr>
              <a:t>Questions?</a:t>
            </a:r>
            <a:endParaRPr lang="en-US" sz="3600" dirty="0"/>
          </a:p>
        </p:txBody>
      </p:sp>
      <p:sp>
        <p:nvSpPr>
          <p:cNvPr id="25" name="Text 22"/>
          <p:cNvSpPr txBox="1"/>
          <p:nvPr/>
        </p:nvSpPr>
        <p:spPr>
          <a:xfrm>
            <a:off x="8001000" y="3246120"/>
            <a:ext cx="3383280" cy="274320"/>
          </a:xfrm>
          <a:prstGeom prst="rect">
            <a:avLst/>
          </a:prstGeom>
          <a:noFill/>
          <a:ln/>
        </p:spPr>
        <p:txBody>
          <a:bodyPr wrap="square" lIns="0" tIns="0" rIns="0" bIns="0" rtlCol="0" anchor="t"/>
          <a:lstStyle/>
          <a:p>
            <a:pPr indent="0" marL="0">
              <a:buNone/>
            </a:pPr>
            <a:r>
              <a:rPr lang="en-US" sz="1100" b="1" spc="100" kern="0" dirty="0">
                <a:solidFill>
                  <a:srgbClr val="8FB0FF"/>
                </a:solidFill>
                <a:latin typeface="Arial" pitchFamily="34" charset="0"/>
                <a:ea typeface="Arial" pitchFamily="34" charset="-122"/>
                <a:cs typeface="Arial" pitchFamily="34" charset="-120"/>
              </a:rPr>
              <a:t>Discussion prompts</a:t>
            </a:r>
            <a:endParaRPr lang="en-US" sz="1100" dirty="0"/>
          </a:p>
        </p:txBody>
      </p:sp>
      <p:sp>
        <p:nvSpPr>
          <p:cNvPr id="26" name="Text 23"/>
          <p:cNvSpPr txBox="1"/>
          <p:nvPr/>
        </p:nvSpPr>
        <p:spPr>
          <a:xfrm>
            <a:off x="8001000" y="356616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Arial" pitchFamily="34" charset="0"/>
                <a:ea typeface="Arial" pitchFamily="34" charset="-122"/>
                <a:cs typeface="Arial" pitchFamily="34" charset="-120"/>
              </a:rPr>
              <a:t>What repetitive judgement task could an agent take on in your team?</a:t>
            </a:r>
            <a:endParaRPr lang="en-US" sz="1300" dirty="0"/>
          </a:p>
          <a:p>
            <a:pPr marL="342900" indent="-342900">
              <a:spcAft>
                <a:spcPts val="800"/>
              </a:spcAft>
              <a:buSzPct val="100000"/>
              <a:buChar char="•"/>
            </a:pPr>
            <a:r>
              <a:rPr lang="en-US" sz="1300" dirty="0">
                <a:solidFill>
                  <a:srgbClr val="FFFFFF"/>
                </a:solidFill>
                <a:latin typeface="Arial" pitchFamily="34" charset="0"/>
                <a:ea typeface="Arial" pitchFamily="34" charset="-122"/>
                <a:cs typeface="Arial" pitchFamily="34" charset="-120"/>
              </a:rPr>
              <a:t>Which decisions would you never let it make alone?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ARCHITECTURE: THE AGENTIC REDESIGN</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The redesigned agent researches in a loop until code accepts three matching listings, and code, not the model, sets the verdict</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watchagent/agent.py, tools.py, bot.py, cli.py; diagram: docs/diagrams/watchagent-agent.html (Archify)</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8</a:t>
            </a:r>
            <a:endParaRPr lang="en-US" sz="900" dirty="0"/>
          </a:p>
        </p:txBody>
      </p:sp>
      <p:pic>
        <p:nvPicPr>
          <p:cNvPr id="100" name="Architecture diagram" descr="Architecture of WatchAgent: GitHub Actions runs watchagent check, which hands each watch to a research agent. The agent searches via Tavily and calls Gemini through retry, fallback and budget middleware, then submits listings to deterministic listing checks that record the median price in watches.db. BUY alerts go to Telegram, where a Telegram assistant can trigger research."/>
          <p:cNvPicPr>
            <a:picLocks noChangeAspect="1"/>
          </p:cNvPicPr>
          <p:nvPr/>
        </p:nvPicPr>
        <p:blipFill>
          <a:blip r:embed="rIdArch"/>
          <a:stretch>
            <a:fillRect/>
          </a:stretch>
        </p:blipFill>
        <p:spPr>
          <a:xfrm>
            <a:off x="1097164" y="1600200"/>
            <a:ext cx="9994624" cy="4663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WHAT IS AN AGENT?</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An agent is an AI model that uses tools, step by step, until the job is done</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LangChain docs, “Agents”, docs.langchain.com/oss/python/langchain/agents (accessed 24 Sep 2026)</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
        <p:nvSpPr>
          <p:cNvPr id="102" name="Shape 0"/>
          <p:cNvSpPr/>
          <p:nvPr/>
        </p:nvSpPr>
        <p:spPr>
          <a:xfrm>
            <a:off x="548640" y="1691640"/>
            <a:ext cx="5349240" cy="4434840"/>
          </a:xfrm>
          <a:prstGeom prst="rect">
            <a:avLst/>
          </a:prstGeom>
          <a:solidFill>
            <a:srgbClr val="051C2C"/>
          </a:solidFill>
          <a:ln w="12700">
            <a:solidFill>
              <a:srgbClr val="051C2C"/>
            </a:solidFill>
            <a:prstDash val="solid"/>
          </a:ln>
        </p:spPr>
      </p:sp>
      <p:sp>
        <p:nvSpPr>
          <p:cNvPr id="103" name="Text 1"/>
          <p:cNvSpPr txBox="1"/>
          <p:nvPr/>
        </p:nvSpPr>
        <p:spPr>
          <a:xfrm>
            <a:off x="868680" y="1965960"/>
            <a:ext cx="4754880" cy="274320"/>
          </a:xfrm>
          <a:prstGeom prst="rect">
            <a:avLst/>
          </a:prstGeom>
          <a:noFill/>
          <a:ln/>
        </p:spPr>
        <p:txBody>
          <a:bodyPr wrap="square" lIns="0" tIns="0" rIns="0" bIns="0" rtlCol="0" anchor="t"/>
          <a:lstStyle/>
          <a:p>
            <a:pPr indent="0" marL="0">
              <a:buNone/>
            </a:pPr>
            <a:r>
              <a:rPr lang="en-US" sz="1000" b="1" spc="200" kern="0" dirty="0">
                <a:solidFill>
                  <a:srgbClr val="8FB0FF"/>
                </a:solidFill>
                <a:latin typeface="Arial" pitchFamily="34" charset="0"/>
                <a:ea typeface="Arial" pitchFamily="34" charset="-122"/>
                <a:cs typeface="Arial" pitchFamily="34" charset="-120"/>
              </a:rPr>
              <a:t>LANGCHAIN'S DEFINITION</a:t>
            </a:r>
            <a:endParaRPr lang="en-US" sz="1000" dirty="0"/>
          </a:p>
        </p:txBody>
      </p:sp>
      <p:sp>
        <p:nvSpPr>
          <p:cNvPr id="104" name="Text 2"/>
          <p:cNvSpPr txBox="1"/>
          <p:nvPr/>
        </p:nvSpPr>
        <p:spPr>
          <a:xfrm>
            <a:off x="868680" y="2331720"/>
            <a:ext cx="4754880" cy="1417320"/>
          </a:xfrm>
          <a:prstGeom prst="rect">
            <a:avLst/>
          </a:prstGeom>
          <a:noFill/>
          <a:ln/>
        </p:spPr>
        <p:txBody>
          <a:bodyPr wrap="square" lIns="0" tIns="0" rIns="0" bIns="0" rtlCol="0" anchor="t"/>
          <a:lstStyle/>
          <a:p>
            <a:pPr indent="0" marL="0">
              <a:buNone/>
            </a:pPr>
            <a:r>
              <a:rPr lang="en-US" sz="2200" dirty="0">
                <a:solidFill>
                  <a:srgbClr val="FFFFFF"/>
                </a:solidFill>
                <a:latin typeface="Georgia" pitchFamily="34" charset="0"/>
                <a:ea typeface="Georgia" pitchFamily="34" charset="-122"/>
                <a:cs typeface="Georgia" pitchFamily="34" charset="-120"/>
              </a:rPr>
              <a:t>“An agent is a model calling tools in a loop until a given task is complete.”</a:t>
            </a:r>
            <a:endParaRPr lang="en-US" sz="2200" dirty="0"/>
          </a:p>
        </p:txBody>
      </p:sp>
      <p:sp>
        <p:nvSpPr>
          <p:cNvPr id="105" name="Text 3"/>
          <p:cNvSpPr txBox="1"/>
          <p:nvPr/>
        </p:nvSpPr>
        <p:spPr>
          <a:xfrm>
            <a:off x="868680" y="4023360"/>
            <a:ext cx="1051560" cy="36576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p>
        </p:txBody>
      </p:sp>
      <p:sp>
        <p:nvSpPr>
          <p:cNvPr id="106" name="Text 4"/>
          <p:cNvSpPr txBox="1"/>
          <p:nvPr/>
        </p:nvSpPr>
        <p:spPr>
          <a:xfrm>
            <a:off x="1965960" y="4023360"/>
            <a:ext cx="3703320" cy="36576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The brain: decides the next step</a:t>
            </a:r>
            <a:endParaRPr lang="en-US" sz="1300" dirty="0"/>
          </a:p>
        </p:txBody>
      </p:sp>
      <p:sp>
        <p:nvSpPr>
          <p:cNvPr id="107" name="Text 5"/>
          <p:cNvSpPr txBox="1"/>
          <p:nvPr/>
        </p:nvSpPr>
        <p:spPr>
          <a:xfrm>
            <a:off x="868680" y="4663440"/>
            <a:ext cx="1051560" cy="36576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Tools</a:t>
            </a:r>
            <a:endParaRPr lang="en-US" sz="1300" dirty="0"/>
          </a:p>
        </p:txBody>
      </p:sp>
      <p:sp>
        <p:nvSpPr>
          <p:cNvPr id="108" name="Text 6"/>
          <p:cNvSpPr txBox="1"/>
          <p:nvPr/>
        </p:nvSpPr>
        <p:spPr>
          <a:xfrm>
            <a:off x="1965960" y="4663440"/>
            <a:ext cx="3703320" cy="36576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The hands: search, read, write things down</a:t>
            </a:r>
            <a:endParaRPr lang="en-US" sz="1300" dirty="0"/>
          </a:p>
        </p:txBody>
      </p:sp>
      <p:sp>
        <p:nvSpPr>
          <p:cNvPr id="109" name="Text 7"/>
          <p:cNvSpPr txBox="1"/>
          <p:nvPr/>
        </p:nvSpPr>
        <p:spPr>
          <a:xfrm>
            <a:off x="868680" y="5303520"/>
            <a:ext cx="1051560" cy="36576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Loop</a:t>
            </a:r>
            <a:endParaRPr lang="en-US" sz="1300" dirty="0"/>
          </a:p>
        </p:txBody>
      </p:sp>
      <p:sp>
        <p:nvSpPr>
          <p:cNvPr id="110" name="Text 8"/>
          <p:cNvSpPr txBox="1"/>
          <p:nvPr/>
        </p:nvSpPr>
        <p:spPr>
          <a:xfrm>
            <a:off x="1965960" y="5303520"/>
            <a:ext cx="3703320" cy="36576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Repeats until the job is done</a:t>
            </a:r>
            <a:endParaRPr lang="en-US" sz="1300" dirty="0"/>
          </a:p>
        </p:txBody>
      </p:sp>
      <p:sp>
        <p:nvSpPr>
          <p:cNvPr id="111" name="Text 9"/>
          <p:cNvSpPr txBox="1"/>
          <p:nvPr/>
        </p:nvSpPr>
        <p:spPr>
          <a:xfrm>
            <a:off x="6172200" y="1691640"/>
            <a:ext cx="5468112" cy="365760"/>
          </a:xfrm>
          <a:prstGeom prst="rect">
            <a:avLst/>
          </a:prstGeom>
          <a:noFill/>
          <a:ln/>
        </p:spPr>
        <p:txBody>
          <a:bodyPr wrap="square" lIns="0" tIns="0" rIns="0" bIns="0" rtlCol="0" anchor="t"/>
          <a:lstStyle/>
          <a:p>
            <a:pPr indent="0" marL="0">
              <a:buNone/>
            </a:pPr>
            <a:r>
              <a:rPr lang="en-US" sz="1800" b="1" dirty="0">
                <a:solidFill>
                  <a:srgbClr val="051C2C"/>
                </a:solidFill>
                <a:latin typeface="Georgia" pitchFamily="34" charset="0"/>
                <a:ea typeface="Georgia" pitchFamily="34" charset="-122"/>
                <a:cs typeface="Georgia" pitchFamily="34" charset="-120"/>
              </a:rPr>
              <a:t>How WatchAgent fits</a:t>
            </a:r>
            <a:endParaRPr lang="en-US" sz="1800" dirty="0"/>
          </a:p>
        </p:txBody>
      </p:sp>
      <p:sp>
        <p:nvSpPr>
          <p:cNvPr id="112" name="Shape 10"/>
          <p:cNvSpPr/>
          <p:nvPr/>
        </p:nvSpPr>
        <p:spPr>
          <a:xfrm>
            <a:off x="6172200" y="2194560"/>
            <a:ext cx="5468112" cy="868680"/>
          </a:xfrm>
          <a:prstGeom prst="rect">
            <a:avLst/>
          </a:prstGeom>
          <a:solidFill>
            <a:srgbClr val="F2F4F7"/>
          </a:solidFill>
          <a:ln w="12700">
            <a:solidFill>
              <a:srgbClr val="F2F4F7"/>
            </a:solidFill>
            <a:prstDash val="solid"/>
          </a:ln>
        </p:spPr>
      </p:sp>
      <p:sp>
        <p:nvSpPr>
          <p:cNvPr id="113" name="Text 11"/>
          <p:cNvSpPr txBox="1"/>
          <p:nvPr/>
        </p:nvSpPr>
        <p:spPr>
          <a:xfrm>
            <a:off x="6355080" y="2313432"/>
            <a:ext cx="5120640" cy="274320"/>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Goal</a:t>
            </a:r>
            <a:endParaRPr lang="en-US" sz="1300" dirty="0"/>
          </a:p>
        </p:txBody>
      </p:sp>
      <p:sp>
        <p:nvSpPr>
          <p:cNvPr id="114" name="Text 12"/>
          <p:cNvSpPr txBox="1"/>
          <p:nvPr/>
        </p:nvSpPr>
        <p:spPr>
          <a:xfrm>
            <a:off x="6355080" y="2624328"/>
            <a:ext cx="51206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Find today’s real price of one watch</a:t>
            </a:r>
            <a:endParaRPr lang="en-US" sz="1300" dirty="0"/>
          </a:p>
        </p:txBody>
      </p:sp>
      <p:sp>
        <p:nvSpPr>
          <p:cNvPr id="115" name="Shape 13"/>
          <p:cNvSpPr/>
          <p:nvPr/>
        </p:nvSpPr>
        <p:spPr>
          <a:xfrm>
            <a:off x="6172200" y="3200400"/>
            <a:ext cx="5468112" cy="868680"/>
          </a:xfrm>
          <a:prstGeom prst="rect">
            <a:avLst/>
          </a:prstGeom>
          <a:solidFill>
            <a:srgbClr val="F2F4F7"/>
          </a:solidFill>
          <a:ln w="12700">
            <a:solidFill>
              <a:srgbClr val="F2F4F7"/>
            </a:solidFill>
            <a:prstDash val="solid"/>
          </a:ln>
        </p:spPr>
      </p:sp>
      <p:sp>
        <p:nvSpPr>
          <p:cNvPr id="116" name="Text 14"/>
          <p:cNvSpPr txBox="1"/>
          <p:nvPr/>
        </p:nvSpPr>
        <p:spPr>
          <a:xfrm>
            <a:off x="6355080" y="3319272"/>
            <a:ext cx="5120640" cy="274320"/>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Tools</a:t>
            </a:r>
            <a:endParaRPr lang="en-US" sz="1300" dirty="0"/>
          </a:p>
        </p:txBody>
      </p:sp>
      <p:sp>
        <p:nvSpPr>
          <p:cNvPr id="117" name="Text 15"/>
          <p:cNvSpPr txBox="1"/>
          <p:nvPr/>
        </p:nvSpPr>
        <p:spPr>
          <a:xfrm>
            <a:off x="6355080" y="3630168"/>
            <a:ext cx="51206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Search the web, open a listing, hand in what it found, save a tip</a:t>
            </a:r>
            <a:endParaRPr lang="en-US" sz="1300" dirty="0"/>
          </a:p>
        </p:txBody>
      </p:sp>
      <p:sp>
        <p:nvSpPr>
          <p:cNvPr id="118" name="Shape 16"/>
          <p:cNvSpPr/>
          <p:nvPr/>
        </p:nvSpPr>
        <p:spPr>
          <a:xfrm>
            <a:off x="6172200" y="4206240"/>
            <a:ext cx="5468112" cy="868680"/>
          </a:xfrm>
          <a:prstGeom prst="rect">
            <a:avLst/>
          </a:prstGeom>
          <a:solidFill>
            <a:srgbClr val="F2F4F7"/>
          </a:solidFill>
          <a:ln w="12700">
            <a:solidFill>
              <a:srgbClr val="F2F4F7"/>
            </a:solidFill>
            <a:prstDash val="solid"/>
          </a:ln>
        </p:spPr>
      </p:sp>
      <p:sp>
        <p:nvSpPr>
          <p:cNvPr id="119" name="Text 17"/>
          <p:cNvSpPr txBox="1"/>
          <p:nvPr/>
        </p:nvSpPr>
        <p:spPr>
          <a:xfrm>
            <a:off x="6355080" y="4325112"/>
            <a:ext cx="5120640" cy="274320"/>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Loop</a:t>
            </a:r>
            <a:endParaRPr lang="en-US" sz="1300" dirty="0"/>
          </a:p>
        </p:txBody>
      </p:sp>
      <p:sp>
        <p:nvSpPr>
          <p:cNvPr id="120" name="Text 18"/>
          <p:cNvSpPr txBox="1"/>
          <p:nvPr/>
        </p:nvSpPr>
        <p:spPr>
          <a:xfrm>
            <a:off x="6355080" y="4636008"/>
            <a:ext cx="51206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Keeps searching until 3 matching listings are accepted</a:t>
            </a:r>
            <a:endParaRPr lang="en-US" sz="1300" dirty="0"/>
          </a:p>
        </p:txBody>
      </p:sp>
      <p:sp>
        <p:nvSpPr>
          <p:cNvPr id="121" name="Shape 19"/>
          <p:cNvSpPr/>
          <p:nvPr/>
        </p:nvSpPr>
        <p:spPr>
          <a:xfrm>
            <a:off x="6172200" y="5212080"/>
            <a:ext cx="5468112" cy="868680"/>
          </a:xfrm>
          <a:prstGeom prst="rect">
            <a:avLst/>
          </a:prstGeom>
          <a:solidFill>
            <a:srgbClr val="F2F4F7"/>
          </a:solidFill>
          <a:ln w="12700">
            <a:solidFill>
              <a:srgbClr val="F2F4F7"/>
            </a:solidFill>
            <a:prstDash val="solid"/>
          </a:ln>
        </p:spPr>
      </p:sp>
      <p:sp>
        <p:nvSpPr>
          <p:cNvPr id="122" name="Text 20"/>
          <p:cNvSpPr txBox="1"/>
          <p:nvPr/>
        </p:nvSpPr>
        <p:spPr>
          <a:xfrm>
            <a:off x="6355080" y="5330952"/>
            <a:ext cx="5120640" cy="274320"/>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Guardrails</a:t>
            </a:r>
            <a:endParaRPr lang="en-US" sz="1300" dirty="0"/>
          </a:p>
        </p:txBody>
      </p:sp>
      <p:sp>
        <p:nvSpPr>
          <p:cNvPr id="123" name="Text 21"/>
          <p:cNvSpPr txBox="1"/>
          <p:nvPr/>
        </p:nvSpPr>
        <p:spPr>
          <a:xfrm>
            <a:off x="6355080" y="5641848"/>
            <a:ext cx="51206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Plain code checks every price; changes need your OK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GENERATIVE VS AGENTIC AI</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Generative AI answers when asked; agentic AI takes a goal and works toward it on its own</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Sources: LangChain docs, “Workflows and agents” (docs.langchain.com); Anthropic, “Building effective agents”, 19 Dec 2024 (anthropic.com/engineering)</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
        <p:nvSpPr>
          <p:cNvPr id="102" name="Shape 0"/>
          <p:cNvSpPr/>
          <p:nvPr/>
        </p:nvSpPr>
        <p:spPr>
          <a:xfrm>
            <a:off x="548640" y="1691640"/>
            <a:ext cx="5440680" cy="3931920"/>
          </a:xfrm>
          <a:prstGeom prst="rect">
            <a:avLst/>
          </a:prstGeom>
          <a:solidFill>
            <a:srgbClr val="F2F4F7"/>
          </a:solidFill>
          <a:ln w="12700">
            <a:solidFill>
              <a:srgbClr val="F2F4F7"/>
            </a:solidFill>
            <a:prstDash val="solid"/>
          </a:ln>
        </p:spPr>
      </p:sp>
      <p:sp>
        <p:nvSpPr>
          <p:cNvPr id="103" name="Text 1"/>
          <p:cNvSpPr txBox="1"/>
          <p:nvPr/>
        </p:nvSpPr>
        <p:spPr>
          <a:xfrm>
            <a:off x="822960" y="1920240"/>
            <a:ext cx="4892040" cy="228600"/>
          </a:xfrm>
          <a:prstGeom prst="rect">
            <a:avLst/>
          </a:prstGeom>
          <a:noFill/>
          <a:ln/>
        </p:spPr>
        <p:txBody>
          <a:bodyPr wrap="square" lIns="0" tIns="0" rIns="0" bIns="0" rtlCol="0" anchor="t"/>
          <a:lstStyle/>
          <a:p>
            <a:pPr indent="0" marL="0">
              <a:buNone/>
            </a:pPr>
            <a:r>
              <a:rPr lang="en-US" sz="1000" b="1" spc="200" kern="0" dirty="0">
                <a:solidFill>
                  <a:srgbClr val="6B7280"/>
                </a:solidFill>
                <a:latin typeface="Arial" pitchFamily="34" charset="0"/>
                <a:ea typeface="Arial" pitchFamily="34" charset="-122"/>
                <a:cs typeface="Arial" pitchFamily="34" charset="-120"/>
              </a:rPr>
              <a:t>REACTIVE</a:t>
            </a:r>
            <a:endParaRPr lang="en-US" sz="1000" dirty="0"/>
          </a:p>
        </p:txBody>
      </p:sp>
      <p:sp>
        <p:nvSpPr>
          <p:cNvPr id="104" name="Text 2"/>
          <p:cNvSpPr txBox="1"/>
          <p:nvPr/>
        </p:nvSpPr>
        <p:spPr>
          <a:xfrm>
            <a:off x="822960" y="2194560"/>
            <a:ext cx="4892040" cy="457200"/>
          </a:xfrm>
          <a:prstGeom prst="rect">
            <a:avLst/>
          </a:prstGeom>
          <a:noFill/>
          <a:ln/>
        </p:spPr>
        <p:txBody>
          <a:bodyPr wrap="square" lIns="0" tIns="0" rIns="0" bIns="0" rtlCol="0" anchor="t"/>
          <a:lstStyle/>
          <a:p>
            <a:pPr indent="0" marL="0">
              <a:buNone/>
            </a:pPr>
            <a:r>
              <a:rPr lang="en-US" sz="2200" b="1" dirty="0">
                <a:solidFill>
                  <a:srgbClr val="051C2C"/>
                </a:solidFill>
                <a:latin typeface="Georgia" pitchFamily="34" charset="0"/>
                <a:ea typeface="Georgia" pitchFamily="34" charset="-122"/>
                <a:cs typeface="Georgia" pitchFamily="34" charset="-120"/>
              </a:rPr>
              <a:t>Generative AI</a:t>
            </a:r>
            <a:endParaRPr lang="en-US" sz="2200" dirty="0"/>
          </a:p>
        </p:txBody>
      </p:sp>
      <p:sp>
        <p:nvSpPr>
          <p:cNvPr id="105" name="Text 3"/>
          <p:cNvSpPr txBox="1"/>
          <p:nvPr/>
        </p:nvSpPr>
        <p:spPr>
          <a:xfrm>
            <a:off x="822960" y="2651760"/>
            <a:ext cx="4892040" cy="320040"/>
          </a:xfrm>
          <a:prstGeom prst="rect">
            <a:avLst/>
          </a:prstGeom>
          <a:noFill/>
          <a:ln/>
        </p:spPr>
        <p:txBody>
          <a:bodyPr wrap="square" lIns="0" tIns="0" rIns="0" bIns="0" rtlCol="0" anchor="t"/>
          <a:lstStyle/>
          <a:p>
            <a:pPr indent="0" marL="0">
              <a:buNone/>
            </a:pPr>
            <a:r>
              <a:rPr lang="en-US" sz="1300" i="1" dirty="0">
                <a:solidFill>
                  <a:srgbClr val="1F2933"/>
                </a:solidFill>
                <a:latin typeface="Arial" pitchFamily="34" charset="0"/>
                <a:ea typeface="Arial" pitchFamily="34" charset="-122"/>
                <a:cs typeface="Arial" pitchFamily="34" charset="-120"/>
              </a:rPr>
              <a:t>Waits for your question</a:t>
            </a:r>
            <a:endParaRPr lang="en-US" sz="1300" dirty="0"/>
          </a:p>
        </p:txBody>
      </p:sp>
      <p:sp>
        <p:nvSpPr>
          <p:cNvPr id="106" name="Shape 4"/>
          <p:cNvSpPr/>
          <p:nvPr/>
        </p:nvSpPr>
        <p:spPr>
          <a:xfrm>
            <a:off x="841248" y="3182112"/>
            <a:ext cx="82296" cy="82296"/>
          </a:xfrm>
          <a:prstGeom prst="ellipse">
            <a:avLst/>
          </a:prstGeom>
          <a:solidFill>
            <a:srgbClr val="2251FF"/>
          </a:solidFill>
          <a:ln w="12700">
            <a:solidFill>
              <a:srgbClr val="2251FF"/>
            </a:solidFill>
            <a:prstDash val="solid"/>
          </a:ln>
        </p:spPr>
      </p:sp>
      <p:sp>
        <p:nvSpPr>
          <p:cNvPr id="107" name="Text 5"/>
          <p:cNvSpPr txBox="1"/>
          <p:nvPr/>
        </p:nvSpPr>
        <p:spPr>
          <a:xfrm>
            <a:off x="1051560" y="3108960"/>
            <a:ext cx="46634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Starts when you ask</a:t>
            </a:r>
            <a:endParaRPr lang="en-US" sz="1300" dirty="0"/>
          </a:p>
        </p:txBody>
      </p:sp>
      <p:sp>
        <p:nvSpPr>
          <p:cNvPr id="108" name="Shape 6"/>
          <p:cNvSpPr/>
          <p:nvPr/>
        </p:nvSpPr>
        <p:spPr>
          <a:xfrm>
            <a:off x="841248" y="3566160"/>
            <a:ext cx="82296" cy="82296"/>
          </a:xfrm>
          <a:prstGeom prst="ellipse">
            <a:avLst/>
          </a:prstGeom>
          <a:solidFill>
            <a:srgbClr val="2251FF"/>
          </a:solidFill>
          <a:ln w="12700">
            <a:solidFill>
              <a:srgbClr val="2251FF"/>
            </a:solidFill>
            <a:prstDash val="solid"/>
          </a:ln>
        </p:spPr>
      </p:sp>
      <p:sp>
        <p:nvSpPr>
          <p:cNvPr id="109" name="Text 7"/>
          <p:cNvSpPr txBox="1"/>
          <p:nvPr/>
        </p:nvSpPr>
        <p:spPr>
          <a:xfrm>
            <a:off x="1051560" y="3493008"/>
            <a:ext cx="46634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Gives one answer, then stops</a:t>
            </a:r>
            <a:endParaRPr lang="en-US" sz="1300" dirty="0"/>
          </a:p>
        </p:txBody>
      </p:sp>
      <p:sp>
        <p:nvSpPr>
          <p:cNvPr id="110" name="Shape 8"/>
          <p:cNvSpPr/>
          <p:nvPr/>
        </p:nvSpPr>
        <p:spPr>
          <a:xfrm>
            <a:off x="841248" y="3950208"/>
            <a:ext cx="82296" cy="82296"/>
          </a:xfrm>
          <a:prstGeom prst="ellipse">
            <a:avLst/>
          </a:prstGeom>
          <a:solidFill>
            <a:srgbClr val="2251FF"/>
          </a:solidFill>
          <a:ln w="12700">
            <a:solidFill>
              <a:srgbClr val="2251FF"/>
            </a:solidFill>
            <a:prstDash val="solid"/>
          </a:ln>
        </p:spPr>
      </p:sp>
      <p:sp>
        <p:nvSpPr>
          <p:cNvPr id="111" name="Text 9"/>
          <p:cNvSpPr txBox="1"/>
          <p:nvPr/>
        </p:nvSpPr>
        <p:spPr>
          <a:xfrm>
            <a:off x="1051560" y="3877056"/>
            <a:ext cx="46634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Relies on what it already knows</a:t>
            </a:r>
            <a:endParaRPr lang="en-US" sz="1300" dirty="0"/>
          </a:p>
        </p:txBody>
      </p:sp>
      <p:sp>
        <p:nvSpPr>
          <p:cNvPr id="112" name="Shape 10"/>
          <p:cNvSpPr/>
          <p:nvPr/>
        </p:nvSpPr>
        <p:spPr>
          <a:xfrm>
            <a:off x="841248" y="4334256"/>
            <a:ext cx="82296" cy="82296"/>
          </a:xfrm>
          <a:prstGeom prst="ellipse">
            <a:avLst/>
          </a:prstGeom>
          <a:solidFill>
            <a:srgbClr val="2251FF"/>
          </a:solidFill>
          <a:ln w="12700">
            <a:solidFill>
              <a:srgbClr val="2251FF"/>
            </a:solidFill>
            <a:prstDash val="solid"/>
          </a:ln>
        </p:spPr>
      </p:sp>
      <p:sp>
        <p:nvSpPr>
          <p:cNvPr id="113" name="Text 11"/>
          <p:cNvSpPr txBox="1"/>
          <p:nvPr/>
        </p:nvSpPr>
        <p:spPr>
          <a:xfrm>
            <a:off x="1051560" y="4261104"/>
            <a:ext cx="4663440" cy="32004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You check the answer and act on it</a:t>
            </a:r>
            <a:endParaRPr lang="en-US" sz="1300" dirty="0"/>
          </a:p>
        </p:txBody>
      </p:sp>
      <p:sp>
        <p:nvSpPr>
          <p:cNvPr id="114" name="Shape 12"/>
          <p:cNvSpPr/>
          <p:nvPr/>
        </p:nvSpPr>
        <p:spPr>
          <a:xfrm>
            <a:off x="822960" y="4754880"/>
            <a:ext cx="4892040" cy="685800"/>
          </a:xfrm>
          <a:prstGeom prst="rect">
            <a:avLst/>
          </a:prstGeom>
          <a:solidFill>
            <a:srgbClr val="FFFFFF"/>
          </a:solidFill>
          <a:ln w="12700">
            <a:solidFill>
              <a:srgbClr val="FFFFFF"/>
            </a:solidFill>
            <a:prstDash val="solid"/>
          </a:ln>
        </p:spPr>
      </p:sp>
      <p:sp>
        <p:nvSpPr>
          <p:cNvPr id="115" name="Text 13"/>
          <p:cNvSpPr txBox="1"/>
          <p:nvPr/>
        </p:nvSpPr>
        <p:spPr>
          <a:xfrm>
            <a:off x="960120" y="4846320"/>
            <a:ext cx="4617720" cy="548640"/>
          </a:xfrm>
          <a:prstGeom prst="rect">
            <a:avLst/>
          </a:prstGeom>
          <a:noFill/>
          <a:ln/>
        </p:spPr>
        <p:txBody>
          <a:bodyPr wrap="square" lIns="0" tIns="0" rIns="0" bIns="0" rtlCol="0" anchor="ctr"/>
          <a:lstStyle/>
          <a:p>
            <a:pPr indent="0" marL="0">
              <a:buNone/>
            </a:pPr>
            <a:r>
              <a:rPr lang="en-US" sz="1200" i="1" dirty="0">
                <a:solidFill>
                  <a:srgbClr val="1F2933"/>
                </a:solidFill>
                <a:latin typeface="Arial" pitchFamily="34" charset="0"/>
                <a:ea typeface="Arial" pitchFamily="34" charset="-122"/>
                <a:cs typeface="Arial" pitchFamily="34" charset="-120"/>
              </a:rPr>
              <a:t>Ask “What does an Omega Speedmaster cost?” and get one general answer that may be out of date.</a:t>
            </a:r>
            <a:endParaRPr lang="en-US" sz="1200" dirty="0"/>
          </a:p>
        </p:txBody>
      </p:sp>
      <p:sp>
        <p:nvSpPr>
          <p:cNvPr id="116" name="Shape 14"/>
          <p:cNvSpPr/>
          <p:nvPr/>
        </p:nvSpPr>
        <p:spPr>
          <a:xfrm>
            <a:off x="6199632" y="1691640"/>
            <a:ext cx="5440680" cy="3931920"/>
          </a:xfrm>
          <a:prstGeom prst="rect">
            <a:avLst/>
          </a:prstGeom>
          <a:solidFill>
            <a:srgbClr val="051C2C"/>
          </a:solidFill>
          <a:ln w="12700">
            <a:solidFill>
              <a:srgbClr val="051C2C"/>
            </a:solidFill>
            <a:prstDash val="solid"/>
          </a:ln>
        </p:spPr>
      </p:sp>
      <p:sp>
        <p:nvSpPr>
          <p:cNvPr id="117" name="Text 15"/>
          <p:cNvSpPr txBox="1"/>
          <p:nvPr/>
        </p:nvSpPr>
        <p:spPr>
          <a:xfrm>
            <a:off x="6473952" y="1920240"/>
            <a:ext cx="4892040" cy="228600"/>
          </a:xfrm>
          <a:prstGeom prst="rect">
            <a:avLst/>
          </a:prstGeom>
          <a:noFill/>
          <a:ln/>
        </p:spPr>
        <p:txBody>
          <a:bodyPr wrap="square" lIns="0" tIns="0" rIns="0" bIns="0" rtlCol="0" anchor="t"/>
          <a:lstStyle/>
          <a:p>
            <a:pPr indent="0" marL="0">
              <a:buNone/>
            </a:pPr>
            <a:r>
              <a:rPr lang="en-US" sz="1000" b="1" spc="200" kern="0" dirty="0">
                <a:solidFill>
                  <a:srgbClr val="8FB0FF"/>
                </a:solidFill>
                <a:latin typeface="Arial" pitchFamily="34" charset="0"/>
                <a:ea typeface="Arial" pitchFamily="34" charset="-122"/>
                <a:cs typeface="Arial" pitchFamily="34" charset="-120"/>
              </a:rPr>
              <a:t>PROACTIVE</a:t>
            </a:r>
            <a:endParaRPr lang="en-US" sz="1000" dirty="0"/>
          </a:p>
        </p:txBody>
      </p:sp>
      <p:sp>
        <p:nvSpPr>
          <p:cNvPr id="118" name="Text 16"/>
          <p:cNvSpPr txBox="1"/>
          <p:nvPr/>
        </p:nvSpPr>
        <p:spPr>
          <a:xfrm>
            <a:off x="6473952" y="2194560"/>
            <a:ext cx="4892040" cy="457200"/>
          </a:xfrm>
          <a:prstGeom prst="rect">
            <a:avLst/>
          </a:prstGeom>
          <a:noFill/>
          <a:ln/>
        </p:spPr>
        <p:txBody>
          <a:bodyPr wrap="square" lIns="0" tIns="0" rIns="0" bIns="0" rtlCol="0" anchor="t"/>
          <a:lstStyle/>
          <a:p>
            <a:pPr indent="0" marL="0">
              <a:buNone/>
            </a:pPr>
            <a:r>
              <a:rPr lang="en-US" sz="2200" b="1" dirty="0">
                <a:solidFill>
                  <a:srgbClr val="FFFFFF"/>
                </a:solidFill>
                <a:latin typeface="Georgia" pitchFamily="34" charset="0"/>
                <a:ea typeface="Georgia" pitchFamily="34" charset="-122"/>
                <a:cs typeface="Georgia" pitchFamily="34" charset="-120"/>
              </a:rPr>
              <a:t>Agentic AI</a:t>
            </a:r>
            <a:endParaRPr lang="en-US" sz="2200" dirty="0"/>
          </a:p>
        </p:txBody>
      </p:sp>
      <p:sp>
        <p:nvSpPr>
          <p:cNvPr id="119" name="Text 17"/>
          <p:cNvSpPr txBox="1"/>
          <p:nvPr/>
        </p:nvSpPr>
        <p:spPr>
          <a:xfrm>
            <a:off x="6473952" y="2651760"/>
            <a:ext cx="4892040" cy="320040"/>
          </a:xfrm>
          <a:prstGeom prst="rect">
            <a:avLst/>
          </a:prstGeom>
          <a:noFill/>
          <a:ln/>
        </p:spPr>
        <p:txBody>
          <a:bodyPr wrap="square" lIns="0" tIns="0" rIns="0" bIns="0" rtlCol="0" anchor="t"/>
          <a:lstStyle/>
          <a:p>
            <a:pPr indent="0" marL="0">
              <a:buNone/>
            </a:pPr>
            <a:r>
              <a:rPr lang="en-US" sz="1300" i="1" dirty="0">
                <a:solidFill>
                  <a:srgbClr val="DDE6FA"/>
                </a:solidFill>
                <a:latin typeface="Arial" pitchFamily="34" charset="0"/>
                <a:ea typeface="Arial" pitchFamily="34" charset="-122"/>
                <a:cs typeface="Arial" pitchFamily="34" charset="-120"/>
              </a:rPr>
              <a:t>Works toward a goal</a:t>
            </a:r>
            <a:endParaRPr lang="en-US" sz="1300" dirty="0"/>
          </a:p>
        </p:txBody>
      </p:sp>
      <p:sp>
        <p:nvSpPr>
          <p:cNvPr id="120" name="Shape 18"/>
          <p:cNvSpPr/>
          <p:nvPr/>
        </p:nvSpPr>
        <p:spPr>
          <a:xfrm>
            <a:off x="6492240" y="3182112"/>
            <a:ext cx="82296" cy="82296"/>
          </a:xfrm>
          <a:prstGeom prst="ellipse">
            <a:avLst/>
          </a:prstGeom>
          <a:solidFill>
            <a:srgbClr val="8FB0FF"/>
          </a:solidFill>
          <a:ln w="12700">
            <a:solidFill>
              <a:srgbClr val="8FB0FF"/>
            </a:solidFill>
            <a:prstDash val="solid"/>
          </a:ln>
        </p:spPr>
      </p:sp>
      <p:sp>
        <p:nvSpPr>
          <p:cNvPr id="121" name="Text 19"/>
          <p:cNvSpPr txBox="1"/>
          <p:nvPr/>
        </p:nvSpPr>
        <p:spPr>
          <a:xfrm>
            <a:off x="6702552" y="3108960"/>
            <a:ext cx="4663440" cy="32004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Starts from a goal, even on a schedule</a:t>
            </a:r>
            <a:endParaRPr lang="en-US" sz="1300" dirty="0"/>
          </a:p>
        </p:txBody>
      </p:sp>
      <p:sp>
        <p:nvSpPr>
          <p:cNvPr id="122" name="Shape 20"/>
          <p:cNvSpPr/>
          <p:nvPr/>
        </p:nvSpPr>
        <p:spPr>
          <a:xfrm>
            <a:off x="6492240" y="3566160"/>
            <a:ext cx="82296" cy="82296"/>
          </a:xfrm>
          <a:prstGeom prst="ellipse">
            <a:avLst/>
          </a:prstGeom>
          <a:solidFill>
            <a:srgbClr val="8FB0FF"/>
          </a:solidFill>
          <a:ln w="12700">
            <a:solidFill>
              <a:srgbClr val="8FB0FF"/>
            </a:solidFill>
            <a:prstDash val="solid"/>
          </a:ln>
        </p:spPr>
      </p:sp>
      <p:sp>
        <p:nvSpPr>
          <p:cNvPr id="123" name="Text 21"/>
          <p:cNvSpPr txBox="1"/>
          <p:nvPr/>
        </p:nvSpPr>
        <p:spPr>
          <a:xfrm>
            <a:off x="6702552" y="3493008"/>
            <a:ext cx="4663440" cy="32004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Takes several steps, adjusting as it goes</a:t>
            </a:r>
            <a:endParaRPr lang="en-US" sz="1300" dirty="0"/>
          </a:p>
        </p:txBody>
      </p:sp>
      <p:sp>
        <p:nvSpPr>
          <p:cNvPr id="124" name="Shape 22"/>
          <p:cNvSpPr/>
          <p:nvPr/>
        </p:nvSpPr>
        <p:spPr>
          <a:xfrm>
            <a:off x="6492240" y="3950208"/>
            <a:ext cx="82296" cy="82296"/>
          </a:xfrm>
          <a:prstGeom prst="ellipse">
            <a:avLst/>
          </a:prstGeom>
          <a:solidFill>
            <a:srgbClr val="8FB0FF"/>
          </a:solidFill>
          <a:ln w="12700">
            <a:solidFill>
              <a:srgbClr val="8FB0FF"/>
            </a:solidFill>
            <a:prstDash val="solid"/>
          </a:ln>
        </p:spPr>
      </p:sp>
      <p:sp>
        <p:nvSpPr>
          <p:cNvPr id="125" name="Text 23"/>
          <p:cNvSpPr txBox="1"/>
          <p:nvPr/>
        </p:nvSpPr>
        <p:spPr>
          <a:xfrm>
            <a:off x="6702552" y="3877056"/>
            <a:ext cx="4663440" cy="32004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Looks things up with tools</a:t>
            </a:r>
            <a:endParaRPr lang="en-US" sz="1300" dirty="0"/>
          </a:p>
        </p:txBody>
      </p:sp>
      <p:sp>
        <p:nvSpPr>
          <p:cNvPr id="126" name="Shape 24"/>
          <p:cNvSpPr/>
          <p:nvPr/>
        </p:nvSpPr>
        <p:spPr>
          <a:xfrm>
            <a:off x="6492240" y="4334256"/>
            <a:ext cx="82296" cy="82296"/>
          </a:xfrm>
          <a:prstGeom prst="ellipse">
            <a:avLst/>
          </a:prstGeom>
          <a:solidFill>
            <a:srgbClr val="8FB0FF"/>
          </a:solidFill>
          <a:ln w="12700">
            <a:solidFill>
              <a:srgbClr val="8FB0FF"/>
            </a:solidFill>
            <a:prstDash val="solid"/>
          </a:ln>
        </p:spPr>
      </p:sp>
      <p:sp>
        <p:nvSpPr>
          <p:cNvPr id="127" name="Text 25"/>
          <p:cNvSpPr txBox="1"/>
          <p:nvPr/>
        </p:nvSpPr>
        <p:spPr>
          <a:xfrm>
            <a:off x="6702552" y="4261104"/>
            <a:ext cx="4663440" cy="320040"/>
          </a:xfrm>
          <a:prstGeom prst="rect">
            <a:avLst/>
          </a:prstGeom>
          <a:noFill/>
          <a:ln/>
        </p:spPr>
        <p:txBody>
          <a:bodyPr wrap="square" lIns="0" tIns="0" rIns="0" bIns="0" rtlCol="0" anchor="t"/>
          <a:lstStyle/>
          <a:p>
            <a:pPr indent="0" marL="0">
              <a:buNone/>
            </a:pPr>
            <a:r>
              <a:rPr lang="en-US" sz="1300" dirty="0">
                <a:solidFill>
                  <a:srgbClr val="DDE6FA"/>
                </a:solidFill>
                <a:latin typeface="Arial" pitchFamily="34" charset="0"/>
                <a:ea typeface="Arial" pitchFamily="34" charset="-122"/>
                <a:cs typeface="Arial" pitchFamily="34" charset="-120"/>
              </a:rPr>
              <a:t>Checks its own results before acting</a:t>
            </a:r>
            <a:endParaRPr lang="en-US" sz="1300" dirty="0"/>
          </a:p>
        </p:txBody>
      </p:sp>
      <p:sp>
        <p:nvSpPr>
          <p:cNvPr id="128" name="Shape 26"/>
          <p:cNvSpPr/>
          <p:nvPr/>
        </p:nvSpPr>
        <p:spPr>
          <a:xfrm>
            <a:off x="6473952" y="4754880"/>
            <a:ext cx="4892040" cy="685800"/>
          </a:xfrm>
          <a:prstGeom prst="rect">
            <a:avLst/>
          </a:prstGeom>
          <a:solidFill>
            <a:srgbClr val="2251FF"/>
          </a:solidFill>
          <a:ln w="12700">
            <a:solidFill>
              <a:srgbClr val="2251FF"/>
            </a:solidFill>
            <a:prstDash val="solid"/>
          </a:ln>
        </p:spPr>
      </p:sp>
      <p:sp>
        <p:nvSpPr>
          <p:cNvPr id="129" name="Text 27"/>
          <p:cNvSpPr txBox="1"/>
          <p:nvPr/>
        </p:nvSpPr>
        <p:spPr>
          <a:xfrm>
            <a:off x="6611112" y="4846320"/>
            <a:ext cx="4617720" cy="548640"/>
          </a:xfrm>
          <a:prstGeom prst="rect">
            <a:avLst/>
          </a:prstGeom>
          <a:noFill/>
          <a:ln/>
        </p:spPr>
        <p:txBody>
          <a:bodyPr wrap="square" lIns="0" tIns="0" rIns="0" bIns="0" rtlCol="0" anchor="ctr"/>
          <a:lstStyle/>
          <a:p>
            <a:pPr indent="0" marL="0">
              <a:buNone/>
            </a:pPr>
            <a:r>
              <a:rPr lang="en-US" sz="1200" i="1" dirty="0">
                <a:solidFill>
                  <a:srgbClr val="FFFFFF"/>
                </a:solidFill>
                <a:latin typeface="Arial" pitchFamily="34" charset="0"/>
                <a:ea typeface="Arial" pitchFamily="34" charset="-122"/>
                <a:cs typeface="Arial" pitchFamily="34" charset="-120"/>
              </a:rPr>
              <a:t>WatchAgent checks every 6 hours, finds live listings, and messages you only when it’s a good deal.</a:t>
            </a:r>
            <a:endParaRPr lang="en-US" sz="1200" dirty="0"/>
          </a:p>
        </p:txBody>
      </p:sp>
      <p:sp>
        <p:nvSpPr>
          <p:cNvPr id="130" name="Text 28"/>
          <p:cNvSpPr txBox="1"/>
          <p:nvPr/>
        </p:nvSpPr>
        <p:spPr>
          <a:xfrm>
            <a:off x="548640" y="5806440"/>
            <a:ext cx="11091672" cy="411480"/>
          </a:xfrm>
          <a:prstGeom prst="rect">
            <a:avLst/>
          </a:prstGeom>
          <a:noFill/>
          <a:ln/>
        </p:spPr>
        <p:txBody>
          <a:bodyPr wrap="square" lIns="0" tIns="0" rIns="0" bIns="0" rtlCol="0" anchor="t"/>
          <a:lstStyle/>
          <a:p>
            <a:pPr indent="0" marL="0">
              <a:buNone/>
            </a:pPr>
            <a:r>
              <a:rPr lang="en-US" sz="1500" i="1" dirty="0">
                <a:solidFill>
                  <a:srgbClr val="051C2C"/>
                </a:solidFill>
                <a:latin typeface="Georgia" pitchFamily="34" charset="0"/>
                <a:ea typeface="Georgia" pitchFamily="34" charset="-122"/>
                <a:cs typeface="Georgia" pitchFamily="34" charset="-120"/>
              </a:rPr>
              <a:t>More independence needs more guardrails: that is why plain code checks WatchAgent’s numbers.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CHAIN-OF-THOUGHT REASONING</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Thinking in steps makes AI more reliable, and agents take real actions between the steps</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Sources: Wei et al. (2022), “Chain-of-Thought Prompting Elicits Reasoning in LLMs”, arXiv:2201.11903; Yao et al. (2022), “ReAct”, arXiv:2210.03629; WatchAgent run, 24 Sep 2026</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6</a:t>
            </a:r>
            <a:endParaRPr lang="en-US" sz="900" dirty="0"/>
          </a:p>
        </p:txBody>
      </p:sp>
      <p:sp>
        <p:nvSpPr>
          <p:cNvPr id="102" name="Text 0"/>
          <p:cNvSpPr txBox="1"/>
          <p:nvPr/>
        </p:nvSpPr>
        <p:spPr>
          <a:xfrm>
            <a:off x="548640" y="1691640"/>
            <a:ext cx="4434840" cy="365760"/>
          </a:xfrm>
          <a:prstGeom prst="rect">
            <a:avLst/>
          </a:prstGeom>
          <a:noFill/>
          <a:ln/>
        </p:spPr>
        <p:txBody>
          <a:bodyPr wrap="square" lIns="0" tIns="0" rIns="0" bIns="0" rtlCol="0" anchor="t"/>
          <a:lstStyle/>
          <a:p>
            <a:pPr indent="0" marL="0">
              <a:buNone/>
            </a:pPr>
            <a:r>
              <a:rPr lang="en-US" sz="1800" b="1" dirty="0">
                <a:solidFill>
                  <a:srgbClr val="051C2C"/>
                </a:solidFill>
                <a:latin typeface="Georgia" pitchFamily="34" charset="0"/>
                <a:ea typeface="Georgia" pitchFamily="34" charset="-122"/>
                <a:cs typeface="Georgia" pitchFamily="34" charset="-120"/>
              </a:rPr>
              <a:t>What it is</a:t>
            </a:r>
            <a:endParaRPr lang="en-US" sz="1800" dirty="0"/>
          </a:p>
        </p:txBody>
      </p:sp>
      <p:sp>
        <p:nvSpPr>
          <p:cNvPr id="103" name="Text 1"/>
          <p:cNvSpPr txBox="1"/>
          <p:nvPr/>
        </p:nvSpPr>
        <p:spPr>
          <a:xfrm>
            <a:off x="548640" y="2103120"/>
            <a:ext cx="4434840" cy="141732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Instead of jumping to an answer, the model works through a problem one step at a time, like showing your working in a maths exam. Research shows this makes models much better at multi-step problems.</a:t>
            </a:r>
            <a:endParaRPr lang="en-US" sz="1300" dirty="0"/>
          </a:p>
        </p:txBody>
      </p:sp>
      <p:sp>
        <p:nvSpPr>
          <p:cNvPr id="104" name="Text 2"/>
          <p:cNvSpPr txBox="1"/>
          <p:nvPr/>
        </p:nvSpPr>
        <p:spPr>
          <a:xfrm>
            <a:off x="548640" y="3657600"/>
            <a:ext cx="4434840" cy="365760"/>
          </a:xfrm>
          <a:prstGeom prst="rect">
            <a:avLst/>
          </a:prstGeom>
          <a:noFill/>
          <a:ln/>
        </p:spPr>
        <p:txBody>
          <a:bodyPr wrap="square" lIns="0" tIns="0" rIns="0" bIns="0" rtlCol="0" anchor="t"/>
          <a:lstStyle/>
          <a:p>
            <a:pPr indent="0" marL="0">
              <a:buNone/>
            </a:pPr>
            <a:r>
              <a:rPr lang="en-US" sz="1800" b="1" dirty="0">
                <a:solidFill>
                  <a:srgbClr val="051C2C"/>
                </a:solidFill>
                <a:latin typeface="Georgia" pitchFamily="34" charset="0"/>
                <a:ea typeface="Georgia" pitchFamily="34" charset="-122"/>
                <a:cs typeface="Georgia" pitchFamily="34" charset="-120"/>
              </a:rPr>
              <a:t>Thinking plus doing</a:t>
            </a:r>
            <a:endParaRPr lang="en-US" sz="1800" dirty="0"/>
          </a:p>
        </p:txBody>
      </p:sp>
      <p:sp>
        <p:nvSpPr>
          <p:cNvPr id="105" name="Text 3"/>
          <p:cNvSpPr txBox="1"/>
          <p:nvPr/>
        </p:nvSpPr>
        <p:spPr>
          <a:xfrm>
            <a:off x="548640" y="4069080"/>
            <a:ext cx="4434840" cy="118872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Agents mix those steps with actions: try something, look at the result, adjust the plan. Each result is real information, not a guess.</a:t>
            </a:r>
            <a:endParaRPr lang="en-US" sz="1300" dirty="0"/>
          </a:p>
        </p:txBody>
      </p:sp>
      <p:sp>
        <p:nvSpPr>
          <p:cNvPr id="106" name="Shape 4"/>
          <p:cNvSpPr/>
          <p:nvPr/>
        </p:nvSpPr>
        <p:spPr>
          <a:xfrm>
            <a:off x="548640" y="5440680"/>
            <a:ext cx="4434840" cy="685800"/>
          </a:xfrm>
          <a:prstGeom prst="rect">
            <a:avLst/>
          </a:prstGeom>
          <a:solidFill>
            <a:srgbClr val="DDE6FA"/>
          </a:solidFill>
          <a:ln w="12700">
            <a:solidFill>
              <a:srgbClr val="DDE6FA"/>
            </a:solidFill>
            <a:prstDash val="solid"/>
          </a:ln>
        </p:spPr>
      </p:sp>
      <p:sp>
        <p:nvSpPr>
          <p:cNvPr id="107" name="Text 5"/>
          <p:cNvSpPr txBox="1"/>
          <p:nvPr/>
        </p:nvSpPr>
        <p:spPr>
          <a:xfrm>
            <a:off x="731520" y="5486400"/>
            <a:ext cx="4069080" cy="594360"/>
          </a:xfrm>
          <a:prstGeom prst="rect">
            <a:avLst/>
          </a:prstGeom>
          <a:noFill/>
          <a:ln/>
        </p:spPr>
        <p:txBody>
          <a:bodyPr wrap="square" lIns="0" tIns="0" rIns="0" bIns="0" rtlCol="0" anchor="ctr"/>
          <a:lstStyle/>
          <a:p>
            <a:pPr indent="0" marL="0">
              <a:buNone/>
            </a:pPr>
            <a:r>
              <a:rPr lang="en-US" sz="1300" b="1" dirty="0">
                <a:solidFill>
                  <a:srgbClr val="051C2C"/>
                </a:solidFill>
                <a:latin typeface="Arial" pitchFamily="34" charset="0"/>
                <a:ea typeface="Arial" pitchFamily="34" charset="-122"/>
                <a:cs typeface="Arial" pitchFamily="34" charset="-120"/>
              </a:rPr>
              <a:t>The model decides what to try next; plain code decides what counts as a price.</a:t>
            </a:r>
            <a:endParaRPr lang="en-US" sz="1300" dirty="0"/>
          </a:p>
        </p:txBody>
      </p:sp>
      <p:sp>
        <p:nvSpPr>
          <p:cNvPr id="108" name="Shape 6"/>
          <p:cNvSpPr/>
          <p:nvPr/>
        </p:nvSpPr>
        <p:spPr>
          <a:xfrm>
            <a:off x="5257800" y="1691640"/>
            <a:ext cx="6382512" cy="4434840"/>
          </a:xfrm>
          <a:prstGeom prst="rect">
            <a:avLst/>
          </a:prstGeom>
          <a:solidFill>
            <a:srgbClr val="F2F4F7"/>
          </a:solidFill>
          <a:ln w="12700">
            <a:solidFill>
              <a:srgbClr val="F2F4F7"/>
            </a:solidFill>
            <a:prstDash val="solid"/>
          </a:ln>
        </p:spPr>
      </p:sp>
      <p:sp>
        <p:nvSpPr>
          <p:cNvPr id="109" name="Text 7"/>
          <p:cNvSpPr txBox="1"/>
          <p:nvPr/>
        </p:nvSpPr>
        <p:spPr>
          <a:xfrm>
            <a:off x="5532120" y="1874520"/>
            <a:ext cx="5852160" cy="320040"/>
          </a:xfrm>
          <a:prstGeom prst="rect">
            <a:avLst/>
          </a:prstGeom>
          <a:noFill/>
          <a:ln/>
        </p:spPr>
        <p:txBody>
          <a:bodyPr wrap="square" lIns="0" tIns="0" rIns="0" bIns="0" rtlCol="0" anchor="t"/>
          <a:lstStyle/>
          <a:p>
            <a:pPr indent="0" marL="0">
              <a:buNone/>
            </a:pPr>
            <a:r>
              <a:rPr lang="en-US" sz="1600" b="1" dirty="0">
                <a:solidFill>
                  <a:srgbClr val="051C2C"/>
                </a:solidFill>
                <a:latin typeface="Georgia" pitchFamily="34" charset="0"/>
                <a:ea typeface="Georgia" pitchFamily="34" charset="-122"/>
                <a:cs typeface="Georgia" pitchFamily="34" charset="-120"/>
              </a:rPr>
              <a:t>A real WatchAgent run, step by step</a:t>
            </a:r>
            <a:endParaRPr lang="en-US" sz="1600" dirty="0"/>
          </a:p>
        </p:txBody>
      </p:sp>
      <p:sp>
        <p:nvSpPr>
          <p:cNvPr id="110" name="Text 8"/>
          <p:cNvSpPr txBox="1"/>
          <p:nvPr/>
        </p:nvSpPr>
        <p:spPr>
          <a:xfrm>
            <a:off x="5532120" y="2212848"/>
            <a:ext cx="5852160" cy="22860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Omega Speedmaster, 24 September 2026</a:t>
            </a:r>
            <a:endParaRPr lang="en-US" sz="1100" dirty="0"/>
          </a:p>
        </p:txBody>
      </p:sp>
      <p:sp>
        <p:nvSpPr>
          <p:cNvPr id="111" name="Shape 9"/>
          <p:cNvSpPr/>
          <p:nvPr/>
        </p:nvSpPr>
        <p:spPr>
          <a:xfrm>
            <a:off x="5532120" y="2606040"/>
            <a:ext cx="384048" cy="384048"/>
          </a:xfrm>
          <a:prstGeom prst="ellipse">
            <a:avLst/>
          </a:prstGeom>
          <a:solidFill>
            <a:srgbClr val="2251FF"/>
          </a:solidFill>
          <a:ln w="12700">
            <a:solidFill>
              <a:srgbClr val="2251FF"/>
            </a:solidFill>
            <a:prstDash val="solid"/>
          </a:ln>
        </p:spPr>
      </p:sp>
      <p:sp>
        <p:nvSpPr>
          <p:cNvPr id="112" name="Text 10"/>
          <p:cNvSpPr txBox="1"/>
          <p:nvPr/>
        </p:nvSpPr>
        <p:spPr>
          <a:xfrm>
            <a:off x="5532120" y="2606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3" name="Text 11"/>
          <p:cNvSpPr txBox="1"/>
          <p:nvPr/>
        </p:nvSpPr>
        <p:spPr>
          <a:xfrm>
            <a:off x="6080760" y="2587752"/>
            <a:ext cx="5303520" cy="256032"/>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Search</a:t>
            </a:r>
            <a:endParaRPr lang="en-US" sz="1300" dirty="0"/>
          </a:p>
        </p:txBody>
      </p:sp>
      <p:sp>
        <p:nvSpPr>
          <p:cNvPr id="114" name="Text 12"/>
          <p:cNvSpPr txBox="1"/>
          <p:nvPr/>
        </p:nvSpPr>
        <p:spPr>
          <a:xfrm>
            <a:off x="6080760" y="2852928"/>
            <a:ext cx="5303520" cy="384048"/>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Looks up the watch on Chrono24</a:t>
            </a:r>
            <a:endParaRPr lang="en-US" sz="1200" dirty="0"/>
          </a:p>
        </p:txBody>
      </p:sp>
      <p:sp>
        <p:nvSpPr>
          <p:cNvPr id="115" name="Shape 13"/>
          <p:cNvSpPr/>
          <p:nvPr/>
        </p:nvSpPr>
        <p:spPr>
          <a:xfrm>
            <a:off x="5532120" y="3282696"/>
            <a:ext cx="384048" cy="384048"/>
          </a:xfrm>
          <a:prstGeom prst="ellipse">
            <a:avLst/>
          </a:prstGeom>
          <a:solidFill>
            <a:srgbClr val="2251FF"/>
          </a:solidFill>
          <a:ln w="12700">
            <a:solidFill>
              <a:srgbClr val="2251FF"/>
            </a:solidFill>
            <a:prstDash val="solid"/>
          </a:ln>
        </p:spPr>
      </p:sp>
      <p:sp>
        <p:nvSpPr>
          <p:cNvPr id="116" name="Text 14"/>
          <p:cNvSpPr txBox="1"/>
          <p:nvPr/>
        </p:nvSpPr>
        <p:spPr>
          <a:xfrm>
            <a:off x="553212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7" name="Text 15"/>
          <p:cNvSpPr txBox="1"/>
          <p:nvPr/>
        </p:nvSpPr>
        <p:spPr>
          <a:xfrm>
            <a:off x="6080760" y="3264408"/>
            <a:ext cx="5303520" cy="256032"/>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Hand in</a:t>
            </a:r>
            <a:endParaRPr lang="en-US" sz="1300" dirty="0"/>
          </a:p>
        </p:txBody>
      </p:sp>
      <p:sp>
        <p:nvSpPr>
          <p:cNvPr id="118" name="Text 16"/>
          <p:cNvSpPr txBox="1"/>
          <p:nvPr/>
        </p:nvSpPr>
        <p:spPr>
          <a:xfrm>
            <a:off x="6080760" y="3529584"/>
            <a:ext cx="5303520" cy="384048"/>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Offers 3 listings; 2 rejected: quoted text not on the page</a:t>
            </a:r>
            <a:endParaRPr lang="en-US" sz="1200" dirty="0"/>
          </a:p>
        </p:txBody>
      </p:sp>
      <p:sp>
        <p:nvSpPr>
          <p:cNvPr id="119" name="Shape 17"/>
          <p:cNvSpPr/>
          <p:nvPr/>
        </p:nvSpPr>
        <p:spPr>
          <a:xfrm>
            <a:off x="5532120" y="3959352"/>
            <a:ext cx="384048" cy="384048"/>
          </a:xfrm>
          <a:prstGeom prst="ellipse">
            <a:avLst/>
          </a:prstGeom>
          <a:solidFill>
            <a:srgbClr val="2251FF"/>
          </a:solidFill>
          <a:ln w="12700">
            <a:solidFill>
              <a:srgbClr val="2251FF"/>
            </a:solidFill>
            <a:prstDash val="solid"/>
          </a:ln>
        </p:spPr>
      </p:sp>
      <p:sp>
        <p:nvSpPr>
          <p:cNvPr id="120" name="Text 18"/>
          <p:cNvSpPr txBox="1"/>
          <p:nvPr/>
        </p:nvSpPr>
        <p:spPr>
          <a:xfrm>
            <a:off x="5532120" y="3959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21" name="Text 19"/>
          <p:cNvSpPr txBox="1"/>
          <p:nvPr/>
        </p:nvSpPr>
        <p:spPr>
          <a:xfrm>
            <a:off x="6080760" y="3941064"/>
            <a:ext cx="5303520" cy="256032"/>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Adjust</a:t>
            </a:r>
            <a:endParaRPr lang="en-US" sz="1300" dirty="0"/>
          </a:p>
        </p:txBody>
      </p:sp>
      <p:sp>
        <p:nvSpPr>
          <p:cNvPr id="122" name="Text 20"/>
          <p:cNvSpPr txBox="1"/>
          <p:nvPr/>
        </p:nvSpPr>
        <p:spPr>
          <a:xfrm>
            <a:off x="6080760" y="4206240"/>
            <a:ext cx="5303520" cy="384048"/>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Searches again using the exact reference number</a:t>
            </a:r>
            <a:endParaRPr lang="en-US" sz="1200" dirty="0"/>
          </a:p>
        </p:txBody>
      </p:sp>
      <p:sp>
        <p:nvSpPr>
          <p:cNvPr id="123" name="Shape 21"/>
          <p:cNvSpPr/>
          <p:nvPr/>
        </p:nvSpPr>
        <p:spPr>
          <a:xfrm>
            <a:off x="5532120" y="4636008"/>
            <a:ext cx="384048" cy="384048"/>
          </a:xfrm>
          <a:prstGeom prst="ellipse">
            <a:avLst/>
          </a:prstGeom>
          <a:solidFill>
            <a:srgbClr val="2251FF"/>
          </a:solidFill>
          <a:ln w="12700">
            <a:solidFill>
              <a:srgbClr val="2251FF"/>
            </a:solidFill>
            <a:prstDash val="solid"/>
          </a:ln>
        </p:spPr>
      </p:sp>
      <p:sp>
        <p:nvSpPr>
          <p:cNvPr id="124" name="Text 22"/>
          <p:cNvSpPr txBox="1"/>
          <p:nvPr/>
        </p:nvSpPr>
        <p:spPr>
          <a:xfrm>
            <a:off x="553212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25" name="Text 23"/>
          <p:cNvSpPr txBox="1"/>
          <p:nvPr/>
        </p:nvSpPr>
        <p:spPr>
          <a:xfrm>
            <a:off x="6080760" y="4617720"/>
            <a:ext cx="5303520" cy="256032"/>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Hand in</a:t>
            </a:r>
            <a:endParaRPr lang="en-US" sz="1300" dirty="0"/>
          </a:p>
        </p:txBody>
      </p:sp>
      <p:sp>
        <p:nvSpPr>
          <p:cNvPr id="126" name="Text 24"/>
          <p:cNvSpPr txBox="1"/>
          <p:nvPr/>
        </p:nvSpPr>
        <p:spPr>
          <a:xfrm>
            <a:off x="6080760" y="4882896"/>
            <a:ext cx="5303520" cy="384048"/>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3 listings accepted; the middle price, $6,740, is recorded</a:t>
            </a:r>
            <a:endParaRPr lang="en-US" sz="1200" dirty="0"/>
          </a:p>
        </p:txBody>
      </p:sp>
      <p:sp>
        <p:nvSpPr>
          <p:cNvPr id="127" name="Shape 25"/>
          <p:cNvSpPr/>
          <p:nvPr/>
        </p:nvSpPr>
        <p:spPr>
          <a:xfrm>
            <a:off x="5532120" y="5312664"/>
            <a:ext cx="384048" cy="384048"/>
          </a:xfrm>
          <a:prstGeom prst="ellipse">
            <a:avLst/>
          </a:prstGeom>
          <a:solidFill>
            <a:srgbClr val="2251FF"/>
          </a:solidFill>
          <a:ln w="12700">
            <a:solidFill>
              <a:srgbClr val="2251FF"/>
            </a:solidFill>
            <a:prstDash val="solid"/>
          </a:ln>
        </p:spPr>
      </p:sp>
      <p:sp>
        <p:nvSpPr>
          <p:cNvPr id="128" name="Text 26"/>
          <p:cNvSpPr txBox="1"/>
          <p:nvPr/>
        </p:nvSpPr>
        <p:spPr>
          <a:xfrm>
            <a:off x="5532120" y="5312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29" name="Text 27"/>
          <p:cNvSpPr txBox="1"/>
          <p:nvPr/>
        </p:nvSpPr>
        <p:spPr>
          <a:xfrm>
            <a:off x="6080760" y="5294376"/>
            <a:ext cx="5303520" cy="256032"/>
          </a:xfrm>
          <a:prstGeom prst="rect">
            <a:avLst/>
          </a:prstGeom>
          <a:noFill/>
          <a:ln/>
        </p:spPr>
        <p:txBody>
          <a:bodyPr wrap="square" lIns="0" tIns="0" rIns="0" bIns="0" rtlCol="0" anchor="t"/>
          <a:lstStyle/>
          <a:p>
            <a:pPr indent="0" marL="0">
              <a:buNone/>
            </a:pPr>
            <a:r>
              <a:rPr lang="en-US" sz="1300" b="1" dirty="0">
                <a:solidFill>
                  <a:srgbClr val="051C2C"/>
                </a:solidFill>
                <a:latin typeface="Arial" pitchFamily="34" charset="0"/>
                <a:ea typeface="Arial" pitchFamily="34" charset="-122"/>
                <a:cs typeface="Arial" pitchFamily="34" charset="-120"/>
              </a:rPr>
              <a:t>Remember</a:t>
            </a:r>
            <a:endParaRPr lang="en-US" sz="1300" dirty="0"/>
          </a:p>
        </p:txBody>
      </p:sp>
      <p:sp>
        <p:nvSpPr>
          <p:cNvPr id="130" name="Text 28"/>
          <p:cNvSpPr txBox="1"/>
          <p:nvPr/>
        </p:nvSpPr>
        <p:spPr>
          <a:xfrm>
            <a:off x="6080760" y="5559552"/>
            <a:ext cx="5303520" cy="384048"/>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Saves a tip for next time. Result: BUY, 3.7% under target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28600"/>
          </a:xfrm>
          <a:prstGeom prst="rect">
            <a:avLst/>
          </a:prstGeom>
          <a:noFill/>
          <a:ln/>
        </p:spPr>
        <p:txBody>
          <a:bodyPr wrap="square" lIns="0" tIns="0" rIns="0" bIns="0" rtlCol="0" anchor="t"/>
          <a:lstStyle/>
          <a:p>
            <a:pPr indent="0" marL="0">
              <a:buNone/>
            </a:pPr>
            <a:r>
              <a:rPr lang="en-US" sz="1000" b="1" spc="200" kern="0" dirty="0">
                <a:solidFill>
                  <a:srgbClr val="2251FF"/>
                </a:solidFill>
                <a:latin typeface="Arial" pitchFamily="34" charset="0"/>
                <a:ea typeface="Arial" pitchFamily="34" charset="-122"/>
                <a:cs typeface="Arial" pitchFamily="34" charset="-120"/>
              </a:rPr>
              <a:t>HOW EACH PART WORKS</a:t>
            </a:r>
            <a:endParaRPr lang="en-US" sz="1000" dirty="0"/>
          </a:p>
        </p:txBody>
      </p:sp>
      <p:sp>
        <p:nvSpPr>
          <p:cNvPr id="3" name="Text 1"/>
          <p:cNvSpPr txBox="1"/>
          <p:nvPr/>
        </p:nvSpPr>
        <p:spPr>
          <a:xfrm>
            <a:off x="548640" y="594360"/>
            <a:ext cx="11064240" cy="914400"/>
          </a:xfrm>
          <a:prstGeom prst="rect">
            <a:avLst/>
          </a:prstGeom>
          <a:noFill/>
          <a:ln/>
        </p:spPr>
        <p:txBody>
          <a:bodyPr wrap="square" lIns="0" tIns="0" rIns="0" bIns="0" rtlCol="0" anchor="t"/>
          <a:lstStyle/>
          <a:p>
            <a:pPr indent="0" marL="0">
              <a:buNone/>
            </a:pPr>
            <a:r>
              <a:rPr lang="en-US" sz="2600" b="1" dirty="0">
                <a:solidFill>
                  <a:srgbClr val="051C2C"/>
                </a:solidFill>
                <a:latin typeface="Georgia" pitchFamily="34" charset="0"/>
                <a:ea typeface="Georgia" pitchFamily="34" charset="-122"/>
                <a:cs typeface="Georgia" pitchFamily="34" charset="-120"/>
              </a:rPr>
              <a:t>Five parts make up WatchAgent: three do the work, and two keep that work honest</a:t>
            </a:r>
            <a:endParaRPr lang="en-US" sz="2600" dirty="0"/>
          </a:p>
        </p:txBody>
      </p:sp>
      <p:sp>
        <p:nvSpPr>
          <p:cNvPr id="4" name="Text 2"/>
          <p:cNvSpPr txBox="1"/>
          <p:nvPr/>
        </p:nvSpPr>
        <p:spPr>
          <a:xfrm>
            <a:off x="548640" y="6400800"/>
            <a:ext cx="100584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Source: watchagent/cli.py, agent.py, bot.py, tools.py (commit 49bd438); names match the architecture diagram</a:t>
            </a:r>
            <a:endParaRPr lang="en-US" sz="900" dirty="0"/>
          </a:p>
        </p:txBody>
      </p:sp>
      <p:sp>
        <p:nvSpPr>
          <p:cNvPr id="5" name="Text 3"/>
          <p:cNvSpPr txBox="1"/>
          <p:nvPr/>
        </p:nvSpPr>
        <p:spPr>
          <a:xfrm>
            <a:off x="11155680" y="6400800"/>
            <a:ext cx="484632"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9</a:t>
            </a:r>
            <a:endParaRPr lang="en-US" sz="900" dirty="0"/>
          </a:p>
        </p:txBody>
      </p:sp>
      <p:sp>
        <p:nvSpPr>
          <p:cNvPr id="102" name="Text 0"/>
          <p:cNvSpPr txBox="1"/>
          <p:nvPr/>
        </p:nvSpPr>
        <p:spPr>
          <a:xfrm>
            <a:off x="548640" y="1691640"/>
            <a:ext cx="5486400" cy="228600"/>
          </a:xfrm>
          <a:prstGeom prst="rect">
            <a:avLst/>
          </a:prstGeom>
          <a:noFill/>
          <a:ln/>
        </p:spPr>
        <p:txBody>
          <a:bodyPr wrap="square" lIns="0" tIns="0" rIns="0" bIns="0" rtlCol="0" anchor="t"/>
          <a:lstStyle/>
          <a:p>
            <a:pPr indent="0" marL="0">
              <a:buNone/>
            </a:pPr>
            <a:r>
              <a:rPr lang="en-US" sz="1000" b="1" spc="200" kern="0" dirty="0">
                <a:solidFill>
                  <a:srgbClr val="6B7280"/>
                </a:solidFill>
                <a:latin typeface="Arial" pitchFamily="34" charset="0"/>
                <a:ea typeface="Arial" pitchFamily="34" charset="-122"/>
                <a:cs typeface="Arial" pitchFamily="34" charset="-120"/>
              </a:rPr>
              <a:t>DOING THE WORK</a:t>
            </a:r>
            <a:endParaRPr lang="en-US" sz="1000" dirty="0"/>
          </a:p>
        </p:txBody>
      </p:sp>
      <p:sp>
        <p:nvSpPr>
          <p:cNvPr id="103" name="Shape 1"/>
          <p:cNvSpPr/>
          <p:nvPr/>
        </p:nvSpPr>
        <p:spPr>
          <a:xfrm>
            <a:off x="548640" y="1965960"/>
            <a:ext cx="3544824" cy="1874520"/>
          </a:xfrm>
          <a:prstGeom prst="rect">
            <a:avLst/>
          </a:prstGeom>
          <a:solidFill>
            <a:srgbClr val="F2F4F7"/>
          </a:solidFill>
          <a:ln w="12700">
            <a:solidFill>
              <a:srgbClr val="F2F4F7"/>
            </a:solidFill>
            <a:prstDash val="solid"/>
          </a:ln>
        </p:spPr>
      </p:sp>
      <p:sp>
        <p:nvSpPr>
          <p:cNvPr id="104" name="Text 2"/>
          <p:cNvSpPr txBox="1"/>
          <p:nvPr/>
        </p:nvSpPr>
        <p:spPr>
          <a:xfrm>
            <a:off x="777240" y="2148840"/>
            <a:ext cx="3087624" cy="320040"/>
          </a:xfrm>
          <a:prstGeom prst="rect">
            <a:avLst/>
          </a:prstGeom>
          <a:noFill/>
          <a:ln/>
        </p:spPr>
        <p:txBody>
          <a:bodyPr wrap="square" lIns="0" tIns="0" rIns="0" bIns="0" rtlCol="0" anchor="t"/>
          <a:lstStyle/>
          <a:p>
            <a:pPr indent="0" marL="0">
              <a:buNone/>
            </a:pPr>
            <a:r>
              <a:rPr lang="en-US" sz="1600" b="1" dirty="0">
                <a:solidFill>
                  <a:srgbClr val="051C2C"/>
                </a:solidFill>
                <a:latin typeface="Georgia" pitchFamily="34" charset="0"/>
                <a:ea typeface="Georgia" pitchFamily="34" charset="-122"/>
                <a:cs typeface="Georgia" pitchFamily="34" charset="-120"/>
              </a:rPr>
              <a:t>watchagent check</a:t>
            </a:r>
            <a:endParaRPr lang="en-US" sz="1600" dirty="0"/>
          </a:p>
        </p:txBody>
      </p:sp>
      <p:sp>
        <p:nvSpPr>
          <p:cNvPr id="105" name="Text 3"/>
          <p:cNvSpPr txBox="1"/>
          <p:nvPr/>
        </p:nvSpPr>
        <p:spPr>
          <a:xfrm>
            <a:off x="777240" y="2496312"/>
            <a:ext cx="3087624" cy="228600"/>
          </a:xfrm>
          <a:prstGeom prst="rect">
            <a:avLst/>
          </a:prstGeom>
          <a:noFill/>
          <a:ln/>
        </p:spPr>
        <p:txBody>
          <a:bodyPr wrap="square" lIns="0" tIns="0" rIns="0" bIns="0" rtlCol="0" anchor="t"/>
          <a:lstStyle/>
          <a:p>
            <a:pPr indent="0" marL="0">
              <a:buNone/>
            </a:pPr>
            <a:r>
              <a:rPr lang="en-US" sz="1100" b="1" dirty="0">
                <a:solidFill>
                  <a:srgbClr val="2251FF"/>
                </a:solidFill>
                <a:latin typeface="Arial" pitchFamily="34" charset="0"/>
                <a:ea typeface="Arial" pitchFamily="34" charset="-122"/>
                <a:cs typeface="Arial" pitchFamily="34" charset="-120"/>
              </a:rPr>
              <a:t>The scheduler</a:t>
            </a:r>
            <a:endParaRPr lang="en-US" sz="1100" dirty="0"/>
          </a:p>
        </p:txBody>
      </p:sp>
      <p:sp>
        <p:nvSpPr>
          <p:cNvPr id="106" name="Text 4"/>
          <p:cNvSpPr txBox="1"/>
          <p:nvPr/>
        </p:nvSpPr>
        <p:spPr>
          <a:xfrm>
            <a:off x="777240" y="2807208"/>
            <a:ext cx="3087624" cy="89611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Every 6 hours, checks the watches not seen for longest, three at a time, and flags good buys on Telegram.</a:t>
            </a:r>
            <a:endParaRPr lang="en-US" sz="1200" dirty="0"/>
          </a:p>
        </p:txBody>
      </p:sp>
      <p:sp>
        <p:nvSpPr>
          <p:cNvPr id="107" name="Shape 5"/>
          <p:cNvSpPr/>
          <p:nvPr/>
        </p:nvSpPr>
        <p:spPr>
          <a:xfrm>
            <a:off x="4322064" y="1965960"/>
            <a:ext cx="3544824" cy="1874520"/>
          </a:xfrm>
          <a:prstGeom prst="rect">
            <a:avLst/>
          </a:prstGeom>
          <a:solidFill>
            <a:srgbClr val="F2F4F7"/>
          </a:solidFill>
          <a:ln w="12700">
            <a:solidFill>
              <a:srgbClr val="F2F4F7"/>
            </a:solidFill>
            <a:prstDash val="solid"/>
          </a:ln>
        </p:spPr>
      </p:sp>
      <p:sp>
        <p:nvSpPr>
          <p:cNvPr id="108" name="Text 6"/>
          <p:cNvSpPr txBox="1"/>
          <p:nvPr/>
        </p:nvSpPr>
        <p:spPr>
          <a:xfrm>
            <a:off x="4550664" y="2148840"/>
            <a:ext cx="3087624" cy="320040"/>
          </a:xfrm>
          <a:prstGeom prst="rect">
            <a:avLst/>
          </a:prstGeom>
          <a:noFill/>
          <a:ln/>
        </p:spPr>
        <p:txBody>
          <a:bodyPr wrap="square" lIns="0" tIns="0" rIns="0" bIns="0" rtlCol="0" anchor="t"/>
          <a:lstStyle/>
          <a:p>
            <a:pPr indent="0" marL="0">
              <a:buNone/>
            </a:pPr>
            <a:r>
              <a:rPr lang="en-US" sz="1600" b="1" dirty="0">
                <a:solidFill>
                  <a:srgbClr val="051C2C"/>
                </a:solidFill>
                <a:latin typeface="Georgia" pitchFamily="34" charset="0"/>
                <a:ea typeface="Georgia" pitchFamily="34" charset="-122"/>
                <a:cs typeface="Georgia" pitchFamily="34" charset="-120"/>
              </a:rPr>
              <a:t>Research agent</a:t>
            </a:r>
            <a:endParaRPr lang="en-US" sz="1600" dirty="0"/>
          </a:p>
        </p:txBody>
      </p:sp>
      <p:sp>
        <p:nvSpPr>
          <p:cNvPr id="109" name="Text 7"/>
          <p:cNvSpPr txBox="1"/>
          <p:nvPr/>
        </p:nvSpPr>
        <p:spPr>
          <a:xfrm>
            <a:off x="4550664" y="2496312"/>
            <a:ext cx="3087624" cy="228600"/>
          </a:xfrm>
          <a:prstGeom prst="rect">
            <a:avLst/>
          </a:prstGeom>
          <a:noFill/>
          <a:ln/>
        </p:spPr>
        <p:txBody>
          <a:bodyPr wrap="square" lIns="0" tIns="0" rIns="0" bIns="0" rtlCol="0" anchor="t"/>
          <a:lstStyle/>
          <a:p>
            <a:pPr indent="0" marL="0">
              <a:buNone/>
            </a:pPr>
            <a:r>
              <a:rPr lang="en-US" sz="1100" b="1" dirty="0">
                <a:solidFill>
                  <a:srgbClr val="2251FF"/>
                </a:solidFill>
                <a:latin typeface="Arial" pitchFamily="34" charset="0"/>
                <a:ea typeface="Arial" pitchFamily="34" charset="-122"/>
                <a:cs typeface="Arial" pitchFamily="34" charset="-120"/>
              </a:rPr>
              <a:t>The researcher (AI)</a:t>
            </a:r>
            <a:endParaRPr lang="en-US" sz="1100" dirty="0"/>
          </a:p>
        </p:txBody>
      </p:sp>
      <p:sp>
        <p:nvSpPr>
          <p:cNvPr id="110" name="Text 8"/>
          <p:cNvSpPr txBox="1"/>
          <p:nvPr/>
        </p:nvSpPr>
        <p:spPr>
          <a:xfrm>
            <a:off x="4550664" y="2807208"/>
            <a:ext cx="3087624" cy="89611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Searches the web, opens listings and hands in what it finds, trying again until 3 listings of the exact watch are accepted.</a:t>
            </a:r>
            <a:endParaRPr lang="en-US" sz="1200" dirty="0"/>
          </a:p>
        </p:txBody>
      </p:sp>
      <p:sp>
        <p:nvSpPr>
          <p:cNvPr id="111" name="Shape 9"/>
          <p:cNvSpPr/>
          <p:nvPr/>
        </p:nvSpPr>
        <p:spPr>
          <a:xfrm>
            <a:off x="8095488" y="1965960"/>
            <a:ext cx="3544824" cy="1874520"/>
          </a:xfrm>
          <a:prstGeom prst="rect">
            <a:avLst/>
          </a:prstGeom>
          <a:solidFill>
            <a:srgbClr val="F2F4F7"/>
          </a:solidFill>
          <a:ln w="12700">
            <a:solidFill>
              <a:srgbClr val="F2F4F7"/>
            </a:solidFill>
            <a:prstDash val="solid"/>
          </a:ln>
        </p:spPr>
      </p:sp>
      <p:sp>
        <p:nvSpPr>
          <p:cNvPr id="112" name="Text 10"/>
          <p:cNvSpPr txBox="1"/>
          <p:nvPr/>
        </p:nvSpPr>
        <p:spPr>
          <a:xfrm>
            <a:off x="8324088" y="2148840"/>
            <a:ext cx="3087624" cy="320040"/>
          </a:xfrm>
          <a:prstGeom prst="rect">
            <a:avLst/>
          </a:prstGeom>
          <a:noFill/>
          <a:ln/>
        </p:spPr>
        <p:txBody>
          <a:bodyPr wrap="square" lIns="0" tIns="0" rIns="0" bIns="0" rtlCol="0" anchor="t"/>
          <a:lstStyle/>
          <a:p>
            <a:pPr indent="0" marL="0">
              <a:buNone/>
            </a:pPr>
            <a:r>
              <a:rPr lang="en-US" sz="1600" b="1" dirty="0">
                <a:solidFill>
                  <a:srgbClr val="051C2C"/>
                </a:solidFill>
                <a:latin typeface="Georgia" pitchFamily="34" charset="0"/>
                <a:ea typeface="Georgia" pitchFamily="34" charset="-122"/>
                <a:cs typeface="Georgia" pitchFamily="34" charset="-120"/>
              </a:rPr>
              <a:t>Telegram assistant</a:t>
            </a:r>
            <a:endParaRPr lang="en-US" sz="1600" dirty="0"/>
          </a:p>
        </p:txBody>
      </p:sp>
      <p:sp>
        <p:nvSpPr>
          <p:cNvPr id="113" name="Text 11"/>
          <p:cNvSpPr txBox="1"/>
          <p:nvPr/>
        </p:nvSpPr>
        <p:spPr>
          <a:xfrm>
            <a:off x="8324088" y="2496312"/>
            <a:ext cx="3087624" cy="228600"/>
          </a:xfrm>
          <a:prstGeom prst="rect">
            <a:avLst/>
          </a:prstGeom>
          <a:noFill/>
          <a:ln/>
        </p:spPr>
        <p:txBody>
          <a:bodyPr wrap="square" lIns="0" tIns="0" rIns="0" bIns="0" rtlCol="0" anchor="t"/>
          <a:lstStyle/>
          <a:p>
            <a:pPr indent="0" marL="0">
              <a:buNone/>
            </a:pPr>
            <a:r>
              <a:rPr lang="en-US" sz="1100" b="1" dirty="0">
                <a:solidFill>
                  <a:srgbClr val="2251FF"/>
                </a:solidFill>
                <a:latin typeface="Arial" pitchFamily="34" charset="0"/>
                <a:ea typeface="Arial" pitchFamily="34" charset="-122"/>
                <a:cs typeface="Arial" pitchFamily="34" charset="-120"/>
              </a:rPr>
              <a:t>Your chat window (AI)</a:t>
            </a:r>
            <a:endParaRPr lang="en-US" sz="1100" dirty="0"/>
          </a:p>
        </p:txBody>
      </p:sp>
      <p:sp>
        <p:nvSpPr>
          <p:cNvPr id="114" name="Text 12"/>
          <p:cNvSpPr txBox="1"/>
          <p:nvPr/>
        </p:nvSpPr>
        <p:spPr>
          <a:xfrm>
            <a:off x="8324088" y="2807208"/>
            <a:ext cx="3087624" cy="896112"/>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Answers questions in plain chat and can run a fresh check. It can only suggest changes; nothing happens until you tap Confirm.</a:t>
            </a:r>
            <a:endParaRPr lang="en-US" sz="1200" dirty="0"/>
          </a:p>
        </p:txBody>
      </p:sp>
      <p:sp>
        <p:nvSpPr>
          <p:cNvPr id="115" name="Text 13"/>
          <p:cNvSpPr txBox="1"/>
          <p:nvPr/>
        </p:nvSpPr>
        <p:spPr>
          <a:xfrm>
            <a:off x="548640" y="4023360"/>
            <a:ext cx="5486400" cy="228600"/>
          </a:xfrm>
          <a:prstGeom prst="rect">
            <a:avLst/>
          </a:prstGeom>
          <a:noFill/>
          <a:ln/>
        </p:spPr>
        <p:txBody>
          <a:bodyPr wrap="square" lIns="0" tIns="0" rIns="0" bIns="0" rtlCol="0" anchor="t"/>
          <a:lstStyle/>
          <a:p>
            <a:pPr indent="0" marL="0">
              <a:buNone/>
            </a:pPr>
            <a:r>
              <a:rPr lang="en-US" sz="1000" b="1" spc="200" kern="0" dirty="0">
                <a:solidFill>
                  <a:srgbClr val="6B7280"/>
                </a:solidFill>
                <a:latin typeface="Arial" pitchFamily="34" charset="0"/>
                <a:ea typeface="Arial" pitchFamily="34" charset="-122"/>
                <a:cs typeface="Arial" pitchFamily="34" charset="-120"/>
              </a:rPr>
              <a:t>KEEPING IT SAFE</a:t>
            </a:r>
            <a:endParaRPr lang="en-US" sz="1000" dirty="0"/>
          </a:p>
        </p:txBody>
      </p:sp>
      <p:sp>
        <p:nvSpPr>
          <p:cNvPr id="116" name="Shape 14"/>
          <p:cNvSpPr/>
          <p:nvPr/>
        </p:nvSpPr>
        <p:spPr>
          <a:xfrm>
            <a:off x="548640" y="4297680"/>
            <a:ext cx="5431536" cy="1828800"/>
          </a:xfrm>
          <a:prstGeom prst="rect">
            <a:avLst/>
          </a:prstGeom>
          <a:solidFill>
            <a:srgbClr val="051C2C"/>
          </a:solidFill>
          <a:ln w="12700">
            <a:solidFill>
              <a:srgbClr val="051C2C"/>
            </a:solidFill>
            <a:prstDash val="solid"/>
          </a:ln>
        </p:spPr>
      </p:sp>
      <p:sp>
        <p:nvSpPr>
          <p:cNvPr id="117" name="Text 15"/>
          <p:cNvSpPr txBox="1"/>
          <p:nvPr/>
        </p:nvSpPr>
        <p:spPr>
          <a:xfrm>
            <a:off x="777240" y="4480560"/>
            <a:ext cx="4974336" cy="320040"/>
          </a:xfrm>
          <a:prstGeom prst="rect">
            <a:avLst/>
          </a:prstGeom>
          <a:noFill/>
          <a:ln/>
        </p:spPr>
        <p:txBody>
          <a:bodyPr wrap="square" lIns="0" tIns="0" rIns="0" bIns="0" rtlCol="0" anchor="t"/>
          <a:lstStyle/>
          <a:p>
            <a:pPr indent="0" marL="0">
              <a:buNone/>
            </a:pPr>
            <a:r>
              <a:rPr lang="en-US" sz="1600" b="1" dirty="0">
                <a:solidFill>
                  <a:srgbClr val="FFFFFF"/>
                </a:solidFill>
                <a:latin typeface="Georgia" pitchFamily="34" charset="0"/>
                <a:ea typeface="Georgia" pitchFamily="34" charset="-122"/>
                <a:cs typeface="Georgia" pitchFamily="34" charset="-120"/>
              </a:rPr>
              <a:t>Listing checks</a:t>
            </a:r>
            <a:endParaRPr lang="en-US" sz="1600" dirty="0"/>
          </a:p>
        </p:txBody>
      </p:sp>
      <p:sp>
        <p:nvSpPr>
          <p:cNvPr id="118" name="Text 16"/>
          <p:cNvSpPr txBox="1"/>
          <p:nvPr/>
        </p:nvSpPr>
        <p:spPr>
          <a:xfrm>
            <a:off x="777240" y="4828032"/>
            <a:ext cx="4974336" cy="228600"/>
          </a:xfrm>
          <a:prstGeom prst="rect">
            <a:avLst/>
          </a:prstGeom>
          <a:noFill/>
          <a:ln/>
        </p:spPr>
        <p:txBody>
          <a:bodyPr wrap="square" lIns="0" tIns="0" rIns="0" bIns="0" rtlCol="0" anchor="t"/>
          <a:lstStyle/>
          <a:p>
            <a:pPr indent="0" marL="0">
              <a:buNone/>
            </a:pPr>
            <a:r>
              <a:rPr lang="en-US" sz="1100" b="1" dirty="0">
                <a:solidFill>
                  <a:srgbClr val="8FB0FF"/>
                </a:solidFill>
                <a:latin typeface="Arial" pitchFamily="34" charset="0"/>
                <a:ea typeface="Arial" pitchFamily="34" charset="-122"/>
                <a:cs typeface="Arial" pitchFamily="34" charset="-120"/>
              </a:rPr>
              <a:t>The fact-checker (plain code, no AI)</a:t>
            </a:r>
            <a:endParaRPr lang="en-US" sz="1100" dirty="0"/>
          </a:p>
        </p:txBody>
      </p:sp>
      <p:sp>
        <p:nvSpPr>
          <p:cNvPr id="119" name="Text 17"/>
          <p:cNvSpPr txBox="1"/>
          <p:nvPr/>
        </p:nvSpPr>
        <p:spPr>
          <a:xfrm>
            <a:off x="777240" y="5138928"/>
            <a:ext cx="4974336" cy="850392"/>
          </a:xfrm>
          <a:prstGeom prst="rect">
            <a:avLst/>
          </a:prstGeom>
          <a:noFill/>
          <a:ln/>
        </p:spPr>
        <p:txBody>
          <a:bodyPr wrap="square" lIns="0" tIns="0" rIns="0" bIns="0" rtlCol="0" anchor="t"/>
          <a:lstStyle/>
          <a:p>
            <a:pPr indent="0" marL="0">
              <a:buNone/>
            </a:pPr>
            <a:r>
              <a:rPr lang="en-US" sz="1200" dirty="0">
                <a:solidFill>
                  <a:srgbClr val="DDE6FA"/>
                </a:solidFill>
                <a:latin typeface="Arial" pitchFamily="34" charset="0"/>
                <a:ea typeface="Arial" pitchFamily="34" charset="-122"/>
                <a:cs typeface="Arial" pitchFamily="34" charset="-120"/>
              </a:rPr>
              <a:t>Accepts a listing only if its price is really on the page, for the exact reference, and not far off the others. The middle of three or more prices is recorded, and BUY / WAIT / OVERPRICED is simple arithmetic.</a:t>
            </a:r>
            <a:endParaRPr lang="en-US" sz="1200" dirty="0"/>
          </a:p>
        </p:txBody>
      </p:sp>
      <p:sp>
        <p:nvSpPr>
          <p:cNvPr id="120" name="Shape 18"/>
          <p:cNvSpPr/>
          <p:nvPr/>
        </p:nvSpPr>
        <p:spPr>
          <a:xfrm>
            <a:off x="6208776" y="4297680"/>
            <a:ext cx="5431536" cy="1828800"/>
          </a:xfrm>
          <a:prstGeom prst="rect">
            <a:avLst/>
          </a:prstGeom>
          <a:solidFill>
            <a:srgbClr val="051C2C"/>
          </a:solidFill>
          <a:ln w="12700">
            <a:solidFill>
              <a:srgbClr val="051C2C"/>
            </a:solidFill>
            <a:prstDash val="solid"/>
          </a:ln>
        </p:spPr>
      </p:sp>
      <p:sp>
        <p:nvSpPr>
          <p:cNvPr id="121" name="Text 19"/>
          <p:cNvSpPr txBox="1"/>
          <p:nvPr/>
        </p:nvSpPr>
        <p:spPr>
          <a:xfrm>
            <a:off x="6437376" y="4480560"/>
            <a:ext cx="4974336" cy="320040"/>
          </a:xfrm>
          <a:prstGeom prst="rect">
            <a:avLst/>
          </a:prstGeom>
          <a:noFill/>
          <a:ln/>
        </p:spPr>
        <p:txBody>
          <a:bodyPr wrap="square" lIns="0" tIns="0" rIns="0" bIns="0" rtlCol="0" anchor="t"/>
          <a:lstStyle/>
          <a:p>
            <a:pPr indent="0" marL="0">
              <a:buNone/>
            </a:pPr>
            <a:r>
              <a:rPr lang="en-US" sz="1600" b="1" dirty="0">
                <a:solidFill>
                  <a:srgbClr val="FFFFFF"/>
                </a:solidFill>
                <a:latin typeface="Georgia" pitchFamily="34" charset="0"/>
                <a:ea typeface="Georgia" pitchFamily="34" charset="-122"/>
                <a:cs typeface="Georgia" pitchFamily="34" charset="-120"/>
              </a:rPr>
              <a:t>Model middleware</a:t>
            </a:r>
            <a:endParaRPr lang="en-US" sz="1600" dirty="0"/>
          </a:p>
        </p:txBody>
      </p:sp>
      <p:sp>
        <p:nvSpPr>
          <p:cNvPr id="122" name="Text 20"/>
          <p:cNvSpPr txBox="1"/>
          <p:nvPr/>
        </p:nvSpPr>
        <p:spPr>
          <a:xfrm>
            <a:off x="6437376" y="4828032"/>
            <a:ext cx="4974336" cy="228600"/>
          </a:xfrm>
          <a:prstGeom prst="rect">
            <a:avLst/>
          </a:prstGeom>
          <a:noFill/>
          <a:ln/>
        </p:spPr>
        <p:txBody>
          <a:bodyPr wrap="square" lIns="0" tIns="0" rIns="0" bIns="0" rtlCol="0" anchor="t"/>
          <a:lstStyle/>
          <a:p>
            <a:pPr indent="0" marL="0">
              <a:buNone/>
            </a:pPr>
            <a:r>
              <a:rPr lang="en-US" sz="1100" b="1" dirty="0">
                <a:solidFill>
                  <a:srgbClr val="8FB0FF"/>
                </a:solidFill>
                <a:latin typeface="Arial" pitchFamily="34" charset="0"/>
                <a:ea typeface="Arial" pitchFamily="34" charset="-122"/>
                <a:cs typeface="Arial" pitchFamily="34" charset="-120"/>
              </a:rPr>
              <a:t>The safety net around every AI call</a:t>
            </a:r>
            <a:endParaRPr lang="en-US" sz="1100" dirty="0"/>
          </a:p>
        </p:txBody>
      </p:sp>
      <p:sp>
        <p:nvSpPr>
          <p:cNvPr id="123" name="Text 21"/>
          <p:cNvSpPr txBox="1"/>
          <p:nvPr/>
        </p:nvSpPr>
        <p:spPr>
          <a:xfrm>
            <a:off x="6437376" y="5138928"/>
            <a:ext cx="4974336" cy="850392"/>
          </a:xfrm>
          <a:prstGeom prst="rect">
            <a:avLst/>
          </a:prstGeom>
          <a:noFill/>
          <a:ln/>
        </p:spPr>
        <p:txBody>
          <a:bodyPr wrap="square" lIns="0" tIns="0" rIns="0" bIns="0" rtlCol="0" anchor="t"/>
          <a:lstStyle/>
          <a:p>
            <a:pPr indent="0" marL="0">
              <a:buNone/>
            </a:pPr>
            <a:r>
              <a:rPr lang="en-US" sz="1200" dirty="0">
                <a:solidFill>
                  <a:srgbClr val="DDE6FA"/>
                </a:solidFill>
                <a:latin typeface="Arial" pitchFamily="34" charset="0"/>
                <a:ea typeface="Arial" pitchFamily="34" charset="-122"/>
                <a:cs typeface="Arial" pitchFamily="34" charset="-120"/>
              </a:rPr>
              <a:t>Makes the AI research before it answers, retries when the AI service is busy, switches to a backup model, caps the steps one check can take, and keeps a daily limit so the assistant always has requests left.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chatbots to agents: what a watch-price tracker taught us about agentic AI</dc:title>
  <dc:subject>PptxGenJS Presentation</dc:subject>
  <dc:creator>PptxGenJS</dc:creator>
  <cp:lastModifiedBy>PptxGenJS</cp:lastModifiedBy>
  <cp:revision>1</cp:revision>
  <dcterms:created xsi:type="dcterms:W3CDTF">2026-09-21T06:44:02Z</dcterms:created>
  <dcterms:modified xsi:type="dcterms:W3CDTF">2026-09-21T06:44:02Z</dcterms:modified>
</cp:coreProperties>
</file>