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6B7280"/>
                </a:solidFill>
                <a:latin typeface="Arial"/>
              </a:defRPr>
            </a:pPr>
            <a:r>
              <a:rPr sz="1200" b="0" i="0" u="none" strike="noStrike">
                <a:solidFill>
                  <a:srgbClr val="6B7280"/>
                </a:solidFill>
                <a:latin typeface="Arial"/>
              </a:rPr>
              <a:t>Latest observed price as % of target price (100% = at target)</a:t>
            </a:r>
          </a:p>
        </c:rich>
      </c:tx>
      <c:layout/>
      <c:overlay val="0"/>
    </c:title>
    <c:autoTitleDeleted val="0"/>
    <c:plotArea>
      <c:layout/>
      <c:barChart>
        <c:barDir val="bar"/>
        <c:grouping val="clustered"/>
        <c:varyColors val="0"/>
        <c:ser>
          <c:idx val="0"/>
          <c:order val="0"/>
          <c:tx>
            <c:strRef>
              <c:f>Sheet1!$B$1</c:f>
              <c:strCache>
                <c:ptCount val="1"/>
                <c:pt idx="0">
                  <c:v>Latest price as % of target</c:v>
                </c:pt>
              </c:strCache>
            </c:strRef>
          </c:tx>
          <c:spPr>
            <a:solidFill>
              <a:srgbClr val="2251FF"/>
            </a:solidFill>
            <a:effectLst/>
          </c:spPr>
          <c:invertIfNegative val="0"/>
          <c:dLbls>
            <c:numFmt formatCode="0&quot;%&quot;"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dPt>
            <c:idx val="0"/>
            <c:invertIfNegative val="0"/>
            <c:bubble3D val="0"/>
            <c:spPr>
              <a:solidFill>
                <a:srgbClr val="2251FF"/>
              </a:solidFill>
              <a:effectLst/>
            </c:spPr>
          </c:dPt>
          <c:dPt>
            <c:idx val="1"/>
            <c:invertIfNegative val="0"/>
            <c:bubble3D val="0"/>
            <c:spPr>
              <a:solidFill>
                <a:srgbClr val="2251FF"/>
              </a:solidFill>
              <a:effectLst/>
            </c:spPr>
          </c:dPt>
          <c:dPt>
            <c:idx val="2"/>
            <c:invertIfNegative val="0"/>
            <c:bubble3D val="0"/>
            <c:spPr>
              <a:solidFill>
                <a:srgbClr val="2251FF"/>
              </a:solidFill>
              <a:effectLst/>
            </c:spPr>
          </c:dPt>
          <c:dPt>
            <c:idx val="3"/>
            <c:invertIfNegative val="0"/>
            <c:bubble3D val="0"/>
            <c:spPr>
              <a:solidFill>
                <a:srgbClr val="2251FF"/>
              </a:solidFill>
              <a:effectLst/>
            </c:spPr>
          </c:dPt>
          <c:dPt>
            <c:idx val="4"/>
            <c:invertIfNegative val="0"/>
            <c:bubble3D val="0"/>
            <c:spPr>
              <a:solidFill>
                <a:srgbClr val="2251FF"/>
              </a:solidFill>
              <a:effectLst/>
            </c:spPr>
          </c:dPt>
          <c:dPt>
            <c:idx val="5"/>
            <c:invertIfNegative val="0"/>
            <c:bubble3D val="0"/>
            <c:spPr>
              <a:solidFill>
                <a:srgbClr val="C9CED6"/>
              </a:solidFill>
              <a:effectLst/>
            </c:spPr>
          </c:dPt>
          <c:dPt>
            <c:idx val="6"/>
            <c:invertIfNegative val="0"/>
            <c:bubble3D val="0"/>
            <c:spPr>
              <a:solidFill>
                <a:srgbClr val="C9CED6"/>
              </a:solidFill>
              <a:effectLst/>
            </c:spPr>
          </c:dPt>
          <c:dPt>
            <c:idx val="7"/>
            <c:invertIfNegative val="0"/>
            <c:bubble3D val="0"/>
            <c:spPr>
              <a:solidFill>
                <a:srgbClr val="C9CED6"/>
              </a:solidFill>
              <a:effectLst/>
            </c:spPr>
          </c:dPt>
          <c:dPt>
            <c:idx val="8"/>
            <c:invertIfNegative val="0"/>
            <c:bubble3D val="0"/>
            <c:spPr>
              <a:solidFill>
                <a:srgbClr val="C9CED6"/>
              </a:solidFill>
              <a:effectLst/>
            </c:spPr>
          </c:dPt>
          <c:dPt>
            <c:idx val="9"/>
            <c:invertIfNegative val="0"/>
            <c:bubble3D val="0"/>
            <c:spPr>
              <a:solidFill>
                <a:srgbClr val="C9CED6"/>
              </a:solidFill>
              <a:effectLst/>
            </c:spPr>
          </c:dPt>
          <c:cat>
            <c:multiLvlStrRef>
              <c:f>Sheet1!$A$2:$A$11</c:f>
              <c:multiLvlStrCache>
                <c:ptCount val="10"/>
                <c:lvl>
                  <c:pt idx="0">
                    <c:v>Lange Saxonia</c:v>
                  </c:pt>
                  <c:pt idx="1">
                    <c:v>Grand Seiko Snowflake</c:v>
                  </c:pt>
                  <c:pt idx="2">
                    <c:v>Vacheron Historiques 222</c:v>
                  </c:pt>
                  <c:pt idx="3">
                    <c:v>Cartier Santos</c:v>
                  </c:pt>
                  <c:pt idx="4">
                    <c:v>Omega Speedmaster</c:v>
                  </c:pt>
                  <c:pt idx="5">
                    <c:v>Patek Nautilus</c:v>
                  </c:pt>
                  <c:pt idx="6">
                    <c:v>AP Royal Oak</c:v>
                  </c:pt>
                  <c:pt idx="7">
                    <c:v>Rolex Submariner</c:v>
                  </c:pt>
                  <c:pt idx="8">
                    <c:v>Rolex Daytona</c:v>
                  </c:pt>
                  <c:pt idx="9">
                    <c:v>Patek Aquanaut</c:v>
                  </c:pt>
                </c:lvl>
              </c:multiLvlStrCache>
            </c:multiLvlStrRef>
          </c:cat>
          <c:val>
            <c:numRef>
              <c:f>Sheet1!$B$2:$B$11</c:f>
              <c:numCache>
                <c:formatCode>General</c:formatCode>
                <c:ptCount val="10"/>
                <c:pt idx="0">
                  <c:v>67</c:v>
                </c:pt>
                <c:pt idx="1">
                  <c:v>78</c:v>
                </c:pt>
                <c:pt idx="2">
                  <c:v>88</c:v>
                </c:pt>
                <c:pt idx="3">
                  <c:v>92</c:v>
                </c:pt>
                <c:pt idx="4">
                  <c:v>96</c:v>
                </c:pt>
                <c:pt idx="5">
                  <c:v>100</c:v>
                </c:pt>
                <c:pt idx="6">
                  <c:v>108</c:v>
                </c:pt>
                <c:pt idx="7">
                  <c:v>109</c:v>
                </c:pt>
                <c:pt idx="8">
                  <c:v>110</c:v>
                </c:pt>
                <c:pt idx="9">
                  <c:v>129</c:v>
                </c:pt>
              </c:numCache>
            </c:numRef>
          </c:val>
        </c:ser>
        <c:dLbls>
          <c:numFmt formatCode="0&quot;%&quot;" sourceLinked="0"/>
          <c:txPr>
            <a:bodyPr/>
            <a:lstStyle/>
            <a:p>
              <a:pPr>
                <a:defRPr b="0" i="0" strike="noStrike" sz="1100" u="none">
                  <a:solidFill>
                    <a:srgbClr val="1F29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3"/>
                </a:solidFill>
                <a:latin typeface="Arial"/>
              </a:defRPr>
            </a:pPr>
            <a:endParaRPr lang="en-US"/>
          </a:p>
        </c:txPr>
        <c:crossAx val="2094734552"/>
        <c:crosses val="autoZero"/>
        <c:auto val="1"/>
        <c:lblAlgn val="ctr"/>
        <c:noMultiLvlLbl val="1"/>
      </c:catAx>
      <c:valAx>
        <c:axId val="2094734552"/>
        <c:scaling>
          <c:orientation val="minMax"/>
          <c:max val="1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today is a short, practical introduction to agentic AI. Instead of slides of theory, we will use one real agent that has been running on its own for a week: WatchAgent, which tracks luxury-watch prices. We will also cover the two frameworks I tried first (n8n and Agno) and why I ended up on LangChain.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first. Four messages: what an agent is, that it works in practice, that guardrails are what make it trustworthy, and that framework choice mattered more than I expected. The rest of the deck backs each of these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levels. A chatbot answers a question. A workflow runs a path someone designed in advance. An agent is given a goal and decides the path itself, calling tools and reacting to what comes back. The loop at the bottom is the core idea: perceive, reason, act, observe,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luxury watch prices are scattered across marketplaces and noisy, and deciding whether it is a good deal takes judgement. The flow runs left to right. Every six hours GitHub Actions launches the agent. The agent decides which searches to run, records prices through tools that enforce guardrails, reads history, and returns a structured verdict. A BUY triggers a Telegram alert. The bottom panels split what the LLM decides from what plain code enforces.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transferable lesson. An LLM will happily invent a price. So the tools themselves refuse bad input: a price must literally appear in the quoted snippet; a confirmed price needs two independent sources within five percent; the final answer is a typed object, not free text; rate limits are retried with backoff; and alerts have a cooldown so nobody gets spammed. None of this is AI. It is ordinary code wrapped around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comes straight from the agent's own database. Blue bars are watches whose latest recorded price is at or below my target. Note this is price versus target only; the agent's verdict also weighs the trend. The Lange Saxonia at 67 percent of target is suspiciously low: a good example of why a human still reviews the output of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not start on LangChain. I first tried n8n, a visual automation tool, but it felt too rigid for agent logic: this project needs custom checks like price grounding and cross-source consensus. Then Agno, a Python agent framework, but the ecosystem and documentation gaps slowed me down. LangChain gave me a mature ecosystem and plain Python for the guardrails. This is my experience for this use case, not a verdict on the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comparison. n8n: huge integration list, great for non-developers, but I found it rigid for custom agent logic, big flows get hard to read, and Git-based version control sits on a paid plan. Agno: clean Pythonic API with memory and knowledge built in, Apache-licensed, but I hit ecosystem and documentation gaps, and it rebranded from Phidata in 2025 so older material can be out of date. LangChain: largest ecosystem, v1.0 stable, LangGraph and LangSmith for orchestration and tracing, but more code and concepts to learn. Items marked with an asterisk are from my own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scorecard is my judgement for this specific project, so treat it as a discussion starter, not a benchmark. Dots run from one to four. n8n wins clearly on ease for non-developers. LangChain leads on flexibility, ecosystem, versioning and observability. The right-hand panel is the takeaway: pick the tool by the shape of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practical path: choose a repetitive judgement task, start with one agent and two or three tools, add guardrails before adding autonomy, and measure what it does. Invite questions and offer to share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1C2C"/>
        </a:solidFill>
      </p:bgPr>
    </p:bg>
    <p:spTree>
      <p:nvGrpSpPr>
        <p:cNvPr id="1" name=""/>
        <p:cNvGrpSpPr/>
        <p:nvPr/>
      </p:nvGrpSpPr>
      <p:grpSpPr>
        <a:xfrm>
          <a:off x="0" y="0"/>
          <a:ext cx="0" cy="0"/>
          <a:chOff x="0" y="0"/>
          <a:chExt cx="0" cy="0"/>
        </a:xfrm>
      </p:grpSpPr>
      <p:sp>
        <p:nvSpPr>
          <p:cNvPr id="2" name="Text 0"/>
          <p:cNvSpPr txBox="1"/>
          <p:nvPr/>
        </p:nvSpPr>
        <p:spPr>
          <a:xfrm>
            <a:off x="731520" y="914400"/>
            <a:ext cx="9144000" cy="274320"/>
          </a:xfrm>
          <a:prstGeom prst="rect">
            <a:avLst/>
          </a:prstGeom>
          <a:noFill/>
          <a:ln/>
        </p:spPr>
        <p:txBody>
          <a:bodyPr wrap="square" lIns="0" tIns="0" rIns="0" bIns="0" rtlCol="0" anchor="t"/>
          <a:lstStyle/>
          <a:p>
            <a:pPr indent="0" marL="0">
              <a:buNone/>
            </a:pPr>
            <a:r>
              <a:rPr lang="en-US" sz="1200" b="1" spc="300" kern="0" dirty="0">
                <a:solidFill>
                  <a:srgbClr val="8FB0FF"/>
                </a:solidFill>
                <a:latin typeface="Arial" pitchFamily="34" charset="0"/>
                <a:ea typeface="Arial" pitchFamily="34" charset="-122"/>
                <a:cs typeface="Arial" pitchFamily="34" charset="-120"/>
              </a:rPr>
              <a:t>BROWN-BAG SESSION  |  AGENTIC AI</a:t>
            </a:r>
            <a:endParaRPr lang="en-US" sz="1200" dirty="0"/>
          </a:p>
        </p:txBody>
      </p:sp>
      <p:sp>
        <p:nvSpPr>
          <p:cNvPr id="3" name="Text 1"/>
          <p:cNvSpPr txBox="1"/>
          <p:nvPr/>
        </p:nvSpPr>
        <p:spPr>
          <a:xfrm>
            <a:off x="731520" y="1737360"/>
            <a:ext cx="9692640" cy="2377440"/>
          </a:xfrm>
          <a:prstGeom prst="rect">
            <a:avLst/>
          </a:prstGeom>
          <a:noFill/>
          <a:ln/>
        </p:spPr>
        <p:txBody>
          <a:bodyPr wrap="square" lIns="0" tIns="0" rIns="0" bIns="0" rtlCol="0" anchor="t"/>
          <a:lstStyle/>
          <a:p>
            <a:pPr indent="0" marL="0">
              <a:buNone/>
            </a:pPr>
            <a:r>
              <a:rPr lang="en-US" sz="4000" b="1" dirty="0">
                <a:solidFill>
                  <a:srgbClr val="FFFFFF"/>
                </a:solidFill>
                <a:latin typeface="Georgia" pitchFamily="34" charset="0"/>
                <a:ea typeface="Georgia" pitchFamily="34" charset="-122"/>
                <a:cs typeface="Georgia" pitchFamily="34" charset="-120"/>
              </a:rPr>
              <a:t>From chatbots to agents: what a watch-price tracker taught us about agentic AI</a:t>
            </a:r>
            <a:endParaRPr lang="en-US" sz="4000" dirty="0"/>
          </a:p>
        </p:txBody>
      </p:sp>
      <p:sp>
        <p:nvSpPr>
          <p:cNvPr id="4" name="Text 2"/>
          <p:cNvSpPr txBox="1"/>
          <p:nvPr/>
        </p:nvSpPr>
        <p:spPr>
          <a:xfrm>
            <a:off x="731520" y="4297680"/>
            <a:ext cx="9144000" cy="457200"/>
          </a:xfrm>
          <a:prstGeom prst="rect">
            <a:avLst/>
          </a:prstGeom>
          <a:noFill/>
          <a:ln/>
        </p:spPr>
        <p:txBody>
          <a:bodyPr wrap="square" lIns="0" tIns="0" rIns="0" bIns="0" rtlCol="0" anchor="t"/>
          <a:lstStyle/>
          <a:p>
            <a:pPr indent="0" marL="0">
              <a:buNone/>
            </a:pPr>
            <a:r>
              <a:rPr lang="en-US" sz="1800" dirty="0">
                <a:solidFill>
                  <a:srgbClr val="C9D6F2"/>
                </a:solidFill>
                <a:latin typeface="Arial" pitchFamily="34" charset="0"/>
                <a:ea typeface="Arial" pitchFamily="34" charset="-122"/>
                <a:cs typeface="Arial" pitchFamily="34" charset="-120"/>
              </a:rPr>
              <a:t>A working LangChain agent, and the n8n and Agno detours that led to it</a:t>
            </a:r>
            <a:endParaRPr lang="en-US" sz="1800" dirty="0"/>
          </a:p>
        </p:txBody>
      </p:sp>
      <p:sp>
        <p:nvSpPr>
          <p:cNvPr id="5" name="Text 3"/>
          <p:cNvSpPr txBox="1"/>
          <p:nvPr/>
        </p:nvSpPr>
        <p:spPr>
          <a:xfrm>
            <a:off x="731520" y="5943600"/>
            <a:ext cx="5486400" cy="274320"/>
          </a:xfrm>
          <a:prstGeom prst="rect">
            <a:avLst/>
          </a:prstGeom>
          <a:noFill/>
          <a:ln/>
        </p:spPr>
        <p:txBody>
          <a:bodyPr wrap="square" lIns="0" tIns="0" rIns="0" bIns="0" rtlCol="0" anchor="t"/>
          <a:lstStyle/>
          <a:p>
            <a:pPr indent="0" marL="0">
              <a:buNone/>
            </a:pPr>
            <a:r>
              <a:rPr lang="en-US" sz="1200" dirty="0">
                <a:solidFill>
                  <a:srgbClr val="8FB0FF"/>
                </a:solidFill>
                <a:latin typeface="Arial" pitchFamily="34" charset="0"/>
                <a:ea typeface="Arial" pitchFamily="34" charset="-122"/>
                <a:cs typeface="Arial" pitchFamily="34" charset="-120"/>
              </a:rPr>
              <a:t>21 September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EXECUTIVE SUMMARY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Agents decide and act, and a small one is already running unattended, provided it has guardrails and the right framework</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repository, watches.db (15-21 Sep 2026)</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2</a:t>
            </a:r>
            <a:endParaRPr lang="en-US" sz="900" dirty="0"/>
          </a:p>
        </p:txBody>
      </p:sp>
      <p:sp>
        <p:nvSpPr>
          <p:cNvPr id="7" name="Shape 4"/>
          <p:cNvSpPr/>
          <p:nvPr/>
        </p:nvSpPr>
        <p:spPr>
          <a:xfrm>
            <a:off x="548640" y="1874520"/>
            <a:ext cx="548640" cy="548640"/>
          </a:xfrm>
          <a:prstGeom prst="ellipse">
            <a:avLst/>
          </a:prstGeom>
          <a:solidFill>
            <a:srgbClr val="051C2C"/>
          </a:solidFill>
          <a:ln w="12700">
            <a:solidFill>
              <a:srgbClr val="051C2C"/>
            </a:solidFill>
            <a:prstDash val="solid"/>
          </a:ln>
        </p:spPr>
      </p:sp>
      <p:sp>
        <p:nvSpPr>
          <p:cNvPr id="8" name="Text 5"/>
          <p:cNvSpPr txBox="1"/>
          <p:nvPr/>
        </p:nvSpPr>
        <p:spPr>
          <a:xfrm>
            <a:off x="548640" y="1874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1371600" y="1783080"/>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Agents decide and act, not just answer</a:t>
            </a:r>
            <a:endParaRPr lang="en-US" sz="1800" dirty="0"/>
          </a:p>
        </p:txBody>
      </p:sp>
      <p:sp>
        <p:nvSpPr>
          <p:cNvPr id="10" name="Text 7"/>
          <p:cNvSpPr txBox="1"/>
          <p:nvPr/>
        </p:nvSpPr>
        <p:spPr>
          <a:xfrm>
            <a:off x="1371600" y="2167128"/>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Unlike a chatbot or a fixed workflow, an agent chooses its own tools and steps to reach a goal, then checks the result.</a:t>
            </a:r>
            <a:endParaRPr lang="en-US" sz="1400" dirty="0"/>
          </a:p>
        </p:txBody>
      </p:sp>
      <p:sp>
        <p:nvSpPr>
          <p:cNvPr id="11" name="Shape 8"/>
          <p:cNvSpPr/>
          <p:nvPr/>
        </p:nvSpPr>
        <p:spPr>
          <a:xfrm>
            <a:off x="548640" y="2990088"/>
            <a:ext cx="548640" cy="548640"/>
          </a:xfrm>
          <a:prstGeom prst="ellipse">
            <a:avLst/>
          </a:prstGeom>
          <a:solidFill>
            <a:srgbClr val="051C2C"/>
          </a:solidFill>
          <a:ln w="12700">
            <a:solidFill>
              <a:srgbClr val="051C2C"/>
            </a:solidFill>
            <a:prstDash val="solid"/>
          </a:ln>
        </p:spPr>
      </p:sp>
      <p:sp>
        <p:nvSpPr>
          <p:cNvPr id="12" name="Text 9"/>
          <p:cNvSpPr txBox="1"/>
          <p:nvPr/>
        </p:nvSpPr>
        <p:spPr>
          <a:xfrm>
            <a:off x="548640" y="299008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1371600" y="2898648"/>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It is already practical</a:t>
            </a:r>
            <a:endParaRPr lang="en-US" sz="1800" dirty="0"/>
          </a:p>
        </p:txBody>
      </p:sp>
      <p:sp>
        <p:nvSpPr>
          <p:cNvPr id="14" name="Text 11"/>
          <p:cNvSpPr txBox="1"/>
          <p:nvPr/>
        </p:nvSpPr>
        <p:spPr>
          <a:xfrm>
            <a:off x="1371600" y="3282696"/>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WatchAgent tracks 10 luxury watches, runs unattended every 6 hours on GitHub Actions, and alerts via Telegram.</a:t>
            </a:r>
            <a:endParaRPr lang="en-US" sz="1400" dirty="0"/>
          </a:p>
        </p:txBody>
      </p:sp>
      <p:sp>
        <p:nvSpPr>
          <p:cNvPr id="15" name="Shape 12"/>
          <p:cNvSpPr/>
          <p:nvPr/>
        </p:nvSpPr>
        <p:spPr>
          <a:xfrm>
            <a:off x="548640" y="4105656"/>
            <a:ext cx="548640" cy="548640"/>
          </a:xfrm>
          <a:prstGeom prst="ellipse">
            <a:avLst/>
          </a:prstGeom>
          <a:solidFill>
            <a:srgbClr val="051C2C"/>
          </a:solidFill>
          <a:ln w="12700">
            <a:solidFill>
              <a:srgbClr val="051C2C"/>
            </a:solidFill>
            <a:prstDash val="solid"/>
          </a:ln>
        </p:spPr>
      </p:sp>
      <p:sp>
        <p:nvSpPr>
          <p:cNvPr id="16" name="Text 13"/>
          <p:cNvSpPr txBox="1"/>
          <p:nvPr/>
        </p:nvSpPr>
        <p:spPr>
          <a:xfrm>
            <a:off x="54864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1371600" y="4014216"/>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Guardrails make it trustworthy</a:t>
            </a:r>
            <a:endParaRPr lang="en-US" sz="1800" dirty="0"/>
          </a:p>
        </p:txBody>
      </p:sp>
      <p:sp>
        <p:nvSpPr>
          <p:cNvPr id="18" name="Text 15"/>
          <p:cNvSpPr txBox="1"/>
          <p:nvPr/>
        </p:nvSpPr>
        <p:spPr>
          <a:xfrm>
            <a:off x="1371600" y="4398264"/>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Price grounding, multi-source consensus and structured output turn a free-form LLM into a dependable analyst.</a:t>
            </a:r>
            <a:endParaRPr lang="en-US" sz="1400" dirty="0"/>
          </a:p>
        </p:txBody>
      </p:sp>
      <p:sp>
        <p:nvSpPr>
          <p:cNvPr id="19" name="Shape 16"/>
          <p:cNvSpPr/>
          <p:nvPr/>
        </p:nvSpPr>
        <p:spPr>
          <a:xfrm>
            <a:off x="548640" y="5221224"/>
            <a:ext cx="548640" cy="548640"/>
          </a:xfrm>
          <a:prstGeom prst="ellipse">
            <a:avLst/>
          </a:prstGeom>
          <a:solidFill>
            <a:srgbClr val="051C2C"/>
          </a:solidFill>
          <a:ln w="12700">
            <a:solidFill>
              <a:srgbClr val="051C2C"/>
            </a:solidFill>
            <a:prstDash val="solid"/>
          </a:ln>
        </p:spPr>
      </p:sp>
      <p:sp>
        <p:nvSpPr>
          <p:cNvPr id="20" name="Text 17"/>
          <p:cNvSpPr txBox="1"/>
          <p:nvPr/>
        </p:nvSpPr>
        <p:spPr>
          <a:xfrm>
            <a:off x="548640" y="522122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txBox="1"/>
          <p:nvPr/>
        </p:nvSpPr>
        <p:spPr>
          <a:xfrm>
            <a:off x="1371600" y="5129784"/>
            <a:ext cx="10058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Framework fit matters</a:t>
            </a:r>
            <a:endParaRPr lang="en-US" sz="1800" dirty="0"/>
          </a:p>
        </p:txBody>
      </p:sp>
      <p:sp>
        <p:nvSpPr>
          <p:cNvPr id="22" name="Text 19"/>
          <p:cNvSpPr txBox="1"/>
          <p:nvPr/>
        </p:nvSpPr>
        <p:spPr>
          <a:xfrm>
            <a:off x="1371600" y="5513832"/>
            <a:ext cx="10058400" cy="54864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n8n was too rigid for agent logic and Agno's ecosystem and docs fell short; LangChain gave the control and integrations this agent needed.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IS AGENTIC AI?</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Agentic AI moves from answering questions to pursuing goals with tools, feedback and judgement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project; author's framing of the chatbot-to-agent spectrum</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3</a:t>
            </a:r>
            <a:endParaRPr lang="en-US" sz="900" dirty="0"/>
          </a:p>
        </p:txBody>
      </p:sp>
      <p:sp>
        <p:nvSpPr>
          <p:cNvPr id="7" name="Shape 4"/>
          <p:cNvSpPr/>
          <p:nvPr/>
        </p:nvSpPr>
        <p:spPr>
          <a:xfrm>
            <a:off x="548640" y="1737360"/>
            <a:ext cx="3566160" cy="2651760"/>
          </a:xfrm>
          <a:prstGeom prst="rect">
            <a:avLst/>
          </a:prstGeom>
          <a:solidFill>
            <a:srgbClr val="F2F4F7"/>
          </a:solidFill>
          <a:ln w="12700">
            <a:solidFill>
              <a:srgbClr val="F2F4F7"/>
            </a:solidFill>
            <a:prstDash val="solid"/>
          </a:ln>
        </p:spPr>
      </p:sp>
      <p:sp>
        <p:nvSpPr>
          <p:cNvPr id="8" name="Text 5"/>
          <p:cNvSpPr txBox="1"/>
          <p:nvPr/>
        </p:nvSpPr>
        <p:spPr>
          <a:xfrm>
            <a:off x="822960" y="1874520"/>
            <a:ext cx="3017520" cy="457200"/>
          </a:xfrm>
          <a:prstGeom prst="rect">
            <a:avLst/>
          </a:prstGeom>
          <a:noFill/>
          <a:ln/>
        </p:spPr>
        <p:txBody>
          <a:bodyPr wrap="square" lIns="0" tIns="0" rIns="0" bIns="0" rtlCol="0" anchor="t"/>
          <a:lstStyle/>
          <a:p>
            <a:pPr indent="0" marL="0">
              <a:buNone/>
            </a:pPr>
            <a:r>
              <a:rPr lang="en-US" sz="2400" b="1" dirty="0">
                <a:solidFill>
                  <a:srgbClr val="051C2C"/>
                </a:solidFill>
                <a:latin typeface="Georgia" pitchFamily="34" charset="0"/>
                <a:ea typeface="Georgia" pitchFamily="34" charset="-122"/>
                <a:cs typeface="Georgia" pitchFamily="34" charset="-120"/>
              </a:rPr>
              <a:t>Chatbot</a:t>
            </a:r>
            <a:endParaRPr lang="en-US" sz="2400" dirty="0"/>
          </a:p>
        </p:txBody>
      </p:sp>
      <p:sp>
        <p:nvSpPr>
          <p:cNvPr id="9" name="Text 6"/>
          <p:cNvSpPr txBox="1"/>
          <p:nvPr/>
        </p:nvSpPr>
        <p:spPr>
          <a:xfrm>
            <a:off x="822960" y="2377440"/>
            <a:ext cx="3017520" cy="274320"/>
          </a:xfrm>
          <a:prstGeom prst="rect">
            <a:avLst/>
          </a:prstGeom>
          <a:noFill/>
          <a:ln/>
        </p:spPr>
        <p:txBody>
          <a:bodyPr wrap="square" lIns="0" tIns="0" rIns="0" bIns="0" rtlCol="0" anchor="t"/>
          <a:lstStyle/>
          <a:p>
            <a:pPr indent="0" marL="0">
              <a:buNone/>
            </a:pPr>
            <a:r>
              <a:rPr lang="en-US" sz="1100" b="1" spc="100" kern="0" dirty="0">
                <a:solidFill>
                  <a:srgbClr val="2251FF"/>
                </a:solidFill>
                <a:latin typeface="Arial" pitchFamily="34" charset="0"/>
                <a:ea typeface="Arial" pitchFamily="34" charset="-122"/>
                <a:cs typeface="Arial" pitchFamily="34" charset="-120"/>
              </a:rPr>
              <a:t>ANSWERS</a:t>
            </a:r>
            <a:endParaRPr lang="en-US" sz="1100" dirty="0"/>
          </a:p>
        </p:txBody>
      </p:sp>
      <p:sp>
        <p:nvSpPr>
          <p:cNvPr id="10" name="Text 7"/>
          <p:cNvSpPr txBox="1"/>
          <p:nvPr/>
        </p:nvSpPr>
        <p:spPr>
          <a:xfrm>
            <a:off x="822960" y="2743200"/>
            <a:ext cx="3017520" cy="914400"/>
          </a:xfrm>
          <a:prstGeom prst="rect">
            <a:avLst/>
          </a:prstGeom>
          <a:noFill/>
          <a:ln/>
        </p:spPr>
        <p:txBody>
          <a:bodyPr wrap="square" lIns="0" tIns="0" rIns="0" bIns="0" rtlCol="0" anchor="t"/>
          <a:lstStyle/>
          <a:p>
            <a:pPr indent="0" marL="0">
              <a:buNone/>
            </a:pPr>
            <a:r>
              <a:rPr lang="en-US" sz="1400" dirty="0">
                <a:solidFill>
                  <a:srgbClr val="051C2C"/>
                </a:solidFill>
                <a:latin typeface="Arial" pitchFamily="34" charset="0"/>
                <a:ea typeface="Arial" pitchFamily="34" charset="-122"/>
                <a:cs typeface="Arial" pitchFamily="34" charset="-120"/>
              </a:rPr>
              <a:t>You ask, it replies. No tools, no memory of outcomes.</a:t>
            </a:r>
            <a:endParaRPr lang="en-US" sz="1400" dirty="0"/>
          </a:p>
        </p:txBody>
      </p:sp>
      <p:sp>
        <p:nvSpPr>
          <p:cNvPr id="11" name="Text 8"/>
          <p:cNvSpPr txBox="1"/>
          <p:nvPr/>
        </p:nvSpPr>
        <p:spPr>
          <a:xfrm>
            <a:off x="822960" y="3703320"/>
            <a:ext cx="3017520" cy="59436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"What does a Submariner cost?"</a:t>
            </a:r>
            <a:endParaRPr lang="en-US" sz="1200" dirty="0"/>
          </a:p>
        </p:txBody>
      </p:sp>
      <p:sp>
        <p:nvSpPr>
          <p:cNvPr id="12" name="Shape 9"/>
          <p:cNvSpPr/>
          <p:nvPr/>
        </p:nvSpPr>
        <p:spPr>
          <a:xfrm>
            <a:off x="4297680" y="1737360"/>
            <a:ext cx="3566160" cy="2651760"/>
          </a:xfrm>
          <a:prstGeom prst="rect">
            <a:avLst/>
          </a:prstGeom>
          <a:solidFill>
            <a:srgbClr val="F2F4F7"/>
          </a:solidFill>
          <a:ln w="12700">
            <a:solidFill>
              <a:srgbClr val="F2F4F7"/>
            </a:solidFill>
            <a:prstDash val="solid"/>
          </a:ln>
        </p:spPr>
      </p:sp>
      <p:sp>
        <p:nvSpPr>
          <p:cNvPr id="13" name="Text 10"/>
          <p:cNvSpPr txBox="1"/>
          <p:nvPr/>
        </p:nvSpPr>
        <p:spPr>
          <a:xfrm>
            <a:off x="4572000" y="1874520"/>
            <a:ext cx="3017520" cy="457200"/>
          </a:xfrm>
          <a:prstGeom prst="rect">
            <a:avLst/>
          </a:prstGeom>
          <a:noFill/>
          <a:ln/>
        </p:spPr>
        <p:txBody>
          <a:bodyPr wrap="square" lIns="0" tIns="0" rIns="0" bIns="0" rtlCol="0" anchor="t"/>
          <a:lstStyle/>
          <a:p>
            <a:pPr indent="0" marL="0">
              <a:buNone/>
            </a:pPr>
            <a:r>
              <a:rPr lang="en-US" sz="2400" b="1" dirty="0">
                <a:solidFill>
                  <a:srgbClr val="051C2C"/>
                </a:solidFill>
                <a:latin typeface="Georgia" pitchFamily="34" charset="0"/>
                <a:ea typeface="Georgia" pitchFamily="34" charset="-122"/>
                <a:cs typeface="Georgia" pitchFamily="34" charset="-120"/>
              </a:rPr>
              <a:t>Workflow</a:t>
            </a:r>
            <a:endParaRPr lang="en-US" sz="2400" dirty="0"/>
          </a:p>
        </p:txBody>
      </p:sp>
      <p:sp>
        <p:nvSpPr>
          <p:cNvPr id="14" name="Text 11"/>
          <p:cNvSpPr txBox="1"/>
          <p:nvPr/>
        </p:nvSpPr>
        <p:spPr>
          <a:xfrm>
            <a:off x="4572000" y="2377440"/>
            <a:ext cx="3017520" cy="274320"/>
          </a:xfrm>
          <a:prstGeom prst="rect">
            <a:avLst/>
          </a:prstGeom>
          <a:noFill/>
          <a:ln/>
        </p:spPr>
        <p:txBody>
          <a:bodyPr wrap="square" lIns="0" tIns="0" rIns="0" bIns="0" rtlCol="0" anchor="t"/>
          <a:lstStyle/>
          <a:p>
            <a:pPr indent="0" marL="0">
              <a:buNone/>
            </a:pPr>
            <a:r>
              <a:rPr lang="en-US" sz="1100" b="1" spc="100" kern="0" dirty="0">
                <a:solidFill>
                  <a:srgbClr val="2251FF"/>
                </a:solidFill>
                <a:latin typeface="Arial" pitchFamily="34" charset="0"/>
                <a:ea typeface="Arial" pitchFamily="34" charset="-122"/>
                <a:cs typeface="Arial" pitchFamily="34" charset="-120"/>
              </a:rPr>
              <a:t>FOLLOWS A FIXED PATH</a:t>
            </a:r>
            <a:endParaRPr lang="en-US" sz="1100" dirty="0"/>
          </a:p>
        </p:txBody>
      </p:sp>
      <p:sp>
        <p:nvSpPr>
          <p:cNvPr id="15" name="Text 12"/>
          <p:cNvSpPr txBox="1"/>
          <p:nvPr/>
        </p:nvSpPr>
        <p:spPr>
          <a:xfrm>
            <a:off x="4572000" y="2743200"/>
            <a:ext cx="3017520" cy="914400"/>
          </a:xfrm>
          <a:prstGeom prst="rect">
            <a:avLst/>
          </a:prstGeom>
          <a:noFill/>
          <a:ln/>
        </p:spPr>
        <p:txBody>
          <a:bodyPr wrap="square" lIns="0" tIns="0" rIns="0" bIns="0" rtlCol="0" anchor="t"/>
          <a:lstStyle/>
          <a:p>
            <a:pPr indent="0" marL="0">
              <a:buNone/>
            </a:pPr>
            <a:r>
              <a:rPr lang="en-US" sz="1400" dirty="0">
                <a:solidFill>
                  <a:srgbClr val="051C2C"/>
                </a:solidFill>
                <a:latin typeface="Arial" pitchFamily="34" charset="0"/>
                <a:ea typeface="Arial" pitchFamily="34" charset="-122"/>
                <a:cs typeface="Arial" pitchFamily="34" charset="-120"/>
              </a:rPr>
              <a:t>Steps are designed up front. Reliable, but cannot adapt when reality differs.</a:t>
            </a:r>
            <a:endParaRPr lang="en-US" sz="1400" dirty="0"/>
          </a:p>
        </p:txBody>
      </p:sp>
      <p:sp>
        <p:nvSpPr>
          <p:cNvPr id="16" name="Text 13"/>
          <p:cNvSpPr txBox="1"/>
          <p:nvPr/>
        </p:nvSpPr>
        <p:spPr>
          <a:xfrm>
            <a:off x="4572000" y="3703320"/>
            <a:ext cx="3017520" cy="594360"/>
          </a:xfrm>
          <a:prstGeom prst="rect">
            <a:avLst/>
          </a:prstGeom>
          <a:noFill/>
          <a:ln/>
        </p:spPr>
        <p:txBody>
          <a:bodyPr wrap="square" lIns="0" tIns="0" rIns="0" bIns="0" rtlCol="0" anchor="t"/>
          <a:lstStyle/>
          <a:p>
            <a:pPr indent="0" marL="0">
              <a:buNone/>
            </a:pPr>
            <a:r>
              <a:rPr lang="en-US" sz="1200" i="1" dirty="0">
                <a:solidFill>
                  <a:srgbClr val="6B7280"/>
                </a:solidFill>
                <a:latin typeface="Arial" pitchFamily="34" charset="0"/>
                <a:ea typeface="Arial" pitchFamily="34" charset="-122"/>
                <a:cs typeface="Arial" pitchFamily="34" charset="-120"/>
              </a:rPr>
              <a:t>Fetch price, compare, send email</a:t>
            </a:r>
            <a:endParaRPr lang="en-US" sz="1200" dirty="0"/>
          </a:p>
        </p:txBody>
      </p:sp>
      <p:sp>
        <p:nvSpPr>
          <p:cNvPr id="17" name="Shape 14"/>
          <p:cNvSpPr/>
          <p:nvPr/>
        </p:nvSpPr>
        <p:spPr>
          <a:xfrm>
            <a:off x="8046720" y="1737360"/>
            <a:ext cx="3566160" cy="2651760"/>
          </a:xfrm>
          <a:prstGeom prst="rect">
            <a:avLst/>
          </a:prstGeom>
          <a:solidFill>
            <a:srgbClr val="051C2C"/>
          </a:solidFill>
          <a:ln w="12700">
            <a:solidFill>
              <a:srgbClr val="051C2C"/>
            </a:solidFill>
            <a:prstDash val="solid"/>
          </a:ln>
        </p:spPr>
      </p:sp>
      <p:sp>
        <p:nvSpPr>
          <p:cNvPr id="18" name="Text 15"/>
          <p:cNvSpPr txBox="1"/>
          <p:nvPr/>
        </p:nvSpPr>
        <p:spPr>
          <a:xfrm>
            <a:off x="8321040" y="1874520"/>
            <a:ext cx="3017520" cy="457200"/>
          </a:xfrm>
          <a:prstGeom prst="rect">
            <a:avLst/>
          </a:prstGeom>
          <a:noFill/>
          <a:ln/>
        </p:spPr>
        <p:txBody>
          <a:bodyPr wrap="square" lIns="0" tIns="0" rIns="0" bIns="0" rtlCol="0" anchor="t"/>
          <a:lstStyle/>
          <a:p>
            <a:pPr indent="0" marL="0">
              <a:buNone/>
            </a:pPr>
            <a:r>
              <a:rPr lang="en-US" sz="2400" b="1" dirty="0">
                <a:solidFill>
                  <a:srgbClr val="FFFFFF"/>
                </a:solidFill>
                <a:latin typeface="Georgia" pitchFamily="34" charset="0"/>
                <a:ea typeface="Georgia" pitchFamily="34" charset="-122"/>
                <a:cs typeface="Georgia" pitchFamily="34" charset="-120"/>
              </a:rPr>
              <a:t>Agent</a:t>
            </a:r>
            <a:endParaRPr lang="en-US" sz="2400" dirty="0"/>
          </a:p>
        </p:txBody>
      </p:sp>
      <p:sp>
        <p:nvSpPr>
          <p:cNvPr id="19" name="Text 16"/>
          <p:cNvSpPr txBox="1"/>
          <p:nvPr/>
        </p:nvSpPr>
        <p:spPr>
          <a:xfrm>
            <a:off x="8321040" y="2377440"/>
            <a:ext cx="3017520" cy="274320"/>
          </a:xfrm>
          <a:prstGeom prst="rect">
            <a:avLst/>
          </a:prstGeom>
          <a:noFill/>
          <a:ln/>
        </p:spPr>
        <p:txBody>
          <a:bodyPr wrap="square" lIns="0" tIns="0" rIns="0" bIns="0" rtlCol="0" anchor="t"/>
          <a:lstStyle/>
          <a:p>
            <a:pPr indent="0" marL="0">
              <a:buNone/>
            </a:pPr>
            <a:r>
              <a:rPr lang="en-US" sz="1100" b="1" spc="100" kern="0" dirty="0">
                <a:solidFill>
                  <a:srgbClr val="8FB0FF"/>
                </a:solidFill>
                <a:latin typeface="Arial" pitchFamily="34" charset="0"/>
                <a:ea typeface="Arial" pitchFamily="34" charset="-122"/>
                <a:cs typeface="Arial" pitchFamily="34" charset="-120"/>
              </a:rPr>
              <a:t>PURSUES A GOAL</a:t>
            </a:r>
            <a:endParaRPr lang="en-US" sz="1100" dirty="0"/>
          </a:p>
        </p:txBody>
      </p:sp>
      <p:sp>
        <p:nvSpPr>
          <p:cNvPr id="20" name="Text 17"/>
          <p:cNvSpPr txBox="1"/>
          <p:nvPr/>
        </p:nvSpPr>
        <p:spPr>
          <a:xfrm>
            <a:off x="8321040" y="2743200"/>
            <a:ext cx="30175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Plans, chooses tools, checks results and retries until the goal is met.</a:t>
            </a:r>
            <a:endParaRPr lang="en-US" sz="1400" dirty="0"/>
          </a:p>
        </p:txBody>
      </p:sp>
      <p:sp>
        <p:nvSpPr>
          <p:cNvPr id="21" name="Text 18"/>
          <p:cNvSpPr txBox="1"/>
          <p:nvPr/>
        </p:nvSpPr>
        <p:spPr>
          <a:xfrm>
            <a:off x="8321040" y="3703320"/>
            <a:ext cx="3017520" cy="594360"/>
          </a:xfrm>
          <a:prstGeom prst="rect">
            <a:avLst/>
          </a:prstGeom>
          <a:noFill/>
          <a:ln/>
        </p:spPr>
        <p:txBody>
          <a:bodyPr wrap="square" lIns="0" tIns="0" rIns="0" bIns="0" rtlCol="0" anchor="t"/>
          <a:lstStyle/>
          <a:p>
            <a:pPr indent="0" marL="0">
              <a:buNone/>
            </a:pPr>
            <a:r>
              <a:rPr lang="en-US" sz="1200" i="1" dirty="0">
                <a:solidFill>
                  <a:srgbClr val="C9D6F2"/>
                </a:solidFill>
                <a:latin typeface="Arial" pitchFamily="34" charset="0"/>
                <a:ea typeface="Arial" pitchFamily="34" charset="-122"/>
                <a:cs typeface="Arial" pitchFamily="34" charset="-120"/>
              </a:rPr>
              <a:t>Find the price on 2+ sources, verify, judge BUY / WAIT</a:t>
            </a:r>
            <a:endParaRPr lang="en-US" sz="1200" dirty="0"/>
          </a:p>
        </p:txBody>
      </p:sp>
      <p:sp>
        <p:nvSpPr>
          <p:cNvPr id="22" name="Text 19"/>
          <p:cNvSpPr txBox="1"/>
          <p:nvPr/>
        </p:nvSpPr>
        <p:spPr>
          <a:xfrm>
            <a:off x="548640" y="4709160"/>
            <a:ext cx="3657600" cy="274320"/>
          </a:xfrm>
          <a:prstGeom prst="rect">
            <a:avLst/>
          </a:prstGeom>
          <a:noFill/>
          <a:ln/>
        </p:spPr>
        <p:txBody>
          <a:bodyPr wrap="square" lIns="0" tIns="0" rIns="0" bIns="0" rtlCol="0" anchor="t"/>
          <a:lstStyle/>
          <a:p>
            <a:pPr indent="0" marL="0">
              <a:buNone/>
            </a:pPr>
            <a:r>
              <a:rPr lang="en-US" sz="1100" b="1" spc="200" kern="0" dirty="0">
                <a:solidFill>
                  <a:srgbClr val="6B7280"/>
                </a:solidFill>
                <a:latin typeface="Arial" pitchFamily="34" charset="0"/>
                <a:ea typeface="Arial" pitchFamily="34" charset="-122"/>
                <a:cs typeface="Arial" pitchFamily="34" charset="-120"/>
              </a:rPr>
              <a:t>THE AGENT LOOP</a:t>
            </a:r>
            <a:endParaRPr lang="en-US" sz="1100" dirty="0"/>
          </a:p>
        </p:txBody>
      </p:sp>
      <p:sp>
        <p:nvSpPr>
          <p:cNvPr id="23" name="Shape 20"/>
          <p:cNvSpPr/>
          <p:nvPr/>
        </p:nvSpPr>
        <p:spPr>
          <a:xfrm>
            <a:off x="548640" y="5029200"/>
            <a:ext cx="2697480" cy="1051560"/>
          </a:xfrm>
          <a:prstGeom prst="chevron">
            <a:avLst/>
          </a:prstGeom>
          <a:solidFill>
            <a:srgbClr val="051C2C"/>
          </a:solidFill>
          <a:ln w="12700">
            <a:solidFill>
              <a:srgbClr val="FFFFFF"/>
            </a:solidFill>
            <a:prstDash val="solid"/>
          </a:ln>
        </p:spPr>
      </p:sp>
      <p:sp>
        <p:nvSpPr>
          <p:cNvPr id="24" name="Text 21"/>
          <p:cNvSpPr txBox="1"/>
          <p:nvPr/>
        </p:nvSpPr>
        <p:spPr>
          <a:xfrm>
            <a:off x="128016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Perceive</a:t>
            </a:r>
            <a:endParaRPr lang="en-US" sz="1400" dirty="0"/>
          </a:p>
        </p:txBody>
      </p:sp>
      <p:sp>
        <p:nvSpPr>
          <p:cNvPr id="25" name="Text 22"/>
          <p:cNvSpPr txBox="1"/>
          <p:nvPr/>
        </p:nvSpPr>
        <p:spPr>
          <a:xfrm>
            <a:off x="128016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Read the goal and current state</a:t>
            </a:r>
            <a:endParaRPr lang="en-US" sz="1050" dirty="0"/>
          </a:p>
        </p:txBody>
      </p:sp>
      <p:sp>
        <p:nvSpPr>
          <p:cNvPr id="26" name="Shape 23"/>
          <p:cNvSpPr/>
          <p:nvPr/>
        </p:nvSpPr>
        <p:spPr>
          <a:xfrm>
            <a:off x="3337560" y="5029200"/>
            <a:ext cx="2697480" cy="1051560"/>
          </a:xfrm>
          <a:prstGeom prst="chevron">
            <a:avLst/>
          </a:prstGeom>
          <a:solidFill>
            <a:srgbClr val="051C2C"/>
          </a:solidFill>
          <a:ln w="12700">
            <a:solidFill>
              <a:srgbClr val="FFFFFF"/>
            </a:solidFill>
            <a:prstDash val="solid"/>
          </a:ln>
        </p:spPr>
      </p:sp>
      <p:sp>
        <p:nvSpPr>
          <p:cNvPr id="27" name="Text 24"/>
          <p:cNvSpPr txBox="1"/>
          <p:nvPr/>
        </p:nvSpPr>
        <p:spPr>
          <a:xfrm>
            <a:off x="406908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Reason</a:t>
            </a:r>
            <a:endParaRPr lang="en-US" sz="1400" dirty="0"/>
          </a:p>
        </p:txBody>
      </p:sp>
      <p:sp>
        <p:nvSpPr>
          <p:cNvPr id="28" name="Text 25"/>
          <p:cNvSpPr txBox="1"/>
          <p:nvPr/>
        </p:nvSpPr>
        <p:spPr>
          <a:xfrm>
            <a:off x="406908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Decide the next step</a:t>
            </a:r>
            <a:endParaRPr lang="en-US" sz="1050" dirty="0"/>
          </a:p>
        </p:txBody>
      </p:sp>
      <p:sp>
        <p:nvSpPr>
          <p:cNvPr id="29" name="Shape 26"/>
          <p:cNvSpPr/>
          <p:nvPr/>
        </p:nvSpPr>
        <p:spPr>
          <a:xfrm>
            <a:off x="6126480" y="5029200"/>
            <a:ext cx="2697480" cy="1051560"/>
          </a:xfrm>
          <a:prstGeom prst="chevron">
            <a:avLst/>
          </a:prstGeom>
          <a:solidFill>
            <a:srgbClr val="051C2C"/>
          </a:solidFill>
          <a:ln w="12700">
            <a:solidFill>
              <a:srgbClr val="FFFFFF"/>
            </a:solidFill>
            <a:prstDash val="solid"/>
          </a:ln>
        </p:spPr>
      </p:sp>
      <p:sp>
        <p:nvSpPr>
          <p:cNvPr id="30" name="Text 27"/>
          <p:cNvSpPr txBox="1"/>
          <p:nvPr/>
        </p:nvSpPr>
        <p:spPr>
          <a:xfrm>
            <a:off x="685800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Act</a:t>
            </a:r>
            <a:endParaRPr lang="en-US" sz="1400" dirty="0"/>
          </a:p>
        </p:txBody>
      </p:sp>
      <p:sp>
        <p:nvSpPr>
          <p:cNvPr id="31" name="Text 28"/>
          <p:cNvSpPr txBox="1"/>
          <p:nvPr/>
        </p:nvSpPr>
        <p:spPr>
          <a:xfrm>
            <a:off x="685800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Call a tool (search, record)</a:t>
            </a:r>
            <a:endParaRPr lang="en-US" sz="1050" dirty="0"/>
          </a:p>
        </p:txBody>
      </p:sp>
      <p:sp>
        <p:nvSpPr>
          <p:cNvPr id="32" name="Shape 29"/>
          <p:cNvSpPr/>
          <p:nvPr/>
        </p:nvSpPr>
        <p:spPr>
          <a:xfrm>
            <a:off x="8915400" y="5029200"/>
            <a:ext cx="2697480" cy="1051560"/>
          </a:xfrm>
          <a:prstGeom prst="chevron">
            <a:avLst/>
          </a:prstGeom>
          <a:solidFill>
            <a:srgbClr val="2251FF"/>
          </a:solidFill>
          <a:ln w="12700">
            <a:solidFill>
              <a:srgbClr val="FFFFFF"/>
            </a:solidFill>
            <a:prstDash val="solid"/>
          </a:ln>
        </p:spPr>
      </p:sp>
      <p:sp>
        <p:nvSpPr>
          <p:cNvPr id="33" name="Text 30"/>
          <p:cNvSpPr txBox="1"/>
          <p:nvPr/>
        </p:nvSpPr>
        <p:spPr>
          <a:xfrm>
            <a:off x="9646920" y="5193792"/>
            <a:ext cx="1554480" cy="27432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Observe</a:t>
            </a:r>
            <a:endParaRPr lang="en-US" sz="1400" dirty="0"/>
          </a:p>
        </p:txBody>
      </p:sp>
      <p:sp>
        <p:nvSpPr>
          <p:cNvPr id="34" name="Text 31"/>
          <p:cNvSpPr txBox="1"/>
          <p:nvPr/>
        </p:nvSpPr>
        <p:spPr>
          <a:xfrm>
            <a:off x="9646920" y="5486400"/>
            <a:ext cx="1508760" cy="502920"/>
          </a:xfrm>
          <a:prstGeom prst="rect">
            <a:avLst/>
          </a:prstGeom>
          <a:noFill/>
          <a:ln/>
        </p:spPr>
        <p:txBody>
          <a:bodyPr wrap="square" lIns="0" tIns="0" rIns="0" bIns="0" rtlCol="0" anchor="t"/>
          <a:lstStyle/>
          <a:p>
            <a:pPr indent="0" marL="0">
              <a:buNone/>
            </a:pPr>
            <a:r>
              <a:rPr lang="en-US" sz="1050" dirty="0">
                <a:solidFill>
                  <a:srgbClr val="DDE6FA"/>
                </a:solidFill>
                <a:latin typeface="Arial" pitchFamily="34" charset="0"/>
                <a:ea typeface="Arial" pitchFamily="34" charset="-122"/>
                <a:cs typeface="Arial" pitchFamily="34" charset="-120"/>
              </a:rPr>
              <a:t>Check the result, then loop</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THE SHOWCASE: WATCHAGENT</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WatchAgent hands the LLM a goal and five tools, and lets it decide how to get a grounded price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watchagent/agent.py, tools.py, .github/workflows/watchagent-check.yml</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4</a:t>
            </a:r>
            <a:endParaRPr lang="en-US" sz="900" dirty="0"/>
          </a:p>
        </p:txBody>
      </p:sp>
      <p:sp>
        <p:nvSpPr>
          <p:cNvPr id="7" name="Shape 4"/>
          <p:cNvSpPr/>
          <p:nvPr/>
        </p:nvSpPr>
        <p:spPr>
          <a:xfrm>
            <a:off x="548640" y="1691640"/>
            <a:ext cx="1600200" cy="1783080"/>
          </a:xfrm>
          <a:prstGeom prst="rect">
            <a:avLst/>
          </a:prstGeom>
          <a:solidFill>
            <a:srgbClr val="F2F4F7"/>
          </a:solidFill>
          <a:ln w="12700">
            <a:solidFill>
              <a:srgbClr val="F2F4F7"/>
            </a:solidFill>
            <a:prstDash val="solid"/>
          </a:ln>
        </p:spPr>
      </p:sp>
      <p:sp>
        <p:nvSpPr>
          <p:cNvPr id="8" name="Text 5"/>
          <p:cNvSpPr txBox="1"/>
          <p:nvPr/>
        </p:nvSpPr>
        <p:spPr>
          <a:xfrm>
            <a:off x="68580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Trigger</a:t>
            </a:r>
            <a:endParaRPr lang="en-US" sz="1400" dirty="0"/>
          </a:p>
        </p:txBody>
      </p:sp>
      <p:sp>
        <p:nvSpPr>
          <p:cNvPr id="9" name="Text 6"/>
          <p:cNvSpPr txBox="1"/>
          <p:nvPr/>
        </p:nvSpPr>
        <p:spPr>
          <a:xfrm>
            <a:off x="68580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GitHub Actions cron, every 6 hours</a:t>
            </a:r>
            <a:endParaRPr lang="en-US" sz="1100" dirty="0"/>
          </a:p>
        </p:txBody>
      </p:sp>
      <p:sp>
        <p:nvSpPr>
          <p:cNvPr id="10" name="Shape 7"/>
          <p:cNvSpPr/>
          <p:nvPr/>
        </p:nvSpPr>
        <p:spPr>
          <a:xfrm>
            <a:off x="2176272" y="2468880"/>
            <a:ext cx="219456" cy="219456"/>
          </a:xfrm>
          <a:prstGeom prst="rightArrow">
            <a:avLst/>
          </a:prstGeom>
          <a:solidFill>
            <a:srgbClr val="2251FF"/>
          </a:solidFill>
          <a:ln w="12700">
            <a:solidFill>
              <a:srgbClr val="2251FF"/>
            </a:solidFill>
            <a:prstDash val="solid"/>
          </a:ln>
        </p:spPr>
      </p:sp>
      <p:sp>
        <p:nvSpPr>
          <p:cNvPr id="11" name="Shape 8"/>
          <p:cNvSpPr/>
          <p:nvPr/>
        </p:nvSpPr>
        <p:spPr>
          <a:xfrm>
            <a:off x="2423160" y="1691640"/>
            <a:ext cx="1600200" cy="1783080"/>
          </a:xfrm>
          <a:prstGeom prst="rect">
            <a:avLst/>
          </a:prstGeom>
          <a:solidFill>
            <a:srgbClr val="051C2C"/>
          </a:solidFill>
          <a:ln w="12700">
            <a:solidFill>
              <a:srgbClr val="051C2C"/>
            </a:solidFill>
            <a:prstDash val="solid"/>
          </a:ln>
        </p:spPr>
      </p:sp>
      <p:sp>
        <p:nvSpPr>
          <p:cNvPr id="12" name="Text 9"/>
          <p:cNvSpPr txBox="1"/>
          <p:nvPr/>
        </p:nvSpPr>
        <p:spPr>
          <a:xfrm>
            <a:off x="2560320" y="1810512"/>
            <a:ext cx="1325880" cy="32004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Agent</a:t>
            </a:r>
            <a:endParaRPr lang="en-US" sz="1400" dirty="0"/>
          </a:p>
        </p:txBody>
      </p:sp>
      <p:sp>
        <p:nvSpPr>
          <p:cNvPr id="13" name="Text 10"/>
          <p:cNvSpPr txBox="1"/>
          <p:nvPr/>
        </p:nvSpPr>
        <p:spPr>
          <a:xfrm>
            <a:off x="2560320" y="2194560"/>
            <a:ext cx="1325880" cy="11887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LangChain create_agent with a Gemini model</a:t>
            </a:r>
            <a:endParaRPr lang="en-US" sz="1100" dirty="0"/>
          </a:p>
        </p:txBody>
      </p:sp>
      <p:sp>
        <p:nvSpPr>
          <p:cNvPr id="14" name="Shape 11"/>
          <p:cNvSpPr/>
          <p:nvPr/>
        </p:nvSpPr>
        <p:spPr>
          <a:xfrm>
            <a:off x="4050792" y="2468880"/>
            <a:ext cx="219456" cy="219456"/>
          </a:xfrm>
          <a:prstGeom prst="rightArrow">
            <a:avLst/>
          </a:prstGeom>
          <a:solidFill>
            <a:srgbClr val="2251FF"/>
          </a:solidFill>
          <a:ln w="12700">
            <a:solidFill>
              <a:srgbClr val="2251FF"/>
            </a:solidFill>
            <a:prstDash val="solid"/>
          </a:ln>
        </p:spPr>
      </p:sp>
      <p:sp>
        <p:nvSpPr>
          <p:cNvPr id="15" name="Shape 12"/>
          <p:cNvSpPr/>
          <p:nvPr/>
        </p:nvSpPr>
        <p:spPr>
          <a:xfrm>
            <a:off x="4297680" y="1691640"/>
            <a:ext cx="1600200" cy="1783080"/>
          </a:xfrm>
          <a:prstGeom prst="rect">
            <a:avLst/>
          </a:prstGeom>
          <a:solidFill>
            <a:srgbClr val="F2F4F7"/>
          </a:solidFill>
          <a:ln w="12700">
            <a:solidFill>
              <a:srgbClr val="F2F4F7"/>
            </a:solidFill>
            <a:prstDash val="solid"/>
          </a:ln>
        </p:spPr>
      </p:sp>
      <p:sp>
        <p:nvSpPr>
          <p:cNvPr id="16" name="Text 13"/>
          <p:cNvSpPr txBox="1"/>
          <p:nvPr/>
        </p:nvSpPr>
        <p:spPr>
          <a:xfrm>
            <a:off x="443484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Tools</a:t>
            </a:r>
            <a:endParaRPr lang="en-US" sz="1400" dirty="0"/>
          </a:p>
        </p:txBody>
      </p:sp>
      <p:sp>
        <p:nvSpPr>
          <p:cNvPr id="17" name="Text 14"/>
          <p:cNvSpPr txBox="1"/>
          <p:nvPr/>
        </p:nvSpPr>
        <p:spPr>
          <a:xfrm>
            <a:off x="443484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Search Chrono24, WatchCharts and the web; record; read history</a:t>
            </a:r>
            <a:endParaRPr lang="en-US" sz="1100" dirty="0"/>
          </a:p>
        </p:txBody>
      </p:sp>
      <p:sp>
        <p:nvSpPr>
          <p:cNvPr id="18" name="Shape 15"/>
          <p:cNvSpPr/>
          <p:nvPr/>
        </p:nvSpPr>
        <p:spPr>
          <a:xfrm>
            <a:off x="5925312" y="2468880"/>
            <a:ext cx="219456" cy="219456"/>
          </a:xfrm>
          <a:prstGeom prst="rightArrow">
            <a:avLst/>
          </a:prstGeom>
          <a:solidFill>
            <a:srgbClr val="2251FF"/>
          </a:solidFill>
          <a:ln w="12700">
            <a:solidFill>
              <a:srgbClr val="2251FF"/>
            </a:solidFill>
            <a:prstDash val="solid"/>
          </a:ln>
        </p:spPr>
      </p:sp>
      <p:sp>
        <p:nvSpPr>
          <p:cNvPr id="19" name="Shape 16"/>
          <p:cNvSpPr/>
          <p:nvPr/>
        </p:nvSpPr>
        <p:spPr>
          <a:xfrm>
            <a:off x="6172200" y="1691640"/>
            <a:ext cx="1600200" cy="1783080"/>
          </a:xfrm>
          <a:prstGeom prst="rect">
            <a:avLst/>
          </a:prstGeom>
          <a:solidFill>
            <a:srgbClr val="F2F4F7"/>
          </a:solidFill>
          <a:ln w="12700">
            <a:solidFill>
              <a:srgbClr val="F2F4F7"/>
            </a:solidFill>
            <a:prstDash val="solid"/>
          </a:ln>
        </p:spPr>
      </p:sp>
      <p:sp>
        <p:nvSpPr>
          <p:cNvPr id="20" name="Text 17"/>
          <p:cNvSpPr txBox="1"/>
          <p:nvPr/>
        </p:nvSpPr>
        <p:spPr>
          <a:xfrm>
            <a:off x="630936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Guardrails</a:t>
            </a:r>
            <a:endParaRPr lang="en-US" sz="1400" dirty="0"/>
          </a:p>
        </p:txBody>
      </p:sp>
      <p:sp>
        <p:nvSpPr>
          <p:cNvPr id="21" name="Text 18"/>
          <p:cNvSpPr txBox="1"/>
          <p:nvPr/>
        </p:nvSpPr>
        <p:spPr>
          <a:xfrm>
            <a:off x="630936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Price grounding and 2-source consensus</a:t>
            </a:r>
            <a:endParaRPr lang="en-US" sz="1100" dirty="0"/>
          </a:p>
        </p:txBody>
      </p:sp>
      <p:sp>
        <p:nvSpPr>
          <p:cNvPr id="22" name="Shape 19"/>
          <p:cNvSpPr/>
          <p:nvPr/>
        </p:nvSpPr>
        <p:spPr>
          <a:xfrm>
            <a:off x="7799832" y="2468880"/>
            <a:ext cx="219456" cy="219456"/>
          </a:xfrm>
          <a:prstGeom prst="rightArrow">
            <a:avLst/>
          </a:prstGeom>
          <a:solidFill>
            <a:srgbClr val="2251FF"/>
          </a:solidFill>
          <a:ln w="12700">
            <a:solidFill>
              <a:srgbClr val="2251FF"/>
            </a:solidFill>
            <a:prstDash val="solid"/>
          </a:ln>
        </p:spPr>
      </p:sp>
      <p:sp>
        <p:nvSpPr>
          <p:cNvPr id="23" name="Shape 20"/>
          <p:cNvSpPr/>
          <p:nvPr/>
        </p:nvSpPr>
        <p:spPr>
          <a:xfrm>
            <a:off x="8046720" y="1691640"/>
            <a:ext cx="1600200" cy="1783080"/>
          </a:xfrm>
          <a:prstGeom prst="rect">
            <a:avLst/>
          </a:prstGeom>
          <a:solidFill>
            <a:srgbClr val="F2F4F7"/>
          </a:solidFill>
          <a:ln w="12700">
            <a:solidFill>
              <a:srgbClr val="F2F4F7"/>
            </a:solidFill>
            <a:prstDash val="solid"/>
          </a:ln>
        </p:spPr>
      </p:sp>
      <p:sp>
        <p:nvSpPr>
          <p:cNvPr id="24" name="Text 21"/>
          <p:cNvSpPr txBox="1"/>
          <p:nvPr/>
        </p:nvSpPr>
        <p:spPr>
          <a:xfrm>
            <a:off x="818388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Memory</a:t>
            </a:r>
            <a:endParaRPr lang="en-US" sz="1400" dirty="0"/>
          </a:p>
        </p:txBody>
      </p:sp>
      <p:sp>
        <p:nvSpPr>
          <p:cNvPr id="25" name="Text 22"/>
          <p:cNvSpPr txBox="1"/>
          <p:nvPr/>
        </p:nvSpPr>
        <p:spPr>
          <a:xfrm>
            <a:off x="818388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SQLite price history, committed back to the repo</a:t>
            </a:r>
            <a:endParaRPr lang="en-US" sz="1100" dirty="0"/>
          </a:p>
        </p:txBody>
      </p:sp>
      <p:sp>
        <p:nvSpPr>
          <p:cNvPr id="26" name="Shape 23"/>
          <p:cNvSpPr/>
          <p:nvPr/>
        </p:nvSpPr>
        <p:spPr>
          <a:xfrm>
            <a:off x="9674352" y="2468880"/>
            <a:ext cx="219456" cy="219456"/>
          </a:xfrm>
          <a:prstGeom prst="rightArrow">
            <a:avLst/>
          </a:prstGeom>
          <a:solidFill>
            <a:srgbClr val="2251FF"/>
          </a:solidFill>
          <a:ln w="12700">
            <a:solidFill>
              <a:srgbClr val="2251FF"/>
            </a:solidFill>
            <a:prstDash val="solid"/>
          </a:ln>
        </p:spPr>
      </p:sp>
      <p:sp>
        <p:nvSpPr>
          <p:cNvPr id="27" name="Shape 24"/>
          <p:cNvSpPr/>
          <p:nvPr/>
        </p:nvSpPr>
        <p:spPr>
          <a:xfrm>
            <a:off x="9921240" y="1691640"/>
            <a:ext cx="1600200" cy="1783080"/>
          </a:xfrm>
          <a:prstGeom prst="rect">
            <a:avLst/>
          </a:prstGeom>
          <a:solidFill>
            <a:srgbClr val="F2F4F7"/>
          </a:solidFill>
          <a:ln w="12700">
            <a:solidFill>
              <a:srgbClr val="F2F4F7"/>
            </a:solidFill>
            <a:prstDash val="solid"/>
          </a:ln>
        </p:spPr>
      </p:sp>
      <p:sp>
        <p:nvSpPr>
          <p:cNvPr id="28" name="Text 25"/>
          <p:cNvSpPr txBox="1"/>
          <p:nvPr/>
        </p:nvSpPr>
        <p:spPr>
          <a:xfrm>
            <a:off x="10058400" y="1810512"/>
            <a:ext cx="1325880" cy="320040"/>
          </a:xfrm>
          <a:prstGeom prst="rect">
            <a:avLst/>
          </a:prstGeom>
          <a:noFill/>
          <a:ln/>
        </p:spPr>
        <p:txBody>
          <a:bodyPr wrap="square" lIns="0" tIns="0" rIns="0" bIns="0" rtlCol="0" anchor="t"/>
          <a:lstStyle/>
          <a:p>
            <a:pPr indent="0" marL="0">
              <a:buNone/>
            </a:pPr>
            <a:r>
              <a:rPr lang="en-US" sz="1400" b="1" dirty="0">
                <a:solidFill>
                  <a:srgbClr val="051C2C"/>
                </a:solidFill>
                <a:latin typeface="Arial" pitchFamily="34" charset="0"/>
                <a:ea typeface="Arial" pitchFamily="34" charset="-122"/>
                <a:cs typeface="Arial" pitchFamily="34" charset="-120"/>
              </a:rPr>
              <a:t>Output</a:t>
            </a:r>
            <a:endParaRPr lang="en-US" sz="1400" dirty="0"/>
          </a:p>
        </p:txBody>
      </p:sp>
      <p:sp>
        <p:nvSpPr>
          <p:cNvPr id="29" name="Text 26"/>
          <p:cNvSpPr txBox="1"/>
          <p:nvPr/>
        </p:nvSpPr>
        <p:spPr>
          <a:xfrm>
            <a:off x="10058400" y="2194560"/>
            <a:ext cx="1325880" cy="118872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BUY / WAIT / OVERPRICED verdict and Telegram alert</a:t>
            </a:r>
            <a:endParaRPr lang="en-US" sz="1100" dirty="0"/>
          </a:p>
        </p:txBody>
      </p:sp>
      <p:sp>
        <p:nvSpPr>
          <p:cNvPr id="30" name="Shape 27"/>
          <p:cNvSpPr/>
          <p:nvPr/>
        </p:nvSpPr>
        <p:spPr>
          <a:xfrm>
            <a:off x="548640" y="3840480"/>
            <a:ext cx="5440680" cy="2011680"/>
          </a:xfrm>
          <a:prstGeom prst="rect">
            <a:avLst/>
          </a:prstGeom>
          <a:solidFill>
            <a:srgbClr val="FFFFFF"/>
          </a:solidFill>
          <a:ln w="12700">
            <a:solidFill>
              <a:srgbClr val="C9CED6"/>
            </a:solidFill>
            <a:prstDash val="solid"/>
          </a:ln>
        </p:spPr>
      </p:sp>
      <p:sp>
        <p:nvSpPr>
          <p:cNvPr id="31" name="Text 28"/>
          <p:cNvSpPr txBox="1"/>
          <p:nvPr/>
        </p:nvSpPr>
        <p:spPr>
          <a:xfrm>
            <a:off x="777240" y="3977640"/>
            <a:ext cx="4937760" cy="32004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The LLM decides</a:t>
            </a:r>
            <a:endParaRPr lang="en-US" sz="1800" dirty="0"/>
          </a:p>
        </p:txBody>
      </p:sp>
      <p:sp>
        <p:nvSpPr>
          <p:cNvPr id="32" name="Text 29"/>
          <p:cNvSpPr txBox="1"/>
          <p:nvPr/>
        </p:nvSpPr>
        <p:spPr>
          <a:xfrm>
            <a:off x="777240" y="438912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Which sources to search, and in what order</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Which listing states this exact watch's price</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Whether to confirm across sources or fall back to one</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How price, target and trend add up to a verdict</a:t>
            </a:r>
            <a:endParaRPr lang="en-US" sz="1300" dirty="0"/>
          </a:p>
        </p:txBody>
      </p:sp>
      <p:sp>
        <p:nvSpPr>
          <p:cNvPr id="33" name="Shape 30"/>
          <p:cNvSpPr/>
          <p:nvPr/>
        </p:nvSpPr>
        <p:spPr>
          <a:xfrm>
            <a:off x="6217920" y="3840480"/>
            <a:ext cx="5422392" cy="2011680"/>
          </a:xfrm>
          <a:prstGeom prst="rect">
            <a:avLst/>
          </a:prstGeom>
          <a:solidFill>
            <a:srgbClr val="FFFFFF"/>
          </a:solidFill>
          <a:ln w="12700">
            <a:solidFill>
              <a:srgbClr val="C9CED6"/>
            </a:solidFill>
            <a:prstDash val="solid"/>
          </a:ln>
        </p:spPr>
      </p:sp>
      <p:sp>
        <p:nvSpPr>
          <p:cNvPr id="34" name="Text 31"/>
          <p:cNvSpPr txBox="1"/>
          <p:nvPr/>
        </p:nvSpPr>
        <p:spPr>
          <a:xfrm>
            <a:off x="6446520" y="3977640"/>
            <a:ext cx="4937760" cy="320040"/>
          </a:xfrm>
          <a:prstGeom prst="rect">
            <a:avLst/>
          </a:prstGeom>
          <a:noFill/>
          <a:ln/>
        </p:spPr>
        <p:txBody>
          <a:bodyPr wrap="square" lIns="0" tIns="0" rIns="0" bIns="0" rtlCol="0" anchor="t"/>
          <a:lstStyle/>
          <a:p>
            <a:pPr indent="0" marL="0">
              <a:buNone/>
            </a:pPr>
            <a:r>
              <a:rPr lang="en-US" sz="1800" b="1" dirty="0">
                <a:solidFill>
                  <a:srgbClr val="051C2C"/>
                </a:solidFill>
                <a:latin typeface="Georgia" pitchFamily="34" charset="0"/>
                <a:ea typeface="Georgia" pitchFamily="34" charset="-122"/>
                <a:cs typeface="Georgia" pitchFamily="34" charset="-120"/>
              </a:rPr>
              <a:t>Plain code enforces</a:t>
            </a:r>
            <a:endParaRPr lang="en-US" sz="1800" dirty="0"/>
          </a:p>
        </p:txBody>
      </p:sp>
      <p:sp>
        <p:nvSpPr>
          <p:cNvPr id="35" name="Text 32"/>
          <p:cNvSpPr txBox="1"/>
          <p:nvPr/>
        </p:nvSpPr>
        <p:spPr>
          <a:xfrm>
            <a:off x="6446520" y="438912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A recorded price must appear in the cited snippet</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Confirmation needs 2+ sources within 5%</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The verdict must be BUY, WAIT or OVERPRICED</a:t>
            </a:r>
            <a:endParaRPr lang="en-US" sz="1300" dirty="0"/>
          </a:p>
          <a:p>
            <a:pPr marL="342900" indent="-342900">
              <a:spcAft>
                <a:spcPts val="600"/>
              </a:spcAft>
              <a:buSzPct val="100000"/>
              <a:buChar char="•"/>
            </a:pPr>
            <a:r>
              <a:rPr lang="en-US" sz="1300" dirty="0">
                <a:solidFill>
                  <a:srgbClr val="1F2933"/>
                </a:solidFill>
                <a:latin typeface="Arial" pitchFamily="34" charset="0"/>
                <a:ea typeface="Arial" pitchFamily="34" charset="-122"/>
                <a:cs typeface="Arial" pitchFamily="34" charset="-120"/>
              </a:rPr>
              <a:t>No repeat alert for the same watch within 12 hours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WHAT MAKES AN AGENT TRUSTWORTHY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Autonomy is earned through constraints: five guardrails keep the agent honest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watchagent/tools.py, agent.py, cli.py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5</a:t>
            </a:r>
            <a:endParaRPr lang="en-US" sz="900" dirty="0"/>
          </a:p>
        </p:txBody>
      </p:sp>
      <p:sp>
        <p:nvSpPr>
          <p:cNvPr id="7" name="Shape 4"/>
          <p:cNvSpPr/>
          <p:nvPr/>
        </p:nvSpPr>
        <p:spPr>
          <a:xfrm>
            <a:off x="548640" y="1783080"/>
            <a:ext cx="2048256" cy="3429000"/>
          </a:xfrm>
          <a:prstGeom prst="rect">
            <a:avLst/>
          </a:prstGeom>
          <a:solidFill>
            <a:srgbClr val="F2F4F7"/>
          </a:solidFill>
          <a:ln w="12700">
            <a:solidFill>
              <a:srgbClr val="F2F4F7"/>
            </a:solidFill>
            <a:prstDash val="solid"/>
          </a:ln>
        </p:spPr>
      </p:sp>
      <p:sp>
        <p:nvSpPr>
          <p:cNvPr id="8" name="Shape 5"/>
          <p:cNvSpPr/>
          <p:nvPr/>
        </p:nvSpPr>
        <p:spPr>
          <a:xfrm>
            <a:off x="731520" y="1965960"/>
            <a:ext cx="457200" cy="457200"/>
          </a:xfrm>
          <a:prstGeom prst="ellipse">
            <a:avLst/>
          </a:prstGeom>
          <a:solidFill>
            <a:srgbClr val="2251FF"/>
          </a:solidFill>
          <a:ln w="12700">
            <a:solidFill>
              <a:srgbClr val="2251FF"/>
            </a:solidFill>
            <a:prstDash val="solid"/>
          </a:ln>
        </p:spPr>
      </p:sp>
      <p:sp>
        <p:nvSpPr>
          <p:cNvPr id="9" name="Text 6"/>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7"/>
          <p:cNvSpPr txBox="1"/>
          <p:nvPr/>
        </p:nvSpPr>
        <p:spPr>
          <a:xfrm>
            <a:off x="731520"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Price grounding</a:t>
            </a:r>
            <a:endParaRPr lang="en-US" sz="1500" dirty="0"/>
          </a:p>
        </p:txBody>
      </p:sp>
      <p:sp>
        <p:nvSpPr>
          <p:cNvPr id="11" name="Text 8"/>
          <p:cNvSpPr txBox="1"/>
          <p:nvPr/>
        </p:nvSpPr>
        <p:spPr>
          <a:xfrm>
            <a:off x="731520"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A price is rejected unless it actually appears in the search snippet the agent cites.</a:t>
            </a:r>
            <a:endParaRPr lang="en-US" sz="1300" dirty="0"/>
          </a:p>
        </p:txBody>
      </p:sp>
      <p:sp>
        <p:nvSpPr>
          <p:cNvPr id="12" name="Text 9"/>
          <p:cNvSpPr txBox="1"/>
          <p:nvPr/>
        </p:nvSpPr>
        <p:spPr>
          <a:xfrm>
            <a:off x="731520"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_price_is_grounded</a:t>
            </a:r>
            <a:endParaRPr lang="en-US" sz="900" dirty="0"/>
          </a:p>
        </p:txBody>
      </p:sp>
      <p:sp>
        <p:nvSpPr>
          <p:cNvPr id="13" name="Shape 10"/>
          <p:cNvSpPr/>
          <p:nvPr/>
        </p:nvSpPr>
        <p:spPr>
          <a:xfrm>
            <a:off x="2779776" y="1783080"/>
            <a:ext cx="2048256" cy="3429000"/>
          </a:xfrm>
          <a:prstGeom prst="rect">
            <a:avLst/>
          </a:prstGeom>
          <a:solidFill>
            <a:srgbClr val="F2F4F7"/>
          </a:solidFill>
          <a:ln w="12700">
            <a:solidFill>
              <a:srgbClr val="F2F4F7"/>
            </a:solidFill>
            <a:prstDash val="solid"/>
          </a:ln>
        </p:spPr>
      </p:sp>
      <p:sp>
        <p:nvSpPr>
          <p:cNvPr id="14" name="Shape 11"/>
          <p:cNvSpPr/>
          <p:nvPr/>
        </p:nvSpPr>
        <p:spPr>
          <a:xfrm>
            <a:off x="2962656" y="1965960"/>
            <a:ext cx="457200" cy="457200"/>
          </a:xfrm>
          <a:prstGeom prst="ellipse">
            <a:avLst/>
          </a:prstGeom>
          <a:solidFill>
            <a:srgbClr val="051C2C"/>
          </a:solidFill>
          <a:ln w="12700">
            <a:solidFill>
              <a:srgbClr val="051C2C"/>
            </a:solidFill>
            <a:prstDash val="solid"/>
          </a:ln>
        </p:spPr>
      </p:sp>
      <p:sp>
        <p:nvSpPr>
          <p:cNvPr id="15" name="Text 12"/>
          <p:cNvSpPr txBox="1"/>
          <p:nvPr/>
        </p:nvSpPr>
        <p:spPr>
          <a:xfrm>
            <a:off x="2962656"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txBox="1"/>
          <p:nvPr/>
        </p:nvSpPr>
        <p:spPr>
          <a:xfrm>
            <a:off x="2962656"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Multi-source consensus</a:t>
            </a:r>
            <a:endParaRPr lang="en-US" sz="1500" dirty="0"/>
          </a:p>
        </p:txBody>
      </p:sp>
      <p:sp>
        <p:nvSpPr>
          <p:cNvPr id="17" name="Text 14"/>
          <p:cNvSpPr txBox="1"/>
          <p:nvPr/>
        </p:nvSpPr>
        <p:spPr>
          <a:xfrm>
            <a:off x="2962656"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Two or more sources must agree within 5%; the median of the agreeing prices is recorded.</a:t>
            </a:r>
            <a:endParaRPr lang="en-US" sz="1300" dirty="0"/>
          </a:p>
        </p:txBody>
      </p:sp>
      <p:sp>
        <p:nvSpPr>
          <p:cNvPr id="18" name="Text 15"/>
          <p:cNvSpPr txBox="1"/>
          <p:nvPr/>
        </p:nvSpPr>
        <p:spPr>
          <a:xfrm>
            <a:off x="2962656"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record_price_confirmed</a:t>
            </a:r>
            <a:endParaRPr lang="en-US" sz="900" dirty="0"/>
          </a:p>
        </p:txBody>
      </p:sp>
      <p:sp>
        <p:nvSpPr>
          <p:cNvPr id="19" name="Shape 16"/>
          <p:cNvSpPr/>
          <p:nvPr/>
        </p:nvSpPr>
        <p:spPr>
          <a:xfrm>
            <a:off x="5010912" y="1783080"/>
            <a:ext cx="2048256" cy="3429000"/>
          </a:xfrm>
          <a:prstGeom prst="rect">
            <a:avLst/>
          </a:prstGeom>
          <a:solidFill>
            <a:srgbClr val="F2F4F7"/>
          </a:solidFill>
          <a:ln w="12700">
            <a:solidFill>
              <a:srgbClr val="F2F4F7"/>
            </a:solidFill>
            <a:prstDash val="solid"/>
          </a:ln>
        </p:spPr>
      </p:sp>
      <p:sp>
        <p:nvSpPr>
          <p:cNvPr id="20" name="Shape 17"/>
          <p:cNvSpPr/>
          <p:nvPr/>
        </p:nvSpPr>
        <p:spPr>
          <a:xfrm>
            <a:off x="5193792" y="1965960"/>
            <a:ext cx="457200" cy="457200"/>
          </a:xfrm>
          <a:prstGeom prst="ellipse">
            <a:avLst/>
          </a:prstGeom>
          <a:solidFill>
            <a:srgbClr val="051C2C"/>
          </a:solidFill>
          <a:ln w="12700">
            <a:solidFill>
              <a:srgbClr val="051C2C"/>
            </a:solidFill>
            <a:prstDash val="solid"/>
          </a:ln>
        </p:spPr>
      </p:sp>
      <p:sp>
        <p:nvSpPr>
          <p:cNvPr id="21" name="Text 18"/>
          <p:cNvSpPr txBox="1"/>
          <p:nvPr/>
        </p:nvSpPr>
        <p:spPr>
          <a:xfrm>
            <a:off x="5193792"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2" name="Text 19"/>
          <p:cNvSpPr txBox="1"/>
          <p:nvPr/>
        </p:nvSpPr>
        <p:spPr>
          <a:xfrm>
            <a:off x="5193792"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Structured output</a:t>
            </a:r>
            <a:endParaRPr lang="en-US" sz="1500" dirty="0"/>
          </a:p>
        </p:txBody>
      </p:sp>
      <p:sp>
        <p:nvSpPr>
          <p:cNvPr id="23" name="Text 20"/>
          <p:cNvSpPr txBox="1"/>
          <p:nvPr/>
        </p:nvSpPr>
        <p:spPr>
          <a:xfrm>
            <a:off x="5193792"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The final answer is a typed verdict (BUY, WAIT or OVERPRICED), not free text.</a:t>
            </a:r>
            <a:endParaRPr lang="en-US" sz="1300" dirty="0"/>
          </a:p>
        </p:txBody>
      </p:sp>
      <p:sp>
        <p:nvSpPr>
          <p:cNvPr id="24" name="Text 21"/>
          <p:cNvSpPr txBox="1"/>
          <p:nvPr/>
        </p:nvSpPr>
        <p:spPr>
          <a:xfrm>
            <a:off x="5193792"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WatchVerdict (Pydantic)</a:t>
            </a:r>
            <a:endParaRPr lang="en-US" sz="900" dirty="0"/>
          </a:p>
        </p:txBody>
      </p:sp>
      <p:sp>
        <p:nvSpPr>
          <p:cNvPr id="25" name="Shape 22"/>
          <p:cNvSpPr/>
          <p:nvPr/>
        </p:nvSpPr>
        <p:spPr>
          <a:xfrm>
            <a:off x="7242048" y="1783080"/>
            <a:ext cx="2048256" cy="3429000"/>
          </a:xfrm>
          <a:prstGeom prst="rect">
            <a:avLst/>
          </a:prstGeom>
          <a:solidFill>
            <a:srgbClr val="F2F4F7"/>
          </a:solidFill>
          <a:ln w="12700">
            <a:solidFill>
              <a:srgbClr val="F2F4F7"/>
            </a:solidFill>
            <a:prstDash val="solid"/>
          </a:ln>
        </p:spPr>
      </p:sp>
      <p:sp>
        <p:nvSpPr>
          <p:cNvPr id="26" name="Shape 23"/>
          <p:cNvSpPr/>
          <p:nvPr/>
        </p:nvSpPr>
        <p:spPr>
          <a:xfrm>
            <a:off x="7424928" y="1965960"/>
            <a:ext cx="457200" cy="457200"/>
          </a:xfrm>
          <a:prstGeom prst="ellipse">
            <a:avLst/>
          </a:prstGeom>
          <a:solidFill>
            <a:srgbClr val="051C2C"/>
          </a:solidFill>
          <a:ln w="12700">
            <a:solidFill>
              <a:srgbClr val="051C2C"/>
            </a:solidFill>
            <a:prstDash val="solid"/>
          </a:ln>
        </p:spPr>
      </p:sp>
      <p:sp>
        <p:nvSpPr>
          <p:cNvPr id="27" name="Text 24"/>
          <p:cNvSpPr txBox="1"/>
          <p:nvPr/>
        </p:nvSpPr>
        <p:spPr>
          <a:xfrm>
            <a:off x="7424928"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8" name="Text 25"/>
          <p:cNvSpPr txBox="1"/>
          <p:nvPr/>
        </p:nvSpPr>
        <p:spPr>
          <a:xfrm>
            <a:off x="7424928"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Resilience</a:t>
            </a:r>
            <a:endParaRPr lang="en-US" sz="1500" dirty="0"/>
          </a:p>
        </p:txBody>
      </p:sp>
      <p:sp>
        <p:nvSpPr>
          <p:cNvPr id="29" name="Text 26"/>
          <p:cNvSpPr txBox="1"/>
          <p:nvPr/>
        </p:nvSpPr>
        <p:spPr>
          <a:xfrm>
            <a:off x="7424928"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Rate-limit errors retry with exponential backoff; a recursion limit of 30 stops runaway loops.</a:t>
            </a:r>
            <a:endParaRPr lang="en-US" sz="1300" dirty="0"/>
          </a:p>
        </p:txBody>
      </p:sp>
      <p:sp>
        <p:nvSpPr>
          <p:cNvPr id="30" name="Text 27"/>
          <p:cNvSpPr txBox="1"/>
          <p:nvPr/>
        </p:nvSpPr>
        <p:spPr>
          <a:xfrm>
            <a:off x="7424928"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check_watch</a:t>
            </a:r>
            <a:endParaRPr lang="en-US" sz="900" dirty="0"/>
          </a:p>
        </p:txBody>
      </p:sp>
      <p:sp>
        <p:nvSpPr>
          <p:cNvPr id="31" name="Shape 28"/>
          <p:cNvSpPr/>
          <p:nvPr/>
        </p:nvSpPr>
        <p:spPr>
          <a:xfrm>
            <a:off x="9473184" y="1783080"/>
            <a:ext cx="2048256" cy="3429000"/>
          </a:xfrm>
          <a:prstGeom prst="rect">
            <a:avLst/>
          </a:prstGeom>
          <a:solidFill>
            <a:srgbClr val="F2F4F7"/>
          </a:solidFill>
          <a:ln w="12700">
            <a:solidFill>
              <a:srgbClr val="F2F4F7"/>
            </a:solidFill>
            <a:prstDash val="solid"/>
          </a:ln>
        </p:spPr>
      </p:sp>
      <p:sp>
        <p:nvSpPr>
          <p:cNvPr id="32" name="Shape 29"/>
          <p:cNvSpPr/>
          <p:nvPr/>
        </p:nvSpPr>
        <p:spPr>
          <a:xfrm>
            <a:off x="9656064" y="1965960"/>
            <a:ext cx="457200" cy="457200"/>
          </a:xfrm>
          <a:prstGeom prst="ellipse">
            <a:avLst/>
          </a:prstGeom>
          <a:solidFill>
            <a:srgbClr val="051C2C"/>
          </a:solidFill>
          <a:ln w="12700">
            <a:solidFill>
              <a:srgbClr val="051C2C"/>
            </a:solidFill>
            <a:prstDash val="solid"/>
          </a:ln>
        </p:spPr>
      </p:sp>
      <p:sp>
        <p:nvSpPr>
          <p:cNvPr id="33" name="Text 30"/>
          <p:cNvSpPr txBox="1"/>
          <p:nvPr/>
        </p:nvSpPr>
        <p:spPr>
          <a:xfrm>
            <a:off x="9656064" y="1965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4" name="Text 31"/>
          <p:cNvSpPr txBox="1"/>
          <p:nvPr/>
        </p:nvSpPr>
        <p:spPr>
          <a:xfrm>
            <a:off x="9656064" y="2606040"/>
            <a:ext cx="1691640" cy="640080"/>
          </a:xfrm>
          <a:prstGeom prst="rect">
            <a:avLst/>
          </a:prstGeom>
          <a:noFill/>
          <a:ln/>
        </p:spPr>
        <p:txBody>
          <a:bodyPr wrap="square" lIns="0" tIns="0" rIns="0" bIns="0" rtlCol="0" anchor="t"/>
          <a:lstStyle/>
          <a:p>
            <a:pPr indent="0" marL="0">
              <a:buNone/>
            </a:pPr>
            <a:r>
              <a:rPr lang="en-US" sz="1500" b="1" dirty="0">
                <a:solidFill>
                  <a:srgbClr val="051C2C"/>
                </a:solidFill>
                <a:latin typeface="Arial" pitchFamily="34" charset="0"/>
                <a:ea typeface="Arial" pitchFamily="34" charset="-122"/>
                <a:cs typeface="Arial" pitchFamily="34" charset="-120"/>
              </a:rPr>
              <a:t>Alert hygiene</a:t>
            </a:r>
            <a:endParaRPr lang="en-US" sz="1500" dirty="0"/>
          </a:p>
        </p:txBody>
      </p:sp>
      <p:sp>
        <p:nvSpPr>
          <p:cNvPr id="35" name="Text 32"/>
          <p:cNvSpPr txBox="1"/>
          <p:nvPr/>
        </p:nvSpPr>
        <p:spPr>
          <a:xfrm>
            <a:off x="9656064" y="3246120"/>
            <a:ext cx="1691640" cy="1325880"/>
          </a:xfrm>
          <a:prstGeom prst="rect">
            <a:avLst/>
          </a:prstGeom>
          <a:noFill/>
          <a:ln/>
        </p:spPr>
        <p:txBody>
          <a:bodyPr wrap="square" lIns="0" tIns="0" rIns="0" bIns="0" rtlCol="0" anchor="t"/>
          <a:lstStyle/>
          <a:p>
            <a:pPr indent="0" marL="0">
              <a:buNone/>
            </a:pPr>
            <a:r>
              <a:rPr lang="en-US" sz="1300" dirty="0">
                <a:solidFill>
                  <a:srgbClr val="1F2933"/>
                </a:solidFill>
                <a:latin typeface="Arial" pitchFamily="34" charset="0"/>
                <a:ea typeface="Arial" pitchFamily="34" charset="-122"/>
                <a:cs typeface="Arial" pitchFamily="34" charset="-120"/>
              </a:rPr>
              <a:t>Only BUY verdicts alert, and never twice for the same watch within 12 hours.</a:t>
            </a:r>
            <a:endParaRPr lang="en-US" sz="1300" dirty="0"/>
          </a:p>
        </p:txBody>
      </p:sp>
      <p:sp>
        <p:nvSpPr>
          <p:cNvPr id="36" name="Text 33"/>
          <p:cNvSpPr txBox="1"/>
          <p:nvPr/>
        </p:nvSpPr>
        <p:spPr>
          <a:xfrm>
            <a:off x="9656064" y="4754880"/>
            <a:ext cx="1737360" cy="365760"/>
          </a:xfrm>
          <a:prstGeom prst="rect">
            <a:avLst/>
          </a:prstGeom>
          <a:noFill/>
          <a:ln/>
        </p:spPr>
        <p:txBody>
          <a:bodyPr wrap="square" lIns="0" tIns="0" rIns="0" bIns="0" rtlCol="0" anchor="t"/>
          <a:lstStyle/>
          <a:p>
            <a:pPr indent="0" marL="0">
              <a:buNone/>
            </a:pPr>
            <a:r>
              <a:rPr lang="en-US" sz="900" dirty="0">
                <a:solidFill>
                  <a:srgbClr val="6B7280"/>
                </a:solidFill>
                <a:latin typeface="Courier New" pitchFamily="34" charset="0"/>
                <a:ea typeface="Courier New" pitchFamily="34" charset="-122"/>
                <a:cs typeface="Courier New" pitchFamily="34" charset="-120"/>
              </a:rPr>
              <a:t>_maybe_notify</a:t>
            </a:r>
            <a:endParaRPr lang="en-US" sz="900" dirty="0"/>
          </a:p>
        </p:txBody>
      </p:sp>
      <p:sp>
        <p:nvSpPr>
          <p:cNvPr id="37" name="Shape 34"/>
          <p:cNvSpPr/>
          <p:nvPr/>
        </p:nvSpPr>
        <p:spPr>
          <a:xfrm>
            <a:off x="548640" y="5440680"/>
            <a:ext cx="11091672" cy="640080"/>
          </a:xfrm>
          <a:prstGeom prst="rect">
            <a:avLst/>
          </a:prstGeom>
          <a:solidFill>
            <a:srgbClr val="051C2C"/>
          </a:solidFill>
          <a:ln w="12700">
            <a:solidFill>
              <a:srgbClr val="051C2C"/>
            </a:solidFill>
            <a:prstDash val="solid"/>
          </a:ln>
        </p:spPr>
      </p:sp>
      <p:sp>
        <p:nvSpPr>
          <p:cNvPr id="38" name="Text 35"/>
          <p:cNvSpPr txBox="1"/>
          <p:nvPr/>
        </p:nvSpPr>
        <p:spPr>
          <a:xfrm>
            <a:off x="777240" y="5440680"/>
            <a:ext cx="10607040" cy="6400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None of this is AI: it is ordinary code wrapped around the model.</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RESULTS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Seven days of unattended runs: 5 of 10 watches now sit at or below the target price</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watches.db, 301 price observations over 7 days (15-21 Sep 2026). Latest price vs target, not the agent's verdict. Patek Nautilus is 0.3% above target.</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6</a:t>
            </a:r>
            <a:endParaRPr lang="en-US" sz="900" dirty="0"/>
          </a:p>
        </p:txBody>
      </p:sp>
      <p:graphicFrame>
        <p:nvGraphicFramePr>
          <p:cNvPr id="7" name="Chart 0" descr=""/>
          <p:cNvGraphicFramePr/>
          <p:nvPr/>
        </p:nvGraphicFramePr>
        <p:xfrm>
          <a:off x="457200" y="1600200"/>
          <a:ext cx="7223760" cy="47091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8092440" y="173736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10</a:t>
            </a:r>
            <a:endParaRPr lang="en-US" sz="4000" dirty="0"/>
          </a:p>
        </p:txBody>
      </p:sp>
      <p:sp>
        <p:nvSpPr>
          <p:cNvPr id="9" name="Text 5"/>
          <p:cNvSpPr txBox="1"/>
          <p:nvPr/>
        </p:nvSpPr>
        <p:spPr>
          <a:xfrm>
            <a:off x="8092440" y="245059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watches tracked</a:t>
            </a:r>
            <a:endParaRPr lang="en-US" sz="1100" dirty="0"/>
          </a:p>
        </p:txBody>
      </p:sp>
      <p:sp>
        <p:nvSpPr>
          <p:cNvPr id="10" name="Text 6"/>
          <p:cNvSpPr txBox="1"/>
          <p:nvPr/>
        </p:nvSpPr>
        <p:spPr>
          <a:xfrm>
            <a:off x="9921240" y="173736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301</a:t>
            </a:r>
            <a:endParaRPr lang="en-US" sz="4000" dirty="0"/>
          </a:p>
        </p:txBody>
      </p:sp>
      <p:sp>
        <p:nvSpPr>
          <p:cNvPr id="11" name="Text 7"/>
          <p:cNvSpPr txBox="1"/>
          <p:nvPr/>
        </p:nvSpPr>
        <p:spPr>
          <a:xfrm>
            <a:off x="9921240" y="245059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price observations</a:t>
            </a:r>
            <a:endParaRPr lang="en-US" sz="1100" dirty="0"/>
          </a:p>
        </p:txBody>
      </p:sp>
      <p:sp>
        <p:nvSpPr>
          <p:cNvPr id="12" name="Text 8"/>
          <p:cNvSpPr txBox="1"/>
          <p:nvPr/>
        </p:nvSpPr>
        <p:spPr>
          <a:xfrm>
            <a:off x="8092440" y="315468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51</a:t>
            </a:r>
            <a:endParaRPr lang="en-US" sz="4000" dirty="0"/>
          </a:p>
        </p:txBody>
      </p:sp>
      <p:sp>
        <p:nvSpPr>
          <p:cNvPr id="13" name="Text 9"/>
          <p:cNvSpPr txBox="1"/>
          <p:nvPr/>
        </p:nvSpPr>
        <p:spPr>
          <a:xfrm>
            <a:off x="8092440" y="386791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confirmed across 2+ sources</a:t>
            </a:r>
            <a:endParaRPr lang="en-US" sz="1100" dirty="0"/>
          </a:p>
        </p:txBody>
      </p:sp>
      <p:sp>
        <p:nvSpPr>
          <p:cNvPr id="14" name="Text 10"/>
          <p:cNvSpPr txBox="1"/>
          <p:nvPr/>
        </p:nvSpPr>
        <p:spPr>
          <a:xfrm>
            <a:off x="9921240" y="3154680"/>
            <a:ext cx="1737360" cy="685800"/>
          </a:xfrm>
          <a:prstGeom prst="rect">
            <a:avLst/>
          </a:prstGeom>
          <a:noFill/>
          <a:ln/>
        </p:spPr>
        <p:txBody>
          <a:bodyPr wrap="square" lIns="0" tIns="0" rIns="0" bIns="0" rtlCol="0" anchor="t"/>
          <a:lstStyle/>
          <a:p>
            <a:pPr indent="0" marL="0">
              <a:buNone/>
            </a:pPr>
            <a:r>
              <a:rPr lang="en-US" sz="4000" b="1" dirty="0">
                <a:solidFill>
                  <a:srgbClr val="051C2C"/>
                </a:solidFill>
                <a:latin typeface="Georgia" pitchFamily="34" charset="0"/>
                <a:ea typeface="Georgia" pitchFamily="34" charset="-122"/>
                <a:cs typeface="Georgia" pitchFamily="34" charset="-120"/>
              </a:rPr>
              <a:t>6h</a:t>
            </a:r>
            <a:endParaRPr lang="en-US" sz="4000" dirty="0"/>
          </a:p>
        </p:txBody>
      </p:sp>
      <p:sp>
        <p:nvSpPr>
          <p:cNvPr id="15" name="Text 11"/>
          <p:cNvSpPr txBox="1"/>
          <p:nvPr/>
        </p:nvSpPr>
        <p:spPr>
          <a:xfrm>
            <a:off x="9921240" y="3867912"/>
            <a:ext cx="1645920" cy="548640"/>
          </a:xfrm>
          <a:prstGeom prst="rect">
            <a:avLst/>
          </a:prstGeom>
          <a:noFill/>
          <a:ln/>
        </p:spPr>
        <p:txBody>
          <a:bodyPr wrap="square" lIns="0" tIns="0" rIns="0" bIns="0" rtlCol="0" anchor="t"/>
          <a:lstStyle/>
          <a:p>
            <a:pPr indent="0" marL="0">
              <a:buNone/>
            </a:pPr>
            <a:r>
              <a:rPr lang="en-US" sz="1100" dirty="0">
                <a:solidFill>
                  <a:srgbClr val="6B7280"/>
                </a:solidFill>
                <a:latin typeface="Arial" pitchFamily="34" charset="0"/>
                <a:ea typeface="Arial" pitchFamily="34" charset="-122"/>
                <a:cs typeface="Arial" pitchFamily="34" charset="-120"/>
              </a:rPr>
              <a:t>run interval, no human in the loop</a:t>
            </a:r>
            <a:endParaRPr lang="en-US" sz="1100" dirty="0"/>
          </a:p>
        </p:txBody>
      </p:sp>
      <p:sp>
        <p:nvSpPr>
          <p:cNvPr id="16" name="Shape 12"/>
          <p:cNvSpPr/>
          <p:nvPr/>
        </p:nvSpPr>
        <p:spPr>
          <a:xfrm>
            <a:off x="8092440" y="4754880"/>
            <a:ext cx="3547872" cy="1280160"/>
          </a:xfrm>
          <a:prstGeom prst="rect">
            <a:avLst/>
          </a:prstGeom>
          <a:solidFill>
            <a:srgbClr val="F2F4F7"/>
          </a:solidFill>
          <a:ln w="12700">
            <a:solidFill>
              <a:srgbClr val="F2F4F7"/>
            </a:solidFill>
            <a:prstDash val="solid"/>
          </a:ln>
        </p:spPr>
      </p:sp>
      <p:sp>
        <p:nvSpPr>
          <p:cNvPr id="17" name="Text 13"/>
          <p:cNvSpPr txBox="1"/>
          <p:nvPr/>
        </p:nvSpPr>
        <p:spPr>
          <a:xfrm>
            <a:off x="8275320" y="4846320"/>
            <a:ext cx="3200400" cy="274320"/>
          </a:xfrm>
          <a:prstGeom prst="rect">
            <a:avLst/>
          </a:prstGeom>
          <a:noFill/>
          <a:ln/>
        </p:spPr>
        <p:txBody>
          <a:bodyPr wrap="square" lIns="0" tIns="0" rIns="0" bIns="0" rtlCol="0" anchor="t"/>
          <a:lstStyle/>
          <a:p>
            <a:pPr indent="0" marL="0">
              <a:buNone/>
            </a:pPr>
            <a:r>
              <a:rPr lang="en-US" sz="1200" b="1" dirty="0">
                <a:solidFill>
                  <a:srgbClr val="051C2C"/>
                </a:solidFill>
                <a:latin typeface="Arial" pitchFamily="34" charset="0"/>
                <a:ea typeface="Arial" pitchFamily="34" charset="-122"/>
                <a:cs typeface="Arial" pitchFamily="34" charset="-120"/>
              </a:rPr>
              <a:t>Still needs a human eye</a:t>
            </a:r>
            <a:endParaRPr lang="en-US" sz="1200" dirty="0"/>
          </a:p>
        </p:txBody>
      </p:sp>
      <p:sp>
        <p:nvSpPr>
          <p:cNvPr id="18" name="Text 14"/>
          <p:cNvSpPr txBox="1"/>
          <p:nvPr/>
        </p:nvSpPr>
        <p:spPr>
          <a:xfrm>
            <a:off x="8275320" y="5166360"/>
            <a:ext cx="3200400" cy="1005840"/>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Lange Saxonia at 67% of target looks too good to be true. Grounding proves a price was quoted, not that it is the right listing.</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THE FRAMEWORK JOURNEY</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Two detours taught us that the framework has to fit the agent: n8n and Agno fell short, LangChain fit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author's experience building this project; comparison is for this use case only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7</a:t>
            </a:r>
            <a:endParaRPr lang="en-US" sz="900" dirty="0"/>
          </a:p>
        </p:txBody>
      </p:sp>
      <p:sp>
        <p:nvSpPr>
          <p:cNvPr id="7" name="Shape 4"/>
          <p:cNvSpPr/>
          <p:nvPr/>
        </p:nvSpPr>
        <p:spPr>
          <a:xfrm>
            <a:off x="548640" y="1783080"/>
            <a:ext cx="3566160" cy="3794760"/>
          </a:xfrm>
          <a:prstGeom prst="rect">
            <a:avLst/>
          </a:prstGeom>
          <a:solidFill>
            <a:srgbClr val="F2F4F7"/>
          </a:solidFill>
          <a:ln w="12700">
            <a:solidFill>
              <a:srgbClr val="F2F4F7"/>
            </a:solidFill>
            <a:prstDash val="solid"/>
          </a:ln>
        </p:spPr>
      </p:sp>
      <p:sp>
        <p:nvSpPr>
          <p:cNvPr id="8" name="Shape 5"/>
          <p:cNvSpPr/>
          <p:nvPr/>
        </p:nvSpPr>
        <p:spPr>
          <a:xfrm>
            <a:off x="822960" y="2011680"/>
            <a:ext cx="502920" cy="502920"/>
          </a:xfrm>
          <a:prstGeom prst="ellipse">
            <a:avLst/>
          </a:prstGeom>
          <a:solidFill>
            <a:srgbClr val="051C2C"/>
          </a:solidFill>
          <a:ln w="12700">
            <a:solidFill>
              <a:srgbClr val="051C2C"/>
            </a:solidFill>
            <a:prstDash val="solid"/>
          </a:ln>
        </p:spPr>
      </p:sp>
      <p:sp>
        <p:nvSpPr>
          <p:cNvPr id="9" name="Text 6"/>
          <p:cNvSpPr txBox="1"/>
          <p:nvPr/>
        </p:nvSpPr>
        <p:spPr>
          <a:xfrm>
            <a:off x="82296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237744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6B7280"/>
                </a:solidFill>
                <a:latin typeface="Arial" pitchFamily="34" charset="0"/>
                <a:ea typeface="Arial" pitchFamily="34" charset="-122"/>
                <a:cs typeface="Arial" pitchFamily="34" charset="-120"/>
              </a:rPr>
              <a:t>NOT CHOSEN</a:t>
            </a:r>
            <a:endParaRPr lang="en-US" sz="1100" dirty="0"/>
          </a:p>
        </p:txBody>
      </p:sp>
      <p:sp>
        <p:nvSpPr>
          <p:cNvPr id="11" name="Text 8"/>
          <p:cNvSpPr txBox="1"/>
          <p:nvPr/>
        </p:nvSpPr>
        <p:spPr>
          <a:xfrm>
            <a:off x="822960" y="2743200"/>
            <a:ext cx="3017520" cy="502920"/>
          </a:xfrm>
          <a:prstGeom prst="rect">
            <a:avLst/>
          </a:prstGeom>
          <a:noFill/>
          <a:ln/>
        </p:spPr>
        <p:txBody>
          <a:bodyPr wrap="square" lIns="0" tIns="0" rIns="0" bIns="0" rtlCol="0" anchor="t"/>
          <a:lstStyle/>
          <a:p>
            <a:pPr indent="0" marL="0">
              <a:buNone/>
            </a:pPr>
            <a:r>
              <a:rPr lang="en-US" sz="2800" b="1" dirty="0">
                <a:solidFill>
                  <a:srgbClr val="051C2C"/>
                </a:solidFill>
                <a:latin typeface="Georgia" pitchFamily="34" charset="0"/>
                <a:ea typeface="Georgia" pitchFamily="34" charset="-122"/>
                <a:cs typeface="Georgia" pitchFamily="34" charset="-120"/>
              </a:rPr>
              <a:t>n8n</a:t>
            </a:r>
            <a:endParaRPr lang="en-US" sz="2800" dirty="0"/>
          </a:p>
        </p:txBody>
      </p:sp>
      <p:sp>
        <p:nvSpPr>
          <p:cNvPr id="12" name="Text 9"/>
          <p:cNvSpPr txBox="1"/>
          <p:nvPr/>
        </p:nvSpPr>
        <p:spPr>
          <a:xfrm>
            <a:off x="822960" y="3291840"/>
            <a:ext cx="3017520" cy="3200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Visual workflow automation</a:t>
            </a:r>
            <a:endParaRPr lang="en-US" sz="1200" dirty="0"/>
          </a:p>
        </p:txBody>
      </p:sp>
      <p:sp>
        <p:nvSpPr>
          <p:cNvPr id="13" name="Text 10"/>
          <p:cNvSpPr txBox="1"/>
          <p:nvPr/>
        </p:nvSpPr>
        <p:spPr>
          <a:xfrm>
            <a:off x="822960" y="3840480"/>
            <a:ext cx="3017520" cy="365760"/>
          </a:xfrm>
          <a:prstGeom prst="rect">
            <a:avLst/>
          </a:prstGeom>
          <a:noFill/>
          <a:ln/>
        </p:spPr>
        <p:txBody>
          <a:bodyPr wrap="square" lIns="0" tIns="0" rIns="0" bIns="0" rtlCol="0" anchor="t"/>
          <a:lstStyle/>
          <a:p>
            <a:pPr indent="0" marL="0">
              <a:buNone/>
            </a:pPr>
            <a:r>
              <a:rPr lang="en-US" sz="1600" b="1" dirty="0">
                <a:solidFill>
                  <a:srgbClr val="2251FF"/>
                </a:solidFill>
                <a:latin typeface="Arial" pitchFamily="34" charset="0"/>
                <a:ea typeface="Arial" pitchFamily="34" charset="-122"/>
                <a:cs typeface="Arial" pitchFamily="34" charset="-120"/>
              </a:rPr>
              <a:t>Too rigid for agent logic</a:t>
            </a:r>
            <a:endParaRPr lang="en-US" sz="1600" dirty="0"/>
          </a:p>
        </p:txBody>
      </p:sp>
      <p:sp>
        <p:nvSpPr>
          <p:cNvPr id="14" name="Text 11"/>
          <p:cNvSpPr txBox="1"/>
          <p:nvPr/>
        </p:nvSpPr>
        <p:spPr>
          <a:xfrm>
            <a:off x="822960" y="4297680"/>
            <a:ext cx="3017520" cy="1188720"/>
          </a:xfrm>
          <a:prstGeom prst="rect">
            <a:avLst/>
          </a:prstGeom>
          <a:noFill/>
          <a:ln/>
        </p:spPr>
        <p:txBody>
          <a:bodyPr wrap="square" lIns="0" tIns="0" rIns="0" bIns="0" rtlCol="0" anchor="t"/>
          <a:lstStyle/>
          <a:p>
            <a:pPr indent="0" marL="0">
              <a:buNone/>
            </a:pPr>
            <a:r>
              <a:rPr lang="en-US" sz="1300" dirty="0">
                <a:solidFill>
                  <a:srgbClr val="051C2C"/>
                </a:solidFill>
                <a:latin typeface="Arial" pitchFamily="34" charset="0"/>
                <a:ea typeface="Arial" pitchFamily="34" charset="-122"/>
                <a:cs typeface="Arial" pitchFamily="34" charset="-120"/>
              </a:rPr>
              <a:t>Custom reasoning steps, grounding checks and consensus rules did not fit the node-and-connection model.</a:t>
            </a:r>
            <a:endParaRPr lang="en-US" sz="1300" dirty="0"/>
          </a:p>
        </p:txBody>
      </p:sp>
      <p:sp>
        <p:nvSpPr>
          <p:cNvPr id="15" name="Shape 12"/>
          <p:cNvSpPr/>
          <p:nvPr/>
        </p:nvSpPr>
        <p:spPr>
          <a:xfrm>
            <a:off x="4297680" y="1783080"/>
            <a:ext cx="3566160" cy="3794760"/>
          </a:xfrm>
          <a:prstGeom prst="rect">
            <a:avLst/>
          </a:prstGeom>
          <a:solidFill>
            <a:srgbClr val="F2F4F7"/>
          </a:solidFill>
          <a:ln w="12700">
            <a:solidFill>
              <a:srgbClr val="F2F4F7"/>
            </a:solidFill>
            <a:prstDash val="solid"/>
          </a:ln>
        </p:spPr>
      </p:sp>
      <p:sp>
        <p:nvSpPr>
          <p:cNvPr id="16" name="Shape 13"/>
          <p:cNvSpPr/>
          <p:nvPr/>
        </p:nvSpPr>
        <p:spPr>
          <a:xfrm>
            <a:off x="4572000" y="2011680"/>
            <a:ext cx="502920" cy="502920"/>
          </a:xfrm>
          <a:prstGeom prst="ellipse">
            <a:avLst/>
          </a:prstGeom>
          <a:solidFill>
            <a:srgbClr val="051C2C"/>
          </a:solidFill>
          <a:ln w="12700">
            <a:solidFill>
              <a:srgbClr val="051C2C"/>
            </a:solidFill>
            <a:prstDash val="solid"/>
          </a:ln>
        </p:spPr>
      </p:sp>
      <p:sp>
        <p:nvSpPr>
          <p:cNvPr id="17" name="Text 14"/>
          <p:cNvSpPr txBox="1"/>
          <p:nvPr/>
        </p:nvSpPr>
        <p:spPr>
          <a:xfrm>
            <a:off x="457200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8" name="Text 15"/>
          <p:cNvSpPr txBox="1"/>
          <p:nvPr/>
        </p:nvSpPr>
        <p:spPr>
          <a:xfrm>
            <a:off x="612648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6B7280"/>
                </a:solidFill>
                <a:latin typeface="Arial" pitchFamily="34" charset="0"/>
                <a:ea typeface="Arial" pitchFamily="34" charset="-122"/>
                <a:cs typeface="Arial" pitchFamily="34" charset="-120"/>
              </a:rPr>
              <a:t>NOT CHOSEN</a:t>
            </a:r>
            <a:endParaRPr lang="en-US" sz="1100" dirty="0"/>
          </a:p>
        </p:txBody>
      </p:sp>
      <p:sp>
        <p:nvSpPr>
          <p:cNvPr id="19" name="Text 16"/>
          <p:cNvSpPr txBox="1"/>
          <p:nvPr/>
        </p:nvSpPr>
        <p:spPr>
          <a:xfrm>
            <a:off x="4572000" y="2743200"/>
            <a:ext cx="3017520" cy="502920"/>
          </a:xfrm>
          <a:prstGeom prst="rect">
            <a:avLst/>
          </a:prstGeom>
          <a:noFill/>
          <a:ln/>
        </p:spPr>
        <p:txBody>
          <a:bodyPr wrap="square" lIns="0" tIns="0" rIns="0" bIns="0" rtlCol="0" anchor="t"/>
          <a:lstStyle/>
          <a:p>
            <a:pPr indent="0" marL="0">
              <a:buNone/>
            </a:pPr>
            <a:r>
              <a:rPr lang="en-US" sz="2800" b="1" dirty="0">
                <a:solidFill>
                  <a:srgbClr val="051C2C"/>
                </a:solidFill>
                <a:latin typeface="Georgia" pitchFamily="34" charset="0"/>
                <a:ea typeface="Georgia" pitchFamily="34" charset="-122"/>
                <a:cs typeface="Georgia" pitchFamily="34" charset="-120"/>
              </a:rPr>
              <a:t>Agno</a:t>
            </a:r>
            <a:endParaRPr lang="en-US" sz="2800" dirty="0"/>
          </a:p>
        </p:txBody>
      </p:sp>
      <p:sp>
        <p:nvSpPr>
          <p:cNvPr id="20" name="Text 17"/>
          <p:cNvSpPr txBox="1"/>
          <p:nvPr/>
        </p:nvSpPr>
        <p:spPr>
          <a:xfrm>
            <a:off x="4572000" y="3291840"/>
            <a:ext cx="3017520" cy="320040"/>
          </a:xfrm>
          <a:prstGeom prst="rect">
            <a:avLst/>
          </a:prstGeom>
          <a:noFill/>
          <a:ln/>
        </p:spPr>
        <p:txBody>
          <a:bodyPr wrap="square" lIns="0" tIns="0" rIns="0" bIns="0" rtlCol="0" anchor="t"/>
          <a:lstStyle/>
          <a:p>
            <a:pPr indent="0" marL="0">
              <a:buNone/>
            </a:pPr>
            <a:r>
              <a:rPr lang="en-US" sz="1200" dirty="0">
                <a:solidFill>
                  <a:srgbClr val="6B7280"/>
                </a:solidFill>
                <a:latin typeface="Arial" pitchFamily="34" charset="0"/>
                <a:ea typeface="Arial" pitchFamily="34" charset="-122"/>
                <a:cs typeface="Arial" pitchFamily="34" charset="-120"/>
              </a:rPr>
              <a:t>Python agent framework</a:t>
            </a:r>
            <a:endParaRPr lang="en-US" sz="1200" dirty="0"/>
          </a:p>
        </p:txBody>
      </p:sp>
      <p:sp>
        <p:nvSpPr>
          <p:cNvPr id="21" name="Text 18"/>
          <p:cNvSpPr txBox="1"/>
          <p:nvPr/>
        </p:nvSpPr>
        <p:spPr>
          <a:xfrm>
            <a:off x="4572000" y="3840480"/>
            <a:ext cx="3017520" cy="365760"/>
          </a:xfrm>
          <a:prstGeom prst="rect">
            <a:avLst/>
          </a:prstGeom>
          <a:noFill/>
          <a:ln/>
        </p:spPr>
        <p:txBody>
          <a:bodyPr wrap="square" lIns="0" tIns="0" rIns="0" bIns="0" rtlCol="0" anchor="t"/>
          <a:lstStyle/>
          <a:p>
            <a:pPr indent="0" marL="0">
              <a:buNone/>
            </a:pPr>
            <a:r>
              <a:rPr lang="en-US" sz="1600" b="1" dirty="0">
                <a:solidFill>
                  <a:srgbClr val="2251FF"/>
                </a:solidFill>
                <a:latin typeface="Arial" pitchFamily="34" charset="0"/>
                <a:ea typeface="Arial" pitchFamily="34" charset="-122"/>
                <a:cs typeface="Arial" pitchFamily="34" charset="-120"/>
              </a:rPr>
              <a:t>Ecosystem and docs gaps</a:t>
            </a:r>
            <a:endParaRPr lang="en-US" sz="1600" dirty="0"/>
          </a:p>
        </p:txBody>
      </p:sp>
      <p:sp>
        <p:nvSpPr>
          <p:cNvPr id="22" name="Text 19"/>
          <p:cNvSpPr txBox="1"/>
          <p:nvPr/>
        </p:nvSpPr>
        <p:spPr>
          <a:xfrm>
            <a:off x="4572000" y="4297680"/>
            <a:ext cx="3017520" cy="1188720"/>
          </a:xfrm>
          <a:prstGeom prst="rect">
            <a:avLst/>
          </a:prstGeom>
          <a:noFill/>
          <a:ln/>
        </p:spPr>
        <p:txBody>
          <a:bodyPr wrap="square" lIns="0" tIns="0" rIns="0" bIns="0" rtlCol="0" anchor="t"/>
          <a:lstStyle/>
          <a:p>
            <a:pPr indent="0" marL="0">
              <a:buNone/>
            </a:pPr>
            <a:r>
              <a:rPr lang="en-US" sz="1300" dirty="0">
                <a:solidFill>
                  <a:srgbClr val="051C2C"/>
                </a:solidFill>
                <a:latin typeface="Arial" pitchFamily="34" charset="0"/>
                <a:ea typeface="Arial" pitchFamily="34" charset="-122"/>
                <a:cs typeface="Arial" pitchFamily="34" charset="-120"/>
              </a:rPr>
              <a:t>Right shape, but fewer integrations and less documentation than this project needed.</a:t>
            </a:r>
            <a:endParaRPr lang="en-US" sz="1300" dirty="0"/>
          </a:p>
        </p:txBody>
      </p:sp>
      <p:sp>
        <p:nvSpPr>
          <p:cNvPr id="23" name="Shape 20"/>
          <p:cNvSpPr/>
          <p:nvPr/>
        </p:nvSpPr>
        <p:spPr>
          <a:xfrm>
            <a:off x="8046720" y="1783080"/>
            <a:ext cx="3566160" cy="3794760"/>
          </a:xfrm>
          <a:prstGeom prst="rect">
            <a:avLst/>
          </a:prstGeom>
          <a:solidFill>
            <a:srgbClr val="051C2C"/>
          </a:solidFill>
          <a:ln w="12700">
            <a:solidFill>
              <a:srgbClr val="051C2C"/>
            </a:solidFill>
            <a:prstDash val="solid"/>
          </a:ln>
        </p:spPr>
      </p:sp>
      <p:sp>
        <p:nvSpPr>
          <p:cNvPr id="24" name="Shape 21"/>
          <p:cNvSpPr/>
          <p:nvPr/>
        </p:nvSpPr>
        <p:spPr>
          <a:xfrm>
            <a:off x="8321040" y="2011680"/>
            <a:ext cx="502920" cy="502920"/>
          </a:xfrm>
          <a:prstGeom prst="ellipse">
            <a:avLst/>
          </a:prstGeom>
          <a:solidFill>
            <a:srgbClr val="2251FF"/>
          </a:solidFill>
          <a:ln w="12700">
            <a:solidFill>
              <a:srgbClr val="2251FF"/>
            </a:solidFill>
            <a:prstDash val="solid"/>
          </a:ln>
        </p:spPr>
      </p:sp>
      <p:sp>
        <p:nvSpPr>
          <p:cNvPr id="25" name="Text 22"/>
          <p:cNvSpPr txBox="1"/>
          <p:nvPr/>
        </p:nvSpPr>
        <p:spPr>
          <a:xfrm>
            <a:off x="8321040" y="2011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6" name="Text 23"/>
          <p:cNvSpPr txBox="1"/>
          <p:nvPr/>
        </p:nvSpPr>
        <p:spPr>
          <a:xfrm>
            <a:off x="9875520" y="2103120"/>
            <a:ext cx="1554480" cy="274320"/>
          </a:xfrm>
          <a:prstGeom prst="rect">
            <a:avLst/>
          </a:prstGeom>
          <a:noFill/>
          <a:ln/>
        </p:spPr>
        <p:txBody>
          <a:bodyPr wrap="square" lIns="0" tIns="0" rIns="0" bIns="0" rtlCol="0" anchor="t"/>
          <a:lstStyle/>
          <a:p>
            <a:pPr algn="r" indent="0" marL="0">
              <a:buNone/>
            </a:pPr>
            <a:r>
              <a:rPr lang="en-US" sz="1100" b="1" spc="100" kern="0" dirty="0">
                <a:solidFill>
                  <a:srgbClr val="8FB0FF"/>
                </a:solidFill>
                <a:latin typeface="Arial" pitchFamily="34" charset="0"/>
                <a:ea typeface="Arial" pitchFamily="34" charset="-122"/>
                <a:cs typeface="Arial" pitchFamily="34" charset="-120"/>
              </a:rPr>
              <a:t>CHOSEN</a:t>
            </a:r>
            <a:endParaRPr lang="en-US" sz="1100" dirty="0"/>
          </a:p>
        </p:txBody>
      </p:sp>
      <p:sp>
        <p:nvSpPr>
          <p:cNvPr id="27" name="Text 24"/>
          <p:cNvSpPr txBox="1"/>
          <p:nvPr/>
        </p:nvSpPr>
        <p:spPr>
          <a:xfrm>
            <a:off x="8321040" y="2743200"/>
            <a:ext cx="3017520" cy="502920"/>
          </a:xfrm>
          <a:prstGeom prst="rect">
            <a:avLst/>
          </a:prstGeom>
          <a:noFill/>
          <a:ln/>
        </p:spPr>
        <p:txBody>
          <a:bodyPr wrap="square" lIns="0" tIns="0" rIns="0" bIns="0" rtlCol="0" anchor="t"/>
          <a:lstStyle/>
          <a:p>
            <a:pPr indent="0" marL="0">
              <a:buNone/>
            </a:pPr>
            <a:r>
              <a:rPr lang="en-US" sz="2800" b="1" dirty="0">
                <a:solidFill>
                  <a:srgbClr val="FFFFFF"/>
                </a:solidFill>
                <a:latin typeface="Georgia" pitchFamily="34" charset="0"/>
                <a:ea typeface="Georgia" pitchFamily="34" charset="-122"/>
                <a:cs typeface="Georgia" pitchFamily="34" charset="-120"/>
              </a:rPr>
              <a:t>LangChain</a:t>
            </a:r>
            <a:endParaRPr lang="en-US" sz="2800" dirty="0"/>
          </a:p>
        </p:txBody>
      </p:sp>
      <p:sp>
        <p:nvSpPr>
          <p:cNvPr id="28" name="Text 25"/>
          <p:cNvSpPr txBox="1"/>
          <p:nvPr/>
        </p:nvSpPr>
        <p:spPr>
          <a:xfrm>
            <a:off x="8321040" y="3291840"/>
            <a:ext cx="3017520" cy="320040"/>
          </a:xfrm>
          <a:prstGeom prst="rect">
            <a:avLst/>
          </a:prstGeom>
          <a:noFill/>
          <a:ln/>
        </p:spPr>
        <p:txBody>
          <a:bodyPr wrap="square" lIns="0" tIns="0" rIns="0" bIns="0" rtlCol="0" anchor="t"/>
          <a:lstStyle/>
          <a:p>
            <a:pPr indent="0" marL="0">
              <a:buNone/>
            </a:pPr>
            <a:r>
              <a:rPr lang="en-US" sz="1200" dirty="0">
                <a:solidFill>
                  <a:srgbClr val="C9D6F2"/>
                </a:solidFill>
                <a:latin typeface="Arial" pitchFamily="34" charset="0"/>
                <a:ea typeface="Arial" pitchFamily="34" charset="-122"/>
                <a:cs typeface="Arial" pitchFamily="34" charset="-120"/>
              </a:rPr>
              <a:t>Python agent framework and ecosystem</a:t>
            </a:r>
            <a:endParaRPr lang="en-US" sz="1200" dirty="0"/>
          </a:p>
        </p:txBody>
      </p:sp>
      <p:sp>
        <p:nvSpPr>
          <p:cNvPr id="29" name="Text 26"/>
          <p:cNvSpPr txBox="1"/>
          <p:nvPr/>
        </p:nvSpPr>
        <p:spPr>
          <a:xfrm>
            <a:off x="8321040" y="3840480"/>
            <a:ext cx="3017520" cy="36576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Control plus ecosystem</a:t>
            </a:r>
            <a:endParaRPr lang="en-US" sz="1600" dirty="0"/>
          </a:p>
        </p:txBody>
      </p:sp>
      <p:sp>
        <p:nvSpPr>
          <p:cNvPr id="30" name="Text 27"/>
          <p:cNvSpPr txBox="1"/>
          <p:nvPr/>
        </p:nvSpPr>
        <p:spPr>
          <a:xfrm>
            <a:off x="8321040" y="4297680"/>
            <a:ext cx="3017520" cy="118872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create_agent, typed tools, Pydantic structured output and ready integrations (Gemini, Tavily). Guardrails are just Python.</a:t>
            </a:r>
            <a:endParaRPr lang="en-US" sz="1300" dirty="0"/>
          </a:p>
        </p:txBody>
      </p:sp>
      <p:sp>
        <p:nvSpPr>
          <p:cNvPr id="31" name="Shape 28"/>
          <p:cNvSpPr/>
          <p:nvPr/>
        </p:nvSpPr>
        <p:spPr>
          <a:xfrm>
            <a:off x="548640" y="5760720"/>
            <a:ext cx="11091672" cy="502920"/>
          </a:xfrm>
          <a:prstGeom prst="rect">
            <a:avLst/>
          </a:prstGeom>
          <a:solidFill>
            <a:srgbClr val="2251FF"/>
          </a:solidFill>
          <a:ln w="12700">
            <a:solidFill>
              <a:srgbClr val="2251FF"/>
            </a:solidFill>
            <a:prstDash val="solid"/>
          </a:ln>
        </p:spPr>
      </p:sp>
      <p:sp>
        <p:nvSpPr>
          <p:cNvPr id="32" name="Text 29"/>
          <p:cNvSpPr txBox="1"/>
          <p:nvPr/>
        </p:nvSpPr>
        <p:spPr>
          <a:xfrm>
            <a:off x="777240" y="5760720"/>
            <a:ext cx="1060704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Lesson: choose the framework by the shape of the problem, not by hype.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PLATFORM COMPARISON: PROS AND CONS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Each platform has a sweet spot: n8n for integrations, Agno for lean agents, LangChain for custom, production-grade ones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n8n docs (Sustainable Use License, pricing); Agno and LangChain documentation; author's experience where marked *</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8</a:t>
            </a:r>
            <a:endParaRPr lang="en-US" sz="900" dirty="0"/>
          </a:p>
        </p:txBody>
      </p:sp>
      <p:sp>
        <p:nvSpPr>
          <p:cNvPr id="7" name="Shape 4"/>
          <p:cNvSpPr/>
          <p:nvPr/>
        </p:nvSpPr>
        <p:spPr>
          <a:xfrm>
            <a:off x="548640" y="1783080"/>
            <a:ext cx="3566160" cy="4480560"/>
          </a:xfrm>
          <a:prstGeom prst="rect">
            <a:avLst/>
          </a:prstGeom>
          <a:solidFill>
            <a:srgbClr val="F2F4F7"/>
          </a:solidFill>
          <a:ln w="12700">
            <a:solidFill>
              <a:srgbClr val="F2F4F7"/>
            </a:solidFill>
            <a:prstDash val="solid"/>
          </a:ln>
        </p:spPr>
      </p:sp>
      <p:sp>
        <p:nvSpPr>
          <p:cNvPr id="8" name="Shape 5"/>
          <p:cNvSpPr/>
          <p:nvPr/>
        </p:nvSpPr>
        <p:spPr>
          <a:xfrm>
            <a:off x="548640" y="1783080"/>
            <a:ext cx="3566160" cy="777240"/>
          </a:xfrm>
          <a:prstGeom prst="rect">
            <a:avLst/>
          </a:prstGeom>
          <a:solidFill>
            <a:srgbClr val="051C2C"/>
          </a:solidFill>
          <a:ln w="12700">
            <a:solidFill>
              <a:srgbClr val="051C2C"/>
            </a:solidFill>
            <a:prstDash val="solid"/>
          </a:ln>
        </p:spPr>
      </p:sp>
      <p:sp>
        <p:nvSpPr>
          <p:cNvPr id="9" name="Text 6"/>
          <p:cNvSpPr txBox="1"/>
          <p:nvPr/>
        </p:nvSpPr>
        <p:spPr>
          <a:xfrm>
            <a:off x="77724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n8n</a:t>
            </a:r>
            <a:endParaRPr lang="en-US" sz="2000" dirty="0"/>
          </a:p>
        </p:txBody>
      </p:sp>
      <p:sp>
        <p:nvSpPr>
          <p:cNvPr id="10" name="Text 7"/>
          <p:cNvSpPr txBox="1"/>
          <p:nvPr/>
        </p:nvSpPr>
        <p:spPr>
          <a:xfrm>
            <a:off x="77724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Visual workflow automation</a:t>
            </a:r>
            <a:endParaRPr lang="en-US" sz="1100" dirty="0"/>
          </a:p>
        </p:txBody>
      </p:sp>
      <p:sp>
        <p:nvSpPr>
          <p:cNvPr id="11" name="Text 8"/>
          <p:cNvSpPr txBox="1"/>
          <p:nvPr/>
        </p:nvSpPr>
        <p:spPr>
          <a:xfrm>
            <a:off x="77724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12" name="Text 9"/>
          <p:cNvSpPr txBox="1"/>
          <p:nvPr/>
        </p:nvSpPr>
        <p:spPr>
          <a:xfrm>
            <a:off x="77724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500+ built-in integrations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Fast visual prototyping; low barrier for non-developers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Free to self-host (fair-code Sustainable Use License)</a:t>
            </a:r>
            <a:endParaRPr lang="en-US" sz="1150" dirty="0"/>
          </a:p>
        </p:txBody>
      </p:sp>
      <p:sp>
        <p:nvSpPr>
          <p:cNvPr id="13" name="Text 10"/>
          <p:cNvSpPr txBox="1"/>
          <p:nvPr/>
        </p:nvSpPr>
        <p:spPr>
          <a:xfrm>
            <a:off x="77724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14" name="Text 11"/>
          <p:cNvSpPr txBox="1"/>
          <p:nvPr/>
        </p:nvSpPr>
        <p:spPr>
          <a:xfrm>
            <a:off x="77724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Rigid for custom agent logic*</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Large flows get hard to read and review</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Git version control needs a paid (Business) plan</a:t>
            </a:r>
            <a:endParaRPr lang="en-US" sz="1150" dirty="0"/>
          </a:p>
        </p:txBody>
      </p:sp>
      <p:sp>
        <p:nvSpPr>
          <p:cNvPr id="15" name="Shape 12"/>
          <p:cNvSpPr/>
          <p:nvPr/>
        </p:nvSpPr>
        <p:spPr>
          <a:xfrm>
            <a:off x="4297680" y="1783080"/>
            <a:ext cx="3566160" cy="4480560"/>
          </a:xfrm>
          <a:prstGeom prst="rect">
            <a:avLst/>
          </a:prstGeom>
          <a:solidFill>
            <a:srgbClr val="F2F4F7"/>
          </a:solidFill>
          <a:ln w="12700">
            <a:solidFill>
              <a:srgbClr val="F2F4F7"/>
            </a:solidFill>
            <a:prstDash val="solid"/>
          </a:ln>
        </p:spPr>
      </p:sp>
      <p:sp>
        <p:nvSpPr>
          <p:cNvPr id="16" name="Shape 13"/>
          <p:cNvSpPr/>
          <p:nvPr/>
        </p:nvSpPr>
        <p:spPr>
          <a:xfrm>
            <a:off x="4297680" y="1783080"/>
            <a:ext cx="3566160" cy="777240"/>
          </a:xfrm>
          <a:prstGeom prst="rect">
            <a:avLst/>
          </a:prstGeom>
          <a:solidFill>
            <a:srgbClr val="051C2C"/>
          </a:solidFill>
          <a:ln w="12700">
            <a:solidFill>
              <a:srgbClr val="051C2C"/>
            </a:solidFill>
            <a:prstDash val="solid"/>
          </a:ln>
        </p:spPr>
      </p:sp>
      <p:sp>
        <p:nvSpPr>
          <p:cNvPr id="17" name="Text 14"/>
          <p:cNvSpPr txBox="1"/>
          <p:nvPr/>
        </p:nvSpPr>
        <p:spPr>
          <a:xfrm>
            <a:off x="452628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Agno</a:t>
            </a:r>
            <a:endParaRPr lang="en-US" sz="2000" dirty="0"/>
          </a:p>
        </p:txBody>
      </p:sp>
      <p:sp>
        <p:nvSpPr>
          <p:cNvPr id="18" name="Text 15"/>
          <p:cNvSpPr txBox="1"/>
          <p:nvPr/>
        </p:nvSpPr>
        <p:spPr>
          <a:xfrm>
            <a:off x="452628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Lightweight Python agent framework</a:t>
            </a:r>
            <a:endParaRPr lang="en-US" sz="1100" dirty="0"/>
          </a:p>
        </p:txBody>
      </p:sp>
      <p:sp>
        <p:nvSpPr>
          <p:cNvPr id="19" name="Text 16"/>
          <p:cNvSpPr txBox="1"/>
          <p:nvPr/>
        </p:nvSpPr>
        <p:spPr>
          <a:xfrm>
            <a:off x="452628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20" name="Text 17"/>
          <p:cNvSpPr txBox="1"/>
          <p:nvPr/>
        </p:nvSpPr>
        <p:spPr>
          <a:xfrm>
            <a:off x="452628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Clean, Pythonic API for agents, teams and workflows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Memory and knowledge built in; you own the data</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Apache 2.0, with the AgentOS runtime and UI</a:t>
            </a:r>
            <a:endParaRPr lang="en-US" sz="1150" dirty="0"/>
          </a:p>
        </p:txBody>
      </p:sp>
      <p:sp>
        <p:nvSpPr>
          <p:cNvPr id="21" name="Text 18"/>
          <p:cNvSpPr txBox="1"/>
          <p:nvPr/>
        </p:nvSpPr>
        <p:spPr>
          <a:xfrm>
            <a:off x="452628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22" name="Text 19"/>
          <p:cNvSpPr txBox="1"/>
          <p:nvPr/>
        </p:nvSpPr>
        <p:spPr>
          <a:xfrm>
            <a:off x="452628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Ecosystem and docs gaps*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Smaller community than LangChain</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Rebranded from Phidata in 2025, so older material can be out of date</a:t>
            </a:r>
            <a:endParaRPr lang="en-US" sz="1150" dirty="0"/>
          </a:p>
        </p:txBody>
      </p:sp>
      <p:sp>
        <p:nvSpPr>
          <p:cNvPr id="23" name="Shape 20"/>
          <p:cNvSpPr/>
          <p:nvPr/>
        </p:nvSpPr>
        <p:spPr>
          <a:xfrm>
            <a:off x="8046720" y="1783080"/>
            <a:ext cx="3566160" cy="4480560"/>
          </a:xfrm>
          <a:prstGeom prst="rect">
            <a:avLst/>
          </a:prstGeom>
          <a:solidFill>
            <a:srgbClr val="F2F4F7"/>
          </a:solidFill>
          <a:ln w="12700">
            <a:solidFill>
              <a:srgbClr val="F2F4F7"/>
            </a:solidFill>
            <a:prstDash val="solid"/>
          </a:ln>
        </p:spPr>
      </p:sp>
      <p:sp>
        <p:nvSpPr>
          <p:cNvPr id="24" name="Shape 21"/>
          <p:cNvSpPr/>
          <p:nvPr/>
        </p:nvSpPr>
        <p:spPr>
          <a:xfrm>
            <a:off x="8046720" y="1783080"/>
            <a:ext cx="3566160" cy="777240"/>
          </a:xfrm>
          <a:prstGeom prst="rect">
            <a:avLst/>
          </a:prstGeom>
          <a:solidFill>
            <a:srgbClr val="2251FF"/>
          </a:solidFill>
          <a:ln w="12700">
            <a:solidFill>
              <a:srgbClr val="2251FF"/>
            </a:solidFill>
            <a:prstDash val="solid"/>
          </a:ln>
        </p:spPr>
      </p:sp>
      <p:sp>
        <p:nvSpPr>
          <p:cNvPr id="25" name="Text 22"/>
          <p:cNvSpPr txBox="1"/>
          <p:nvPr/>
        </p:nvSpPr>
        <p:spPr>
          <a:xfrm>
            <a:off x="8275320" y="1828800"/>
            <a:ext cx="3108960" cy="41148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LangChain</a:t>
            </a:r>
            <a:endParaRPr lang="en-US" sz="2000" dirty="0"/>
          </a:p>
        </p:txBody>
      </p:sp>
      <p:sp>
        <p:nvSpPr>
          <p:cNvPr id="26" name="Text 23"/>
          <p:cNvSpPr txBox="1"/>
          <p:nvPr/>
        </p:nvSpPr>
        <p:spPr>
          <a:xfrm>
            <a:off x="8275320" y="2240280"/>
            <a:ext cx="3108960" cy="274320"/>
          </a:xfrm>
          <a:prstGeom prst="rect">
            <a:avLst/>
          </a:prstGeom>
          <a:noFill/>
          <a:ln/>
        </p:spPr>
        <p:txBody>
          <a:bodyPr wrap="square" lIns="0" tIns="0" rIns="0" bIns="0" rtlCol="0" anchor="t"/>
          <a:lstStyle/>
          <a:p>
            <a:pPr indent="0" marL="0">
              <a:buNone/>
            </a:pPr>
            <a:r>
              <a:rPr lang="en-US" sz="1100" dirty="0">
                <a:solidFill>
                  <a:srgbClr val="DDE6FA"/>
                </a:solidFill>
                <a:latin typeface="Arial" pitchFamily="34" charset="0"/>
                <a:ea typeface="Arial" pitchFamily="34" charset="-122"/>
                <a:cs typeface="Arial" pitchFamily="34" charset="-120"/>
              </a:rPr>
              <a:t>Agent framework and ecosystem</a:t>
            </a:r>
            <a:endParaRPr lang="en-US" sz="1100" dirty="0"/>
          </a:p>
        </p:txBody>
      </p:sp>
      <p:sp>
        <p:nvSpPr>
          <p:cNvPr id="27" name="Text 24"/>
          <p:cNvSpPr txBox="1"/>
          <p:nvPr/>
        </p:nvSpPr>
        <p:spPr>
          <a:xfrm>
            <a:off x="8275320" y="2697480"/>
            <a:ext cx="310896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PROS</a:t>
            </a:r>
            <a:endParaRPr lang="en-US" sz="1000" dirty="0"/>
          </a:p>
        </p:txBody>
      </p:sp>
      <p:sp>
        <p:nvSpPr>
          <p:cNvPr id="28" name="Text 25"/>
          <p:cNvSpPr txBox="1"/>
          <p:nvPr/>
        </p:nvSpPr>
        <p:spPr>
          <a:xfrm>
            <a:off x="8275320" y="2944368"/>
            <a:ext cx="3154680" cy="14173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Largest ecosystem of models, tools and vector stores</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create_agent plus typed structured output; MIT, v1.0 stable</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LangGraph and LangSmith for orchestration and tracing</a:t>
            </a:r>
            <a:endParaRPr lang="en-US" sz="1150" dirty="0"/>
          </a:p>
        </p:txBody>
      </p:sp>
      <p:sp>
        <p:nvSpPr>
          <p:cNvPr id="29" name="Text 26"/>
          <p:cNvSpPr txBox="1"/>
          <p:nvPr/>
        </p:nvSpPr>
        <p:spPr>
          <a:xfrm>
            <a:off x="8275320" y="4434840"/>
            <a:ext cx="3108960" cy="228600"/>
          </a:xfrm>
          <a:prstGeom prst="rect">
            <a:avLst/>
          </a:prstGeom>
          <a:noFill/>
          <a:ln/>
        </p:spPr>
        <p:txBody>
          <a:bodyPr wrap="square" lIns="0" tIns="0" rIns="0" bIns="0" rtlCol="0" anchor="t"/>
          <a:lstStyle/>
          <a:p>
            <a:pPr indent="0" marL="0">
              <a:buNone/>
            </a:pPr>
            <a:r>
              <a:rPr lang="en-US" sz="1000" b="1" spc="200" kern="0" dirty="0">
                <a:solidFill>
                  <a:srgbClr val="B42318"/>
                </a:solidFill>
                <a:latin typeface="Arial" pitchFamily="34" charset="0"/>
                <a:ea typeface="Arial" pitchFamily="34" charset="-122"/>
                <a:cs typeface="Arial" pitchFamily="34" charset="-120"/>
              </a:rPr>
              <a:t>CONS</a:t>
            </a:r>
            <a:endParaRPr lang="en-US" sz="1000" dirty="0"/>
          </a:p>
        </p:txBody>
      </p:sp>
      <p:sp>
        <p:nvSpPr>
          <p:cNvPr id="30" name="Text 27"/>
          <p:cNvSpPr txBox="1"/>
          <p:nvPr/>
        </p:nvSpPr>
        <p:spPr>
          <a:xfrm>
            <a:off x="8275320" y="4681728"/>
            <a:ext cx="3154680" cy="150876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More code and more concepts to learn</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Several packages to manage (core, Gemini, Tavily)</a:t>
            </a:r>
            <a:endParaRPr lang="en-US" sz="1150" dirty="0"/>
          </a:p>
          <a:p>
            <a:pPr marL="342900" indent="-342900">
              <a:spcAft>
                <a:spcPts val="400"/>
              </a:spcAft>
              <a:buSzPct val="100000"/>
              <a:buChar char="•"/>
            </a:pPr>
            <a:r>
              <a:rPr lang="en-US" sz="1150" dirty="0">
                <a:solidFill>
                  <a:srgbClr val="1F2933"/>
                </a:solidFill>
                <a:latin typeface="Arial" pitchFamily="34" charset="0"/>
                <a:ea typeface="Arial" pitchFamily="34" charset="-122"/>
                <a:cs typeface="Arial" pitchFamily="34" charset="-120"/>
              </a:rPr>
              <a:t>Abstraction layers can hide what the model is doing</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WHICH PLATFORM WHEN?</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For this use case LangChain scores highest on control and ecosystem; n8n wins only on ease for non-developers</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author's assessment for the WatchAgent use case (4 = strongest); not a general benchmark</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9</a:t>
            </a:r>
            <a:endParaRPr lang="en-US" sz="900" dirty="0"/>
          </a:p>
        </p:txBody>
      </p:sp>
      <p:sp>
        <p:nvSpPr>
          <p:cNvPr id="7" name="Text 4"/>
          <p:cNvSpPr txBox="1"/>
          <p:nvPr/>
        </p:nvSpPr>
        <p:spPr>
          <a:xfrm>
            <a:off x="3931920" y="1783080"/>
            <a:ext cx="1371600" cy="365760"/>
          </a:xfrm>
          <a:prstGeom prst="rect">
            <a:avLst/>
          </a:prstGeom>
          <a:noFill/>
          <a:ln/>
        </p:spPr>
        <p:txBody>
          <a:bodyPr wrap="square" lIns="0" tIns="0" rIns="0" bIns="0" rtlCol="0" anchor="t"/>
          <a:lstStyle/>
          <a:p>
            <a:pPr algn="ctr" indent="0" marL="0">
              <a:buNone/>
            </a:pPr>
            <a:r>
              <a:rPr lang="en-US" sz="1400" b="1" dirty="0">
                <a:solidFill>
                  <a:srgbClr val="051C2C"/>
                </a:solidFill>
                <a:latin typeface="Arial" pitchFamily="34" charset="0"/>
                <a:ea typeface="Arial" pitchFamily="34" charset="-122"/>
                <a:cs typeface="Arial" pitchFamily="34" charset="-120"/>
              </a:rPr>
              <a:t>n8n</a:t>
            </a:r>
            <a:endParaRPr lang="en-US" sz="1400" dirty="0"/>
          </a:p>
        </p:txBody>
      </p:sp>
      <p:sp>
        <p:nvSpPr>
          <p:cNvPr id="8" name="Text 5"/>
          <p:cNvSpPr txBox="1"/>
          <p:nvPr/>
        </p:nvSpPr>
        <p:spPr>
          <a:xfrm>
            <a:off x="5349240" y="1783080"/>
            <a:ext cx="1371600" cy="365760"/>
          </a:xfrm>
          <a:prstGeom prst="rect">
            <a:avLst/>
          </a:prstGeom>
          <a:noFill/>
          <a:ln/>
        </p:spPr>
        <p:txBody>
          <a:bodyPr wrap="square" lIns="0" tIns="0" rIns="0" bIns="0" rtlCol="0" anchor="t"/>
          <a:lstStyle/>
          <a:p>
            <a:pPr algn="ctr" indent="0" marL="0">
              <a:buNone/>
            </a:pPr>
            <a:r>
              <a:rPr lang="en-US" sz="1400" b="1" dirty="0">
                <a:solidFill>
                  <a:srgbClr val="051C2C"/>
                </a:solidFill>
                <a:latin typeface="Arial" pitchFamily="34" charset="0"/>
                <a:ea typeface="Arial" pitchFamily="34" charset="-122"/>
                <a:cs typeface="Arial" pitchFamily="34" charset="-120"/>
              </a:rPr>
              <a:t>Agno</a:t>
            </a:r>
            <a:endParaRPr lang="en-US" sz="1400" dirty="0"/>
          </a:p>
        </p:txBody>
      </p:sp>
      <p:sp>
        <p:nvSpPr>
          <p:cNvPr id="9" name="Text 6"/>
          <p:cNvSpPr txBox="1"/>
          <p:nvPr/>
        </p:nvSpPr>
        <p:spPr>
          <a:xfrm>
            <a:off x="6766560" y="1783080"/>
            <a:ext cx="1371600" cy="365760"/>
          </a:xfrm>
          <a:prstGeom prst="rect">
            <a:avLst/>
          </a:prstGeom>
          <a:noFill/>
          <a:ln/>
        </p:spPr>
        <p:txBody>
          <a:bodyPr wrap="square" lIns="0" tIns="0" rIns="0" bIns="0" rtlCol="0" anchor="t"/>
          <a:lstStyle/>
          <a:p>
            <a:pPr algn="ctr" indent="0" marL="0">
              <a:buNone/>
            </a:pPr>
            <a:r>
              <a:rPr lang="en-US" sz="1400" b="1" dirty="0">
                <a:solidFill>
                  <a:srgbClr val="2251FF"/>
                </a:solidFill>
                <a:latin typeface="Arial" pitchFamily="34" charset="0"/>
                <a:ea typeface="Arial" pitchFamily="34" charset="-122"/>
                <a:cs typeface="Arial" pitchFamily="34" charset="-120"/>
              </a:rPr>
              <a:t>LangChain</a:t>
            </a:r>
            <a:endParaRPr lang="en-US" sz="1400" dirty="0"/>
          </a:p>
        </p:txBody>
      </p:sp>
      <p:sp>
        <p:nvSpPr>
          <p:cNvPr id="10" name="Shape 7"/>
          <p:cNvSpPr/>
          <p:nvPr/>
        </p:nvSpPr>
        <p:spPr>
          <a:xfrm>
            <a:off x="548640" y="2231136"/>
            <a:ext cx="7635240" cy="621792"/>
          </a:xfrm>
          <a:prstGeom prst="rect">
            <a:avLst/>
          </a:prstGeom>
          <a:solidFill>
            <a:srgbClr val="F2F4F7"/>
          </a:solidFill>
          <a:ln w="12700">
            <a:solidFill>
              <a:srgbClr val="F2F4F7"/>
            </a:solidFill>
            <a:prstDash val="solid"/>
          </a:ln>
        </p:spPr>
      </p:sp>
      <p:sp>
        <p:nvSpPr>
          <p:cNvPr id="11" name="Text 8"/>
          <p:cNvSpPr txBox="1"/>
          <p:nvPr/>
        </p:nvSpPr>
        <p:spPr>
          <a:xfrm>
            <a:off x="731520" y="2286000"/>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Flexibility for custom agent logic</a:t>
            </a:r>
            <a:endParaRPr lang="en-US" sz="1300" dirty="0"/>
          </a:p>
        </p:txBody>
      </p:sp>
      <p:sp>
        <p:nvSpPr>
          <p:cNvPr id="12" name="Shape 9"/>
          <p:cNvSpPr/>
          <p:nvPr/>
        </p:nvSpPr>
        <p:spPr>
          <a:xfrm>
            <a:off x="4014216" y="2414016"/>
            <a:ext cx="182880" cy="182880"/>
          </a:xfrm>
          <a:prstGeom prst="ellipse">
            <a:avLst/>
          </a:prstGeom>
          <a:solidFill>
            <a:srgbClr val="051C2C"/>
          </a:solidFill>
          <a:ln w="12700">
            <a:solidFill>
              <a:srgbClr val="051C2C"/>
            </a:solidFill>
            <a:prstDash val="solid"/>
          </a:ln>
        </p:spPr>
      </p:sp>
      <p:sp>
        <p:nvSpPr>
          <p:cNvPr id="13" name="Shape 10"/>
          <p:cNvSpPr/>
          <p:nvPr/>
        </p:nvSpPr>
        <p:spPr>
          <a:xfrm>
            <a:off x="4270248" y="2414016"/>
            <a:ext cx="182880" cy="182880"/>
          </a:xfrm>
          <a:prstGeom prst="ellipse">
            <a:avLst/>
          </a:prstGeom>
          <a:solidFill>
            <a:srgbClr val="FFFFFF"/>
          </a:solidFill>
          <a:ln w="12700">
            <a:solidFill>
              <a:srgbClr val="C9CED6"/>
            </a:solidFill>
            <a:prstDash val="solid"/>
          </a:ln>
        </p:spPr>
      </p:sp>
      <p:sp>
        <p:nvSpPr>
          <p:cNvPr id="14" name="Shape 11"/>
          <p:cNvSpPr/>
          <p:nvPr/>
        </p:nvSpPr>
        <p:spPr>
          <a:xfrm>
            <a:off x="4526280" y="2414016"/>
            <a:ext cx="182880" cy="182880"/>
          </a:xfrm>
          <a:prstGeom prst="ellipse">
            <a:avLst/>
          </a:prstGeom>
          <a:solidFill>
            <a:srgbClr val="FFFFFF"/>
          </a:solidFill>
          <a:ln w="12700">
            <a:solidFill>
              <a:srgbClr val="C9CED6"/>
            </a:solidFill>
            <a:prstDash val="solid"/>
          </a:ln>
        </p:spPr>
      </p:sp>
      <p:sp>
        <p:nvSpPr>
          <p:cNvPr id="15" name="Shape 12"/>
          <p:cNvSpPr/>
          <p:nvPr/>
        </p:nvSpPr>
        <p:spPr>
          <a:xfrm>
            <a:off x="4782312" y="2414016"/>
            <a:ext cx="182880" cy="182880"/>
          </a:xfrm>
          <a:prstGeom prst="ellipse">
            <a:avLst/>
          </a:prstGeom>
          <a:solidFill>
            <a:srgbClr val="FFFFFF"/>
          </a:solidFill>
          <a:ln w="12700">
            <a:solidFill>
              <a:srgbClr val="C9CED6"/>
            </a:solidFill>
            <a:prstDash val="solid"/>
          </a:ln>
        </p:spPr>
      </p:sp>
      <p:sp>
        <p:nvSpPr>
          <p:cNvPr id="16" name="Shape 13"/>
          <p:cNvSpPr/>
          <p:nvPr/>
        </p:nvSpPr>
        <p:spPr>
          <a:xfrm>
            <a:off x="5431536" y="2414016"/>
            <a:ext cx="182880" cy="182880"/>
          </a:xfrm>
          <a:prstGeom prst="ellipse">
            <a:avLst/>
          </a:prstGeom>
          <a:solidFill>
            <a:srgbClr val="051C2C"/>
          </a:solidFill>
          <a:ln w="12700">
            <a:solidFill>
              <a:srgbClr val="051C2C"/>
            </a:solidFill>
            <a:prstDash val="solid"/>
          </a:ln>
        </p:spPr>
      </p:sp>
      <p:sp>
        <p:nvSpPr>
          <p:cNvPr id="17" name="Shape 14"/>
          <p:cNvSpPr/>
          <p:nvPr/>
        </p:nvSpPr>
        <p:spPr>
          <a:xfrm>
            <a:off x="5687568" y="2414016"/>
            <a:ext cx="182880" cy="182880"/>
          </a:xfrm>
          <a:prstGeom prst="ellipse">
            <a:avLst/>
          </a:prstGeom>
          <a:solidFill>
            <a:srgbClr val="051C2C"/>
          </a:solidFill>
          <a:ln w="12700">
            <a:solidFill>
              <a:srgbClr val="051C2C"/>
            </a:solidFill>
            <a:prstDash val="solid"/>
          </a:ln>
        </p:spPr>
      </p:sp>
      <p:sp>
        <p:nvSpPr>
          <p:cNvPr id="18" name="Shape 15"/>
          <p:cNvSpPr/>
          <p:nvPr/>
        </p:nvSpPr>
        <p:spPr>
          <a:xfrm>
            <a:off x="5943600" y="2414016"/>
            <a:ext cx="182880" cy="182880"/>
          </a:xfrm>
          <a:prstGeom prst="ellipse">
            <a:avLst/>
          </a:prstGeom>
          <a:solidFill>
            <a:srgbClr val="051C2C"/>
          </a:solidFill>
          <a:ln w="12700">
            <a:solidFill>
              <a:srgbClr val="051C2C"/>
            </a:solidFill>
            <a:prstDash val="solid"/>
          </a:ln>
        </p:spPr>
      </p:sp>
      <p:sp>
        <p:nvSpPr>
          <p:cNvPr id="19" name="Shape 16"/>
          <p:cNvSpPr/>
          <p:nvPr/>
        </p:nvSpPr>
        <p:spPr>
          <a:xfrm>
            <a:off x="6199632" y="2414016"/>
            <a:ext cx="182880" cy="182880"/>
          </a:xfrm>
          <a:prstGeom prst="ellipse">
            <a:avLst/>
          </a:prstGeom>
          <a:solidFill>
            <a:srgbClr val="FFFFFF"/>
          </a:solidFill>
          <a:ln w="12700">
            <a:solidFill>
              <a:srgbClr val="C9CED6"/>
            </a:solidFill>
            <a:prstDash val="solid"/>
          </a:ln>
        </p:spPr>
      </p:sp>
      <p:sp>
        <p:nvSpPr>
          <p:cNvPr id="20" name="Shape 17"/>
          <p:cNvSpPr/>
          <p:nvPr/>
        </p:nvSpPr>
        <p:spPr>
          <a:xfrm>
            <a:off x="6848856" y="2414016"/>
            <a:ext cx="182880" cy="182880"/>
          </a:xfrm>
          <a:prstGeom prst="ellipse">
            <a:avLst/>
          </a:prstGeom>
          <a:solidFill>
            <a:srgbClr val="2251FF"/>
          </a:solidFill>
          <a:ln w="12700">
            <a:solidFill>
              <a:srgbClr val="2251FF"/>
            </a:solidFill>
            <a:prstDash val="solid"/>
          </a:ln>
        </p:spPr>
      </p:sp>
      <p:sp>
        <p:nvSpPr>
          <p:cNvPr id="21" name="Shape 18"/>
          <p:cNvSpPr/>
          <p:nvPr/>
        </p:nvSpPr>
        <p:spPr>
          <a:xfrm>
            <a:off x="7104888" y="2414016"/>
            <a:ext cx="182880" cy="182880"/>
          </a:xfrm>
          <a:prstGeom prst="ellipse">
            <a:avLst/>
          </a:prstGeom>
          <a:solidFill>
            <a:srgbClr val="2251FF"/>
          </a:solidFill>
          <a:ln w="12700">
            <a:solidFill>
              <a:srgbClr val="2251FF"/>
            </a:solidFill>
            <a:prstDash val="solid"/>
          </a:ln>
        </p:spPr>
      </p:sp>
      <p:sp>
        <p:nvSpPr>
          <p:cNvPr id="22" name="Shape 19"/>
          <p:cNvSpPr/>
          <p:nvPr/>
        </p:nvSpPr>
        <p:spPr>
          <a:xfrm>
            <a:off x="7360920" y="2414016"/>
            <a:ext cx="182880" cy="182880"/>
          </a:xfrm>
          <a:prstGeom prst="ellipse">
            <a:avLst/>
          </a:prstGeom>
          <a:solidFill>
            <a:srgbClr val="2251FF"/>
          </a:solidFill>
          <a:ln w="12700">
            <a:solidFill>
              <a:srgbClr val="2251FF"/>
            </a:solidFill>
            <a:prstDash val="solid"/>
          </a:ln>
        </p:spPr>
      </p:sp>
      <p:sp>
        <p:nvSpPr>
          <p:cNvPr id="23" name="Shape 20"/>
          <p:cNvSpPr/>
          <p:nvPr/>
        </p:nvSpPr>
        <p:spPr>
          <a:xfrm>
            <a:off x="7616952" y="2414016"/>
            <a:ext cx="182880" cy="182880"/>
          </a:xfrm>
          <a:prstGeom prst="ellipse">
            <a:avLst/>
          </a:prstGeom>
          <a:solidFill>
            <a:srgbClr val="2251FF"/>
          </a:solidFill>
          <a:ln w="12700">
            <a:solidFill>
              <a:srgbClr val="2251FF"/>
            </a:solidFill>
            <a:prstDash val="solid"/>
          </a:ln>
        </p:spPr>
      </p:sp>
      <p:sp>
        <p:nvSpPr>
          <p:cNvPr id="24" name="Text 21"/>
          <p:cNvSpPr txBox="1"/>
          <p:nvPr/>
        </p:nvSpPr>
        <p:spPr>
          <a:xfrm>
            <a:off x="731520" y="2944368"/>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Ecosystem and integrations</a:t>
            </a:r>
            <a:endParaRPr lang="en-US" sz="1300" dirty="0"/>
          </a:p>
        </p:txBody>
      </p:sp>
      <p:sp>
        <p:nvSpPr>
          <p:cNvPr id="25" name="Shape 22"/>
          <p:cNvSpPr/>
          <p:nvPr/>
        </p:nvSpPr>
        <p:spPr>
          <a:xfrm>
            <a:off x="4014216" y="3072384"/>
            <a:ext cx="182880" cy="182880"/>
          </a:xfrm>
          <a:prstGeom prst="ellipse">
            <a:avLst/>
          </a:prstGeom>
          <a:solidFill>
            <a:srgbClr val="051C2C"/>
          </a:solidFill>
          <a:ln w="12700">
            <a:solidFill>
              <a:srgbClr val="051C2C"/>
            </a:solidFill>
            <a:prstDash val="solid"/>
          </a:ln>
        </p:spPr>
      </p:sp>
      <p:sp>
        <p:nvSpPr>
          <p:cNvPr id="26" name="Shape 23"/>
          <p:cNvSpPr/>
          <p:nvPr/>
        </p:nvSpPr>
        <p:spPr>
          <a:xfrm>
            <a:off x="4270248" y="3072384"/>
            <a:ext cx="182880" cy="182880"/>
          </a:xfrm>
          <a:prstGeom prst="ellipse">
            <a:avLst/>
          </a:prstGeom>
          <a:solidFill>
            <a:srgbClr val="051C2C"/>
          </a:solidFill>
          <a:ln w="12700">
            <a:solidFill>
              <a:srgbClr val="051C2C"/>
            </a:solidFill>
            <a:prstDash val="solid"/>
          </a:ln>
        </p:spPr>
      </p:sp>
      <p:sp>
        <p:nvSpPr>
          <p:cNvPr id="27" name="Shape 24"/>
          <p:cNvSpPr/>
          <p:nvPr/>
        </p:nvSpPr>
        <p:spPr>
          <a:xfrm>
            <a:off x="4526280" y="3072384"/>
            <a:ext cx="182880" cy="182880"/>
          </a:xfrm>
          <a:prstGeom prst="ellipse">
            <a:avLst/>
          </a:prstGeom>
          <a:solidFill>
            <a:srgbClr val="051C2C"/>
          </a:solidFill>
          <a:ln w="12700">
            <a:solidFill>
              <a:srgbClr val="051C2C"/>
            </a:solidFill>
            <a:prstDash val="solid"/>
          </a:ln>
        </p:spPr>
      </p:sp>
      <p:sp>
        <p:nvSpPr>
          <p:cNvPr id="28" name="Shape 25"/>
          <p:cNvSpPr/>
          <p:nvPr/>
        </p:nvSpPr>
        <p:spPr>
          <a:xfrm>
            <a:off x="4782312" y="3072384"/>
            <a:ext cx="182880" cy="182880"/>
          </a:xfrm>
          <a:prstGeom prst="ellipse">
            <a:avLst/>
          </a:prstGeom>
          <a:solidFill>
            <a:srgbClr val="FFFFFF"/>
          </a:solidFill>
          <a:ln w="12700">
            <a:solidFill>
              <a:srgbClr val="C9CED6"/>
            </a:solidFill>
            <a:prstDash val="solid"/>
          </a:ln>
        </p:spPr>
      </p:sp>
      <p:sp>
        <p:nvSpPr>
          <p:cNvPr id="29" name="Shape 26"/>
          <p:cNvSpPr/>
          <p:nvPr/>
        </p:nvSpPr>
        <p:spPr>
          <a:xfrm>
            <a:off x="5431536" y="3072384"/>
            <a:ext cx="182880" cy="182880"/>
          </a:xfrm>
          <a:prstGeom prst="ellipse">
            <a:avLst/>
          </a:prstGeom>
          <a:solidFill>
            <a:srgbClr val="051C2C"/>
          </a:solidFill>
          <a:ln w="12700">
            <a:solidFill>
              <a:srgbClr val="051C2C"/>
            </a:solidFill>
            <a:prstDash val="solid"/>
          </a:ln>
        </p:spPr>
      </p:sp>
      <p:sp>
        <p:nvSpPr>
          <p:cNvPr id="30" name="Shape 27"/>
          <p:cNvSpPr/>
          <p:nvPr/>
        </p:nvSpPr>
        <p:spPr>
          <a:xfrm>
            <a:off x="5687568" y="3072384"/>
            <a:ext cx="182880" cy="182880"/>
          </a:xfrm>
          <a:prstGeom prst="ellipse">
            <a:avLst/>
          </a:prstGeom>
          <a:solidFill>
            <a:srgbClr val="051C2C"/>
          </a:solidFill>
          <a:ln w="12700">
            <a:solidFill>
              <a:srgbClr val="051C2C"/>
            </a:solidFill>
            <a:prstDash val="solid"/>
          </a:ln>
        </p:spPr>
      </p:sp>
      <p:sp>
        <p:nvSpPr>
          <p:cNvPr id="31" name="Shape 28"/>
          <p:cNvSpPr/>
          <p:nvPr/>
        </p:nvSpPr>
        <p:spPr>
          <a:xfrm>
            <a:off x="5943600" y="3072384"/>
            <a:ext cx="182880" cy="182880"/>
          </a:xfrm>
          <a:prstGeom prst="ellipse">
            <a:avLst/>
          </a:prstGeom>
          <a:solidFill>
            <a:srgbClr val="FFFFFF"/>
          </a:solidFill>
          <a:ln w="12700">
            <a:solidFill>
              <a:srgbClr val="C9CED6"/>
            </a:solidFill>
            <a:prstDash val="solid"/>
          </a:ln>
        </p:spPr>
      </p:sp>
      <p:sp>
        <p:nvSpPr>
          <p:cNvPr id="32" name="Shape 29"/>
          <p:cNvSpPr/>
          <p:nvPr/>
        </p:nvSpPr>
        <p:spPr>
          <a:xfrm>
            <a:off x="6199632" y="3072384"/>
            <a:ext cx="182880" cy="182880"/>
          </a:xfrm>
          <a:prstGeom prst="ellipse">
            <a:avLst/>
          </a:prstGeom>
          <a:solidFill>
            <a:srgbClr val="FFFFFF"/>
          </a:solidFill>
          <a:ln w="12700">
            <a:solidFill>
              <a:srgbClr val="C9CED6"/>
            </a:solidFill>
            <a:prstDash val="solid"/>
          </a:ln>
        </p:spPr>
      </p:sp>
      <p:sp>
        <p:nvSpPr>
          <p:cNvPr id="33" name="Shape 30"/>
          <p:cNvSpPr/>
          <p:nvPr/>
        </p:nvSpPr>
        <p:spPr>
          <a:xfrm>
            <a:off x="6848856" y="3072384"/>
            <a:ext cx="182880" cy="182880"/>
          </a:xfrm>
          <a:prstGeom prst="ellipse">
            <a:avLst/>
          </a:prstGeom>
          <a:solidFill>
            <a:srgbClr val="2251FF"/>
          </a:solidFill>
          <a:ln w="12700">
            <a:solidFill>
              <a:srgbClr val="2251FF"/>
            </a:solidFill>
            <a:prstDash val="solid"/>
          </a:ln>
        </p:spPr>
      </p:sp>
      <p:sp>
        <p:nvSpPr>
          <p:cNvPr id="34" name="Shape 31"/>
          <p:cNvSpPr/>
          <p:nvPr/>
        </p:nvSpPr>
        <p:spPr>
          <a:xfrm>
            <a:off x="7104888" y="3072384"/>
            <a:ext cx="182880" cy="182880"/>
          </a:xfrm>
          <a:prstGeom prst="ellipse">
            <a:avLst/>
          </a:prstGeom>
          <a:solidFill>
            <a:srgbClr val="2251FF"/>
          </a:solidFill>
          <a:ln w="12700">
            <a:solidFill>
              <a:srgbClr val="2251FF"/>
            </a:solidFill>
            <a:prstDash val="solid"/>
          </a:ln>
        </p:spPr>
      </p:sp>
      <p:sp>
        <p:nvSpPr>
          <p:cNvPr id="35" name="Shape 32"/>
          <p:cNvSpPr/>
          <p:nvPr/>
        </p:nvSpPr>
        <p:spPr>
          <a:xfrm>
            <a:off x="7360920" y="3072384"/>
            <a:ext cx="182880" cy="182880"/>
          </a:xfrm>
          <a:prstGeom prst="ellipse">
            <a:avLst/>
          </a:prstGeom>
          <a:solidFill>
            <a:srgbClr val="2251FF"/>
          </a:solidFill>
          <a:ln w="12700">
            <a:solidFill>
              <a:srgbClr val="2251FF"/>
            </a:solidFill>
            <a:prstDash val="solid"/>
          </a:ln>
        </p:spPr>
      </p:sp>
      <p:sp>
        <p:nvSpPr>
          <p:cNvPr id="36" name="Shape 33"/>
          <p:cNvSpPr/>
          <p:nvPr/>
        </p:nvSpPr>
        <p:spPr>
          <a:xfrm>
            <a:off x="7616952" y="3072384"/>
            <a:ext cx="182880" cy="182880"/>
          </a:xfrm>
          <a:prstGeom prst="ellipse">
            <a:avLst/>
          </a:prstGeom>
          <a:solidFill>
            <a:srgbClr val="2251FF"/>
          </a:solidFill>
          <a:ln w="12700">
            <a:solidFill>
              <a:srgbClr val="2251FF"/>
            </a:solidFill>
            <a:prstDash val="solid"/>
          </a:ln>
        </p:spPr>
      </p:sp>
      <p:sp>
        <p:nvSpPr>
          <p:cNvPr id="37" name="Shape 34"/>
          <p:cNvSpPr/>
          <p:nvPr/>
        </p:nvSpPr>
        <p:spPr>
          <a:xfrm>
            <a:off x="548640" y="3547872"/>
            <a:ext cx="7635240" cy="621792"/>
          </a:xfrm>
          <a:prstGeom prst="rect">
            <a:avLst/>
          </a:prstGeom>
          <a:solidFill>
            <a:srgbClr val="F2F4F7"/>
          </a:solidFill>
          <a:ln w="12700">
            <a:solidFill>
              <a:srgbClr val="F2F4F7"/>
            </a:solidFill>
            <a:prstDash val="solid"/>
          </a:ln>
        </p:spPr>
      </p:sp>
      <p:sp>
        <p:nvSpPr>
          <p:cNvPr id="38" name="Text 35"/>
          <p:cNvSpPr txBox="1"/>
          <p:nvPr/>
        </p:nvSpPr>
        <p:spPr>
          <a:xfrm>
            <a:off x="731520" y="3602736"/>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Docs and community</a:t>
            </a:r>
            <a:endParaRPr lang="en-US" sz="1300" dirty="0"/>
          </a:p>
        </p:txBody>
      </p:sp>
      <p:sp>
        <p:nvSpPr>
          <p:cNvPr id="39" name="Shape 36"/>
          <p:cNvSpPr/>
          <p:nvPr/>
        </p:nvSpPr>
        <p:spPr>
          <a:xfrm>
            <a:off x="4014216" y="3730752"/>
            <a:ext cx="182880" cy="182880"/>
          </a:xfrm>
          <a:prstGeom prst="ellipse">
            <a:avLst/>
          </a:prstGeom>
          <a:solidFill>
            <a:srgbClr val="051C2C"/>
          </a:solidFill>
          <a:ln w="12700">
            <a:solidFill>
              <a:srgbClr val="051C2C"/>
            </a:solidFill>
            <a:prstDash val="solid"/>
          </a:ln>
        </p:spPr>
      </p:sp>
      <p:sp>
        <p:nvSpPr>
          <p:cNvPr id="40" name="Shape 37"/>
          <p:cNvSpPr/>
          <p:nvPr/>
        </p:nvSpPr>
        <p:spPr>
          <a:xfrm>
            <a:off x="4270248" y="3730752"/>
            <a:ext cx="182880" cy="182880"/>
          </a:xfrm>
          <a:prstGeom prst="ellipse">
            <a:avLst/>
          </a:prstGeom>
          <a:solidFill>
            <a:srgbClr val="051C2C"/>
          </a:solidFill>
          <a:ln w="12700">
            <a:solidFill>
              <a:srgbClr val="051C2C"/>
            </a:solidFill>
            <a:prstDash val="solid"/>
          </a:ln>
        </p:spPr>
      </p:sp>
      <p:sp>
        <p:nvSpPr>
          <p:cNvPr id="41" name="Shape 38"/>
          <p:cNvSpPr/>
          <p:nvPr/>
        </p:nvSpPr>
        <p:spPr>
          <a:xfrm>
            <a:off x="4526280" y="3730752"/>
            <a:ext cx="182880" cy="182880"/>
          </a:xfrm>
          <a:prstGeom prst="ellipse">
            <a:avLst/>
          </a:prstGeom>
          <a:solidFill>
            <a:srgbClr val="051C2C"/>
          </a:solidFill>
          <a:ln w="12700">
            <a:solidFill>
              <a:srgbClr val="051C2C"/>
            </a:solidFill>
            <a:prstDash val="solid"/>
          </a:ln>
        </p:spPr>
      </p:sp>
      <p:sp>
        <p:nvSpPr>
          <p:cNvPr id="42" name="Shape 39"/>
          <p:cNvSpPr/>
          <p:nvPr/>
        </p:nvSpPr>
        <p:spPr>
          <a:xfrm>
            <a:off x="4782312" y="3730752"/>
            <a:ext cx="182880" cy="182880"/>
          </a:xfrm>
          <a:prstGeom prst="ellipse">
            <a:avLst/>
          </a:prstGeom>
          <a:solidFill>
            <a:srgbClr val="FFFFFF"/>
          </a:solidFill>
          <a:ln w="12700">
            <a:solidFill>
              <a:srgbClr val="C9CED6"/>
            </a:solidFill>
            <a:prstDash val="solid"/>
          </a:ln>
        </p:spPr>
      </p:sp>
      <p:sp>
        <p:nvSpPr>
          <p:cNvPr id="43" name="Shape 40"/>
          <p:cNvSpPr/>
          <p:nvPr/>
        </p:nvSpPr>
        <p:spPr>
          <a:xfrm>
            <a:off x="5431536" y="3730752"/>
            <a:ext cx="182880" cy="182880"/>
          </a:xfrm>
          <a:prstGeom prst="ellipse">
            <a:avLst/>
          </a:prstGeom>
          <a:solidFill>
            <a:srgbClr val="051C2C"/>
          </a:solidFill>
          <a:ln w="12700">
            <a:solidFill>
              <a:srgbClr val="051C2C"/>
            </a:solidFill>
            <a:prstDash val="solid"/>
          </a:ln>
        </p:spPr>
      </p:sp>
      <p:sp>
        <p:nvSpPr>
          <p:cNvPr id="44" name="Shape 41"/>
          <p:cNvSpPr/>
          <p:nvPr/>
        </p:nvSpPr>
        <p:spPr>
          <a:xfrm>
            <a:off x="5687568" y="3730752"/>
            <a:ext cx="182880" cy="182880"/>
          </a:xfrm>
          <a:prstGeom prst="ellipse">
            <a:avLst/>
          </a:prstGeom>
          <a:solidFill>
            <a:srgbClr val="051C2C"/>
          </a:solidFill>
          <a:ln w="12700">
            <a:solidFill>
              <a:srgbClr val="051C2C"/>
            </a:solidFill>
            <a:prstDash val="solid"/>
          </a:ln>
        </p:spPr>
      </p:sp>
      <p:sp>
        <p:nvSpPr>
          <p:cNvPr id="45" name="Shape 42"/>
          <p:cNvSpPr/>
          <p:nvPr/>
        </p:nvSpPr>
        <p:spPr>
          <a:xfrm>
            <a:off x="5943600" y="3730752"/>
            <a:ext cx="182880" cy="182880"/>
          </a:xfrm>
          <a:prstGeom prst="ellipse">
            <a:avLst/>
          </a:prstGeom>
          <a:solidFill>
            <a:srgbClr val="FFFFFF"/>
          </a:solidFill>
          <a:ln w="12700">
            <a:solidFill>
              <a:srgbClr val="C9CED6"/>
            </a:solidFill>
            <a:prstDash val="solid"/>
          </a:ln>
        </p:spPr>
      </p:sp>
      <p:sp>
        <p:nvSpPr>
          <p:cNvPr id="46" name="Shape 43"/>
          <p:cNvSpPr/>
          <p:nvPr/>
        </p:nvSpPr>
        <p:spPr>
          <a:xfrm>
            <a:off x="6199632" y="3730752"/>
            <a:ext cx="182880" cy="182880"/>
          </a:xfrm>
          <a:prstGeom prst="ellipse">
            <a:avLst/>
          </a:prstGeom>
          <a:solidFill>
            <a:srgbClr val="FFFFFF"/>
          </a:solidFill>
          <a:ln w="12700">
            <a:solidFill>
              <a:srgbClr val="C9CED6"/>
            </a:solidFill>
            <a:prstDash val="solid"/>
          </a:ln>
        </p:spPr>
      </p:sp>
      <p:sp>
        <p:nvSpPr>
          <p:cNvPr id="47" name="Shape 44"/>
          <p:cNvSpPr/>
          <p:nvPr/>
        </p:nvSpPr>
        <p:spPr>
          <a:xfrm>
            <a:off x="6848856" y="3730752"/>
            <a:ext cx="182880" cy="182880"/>
          </a:xfrm>
          <a:prstGeom prst="ellipse">
            <a:avLst/>
          </a:prstGeom>
          <a:solidFill>
            <a:srgbClr val="2251FF"/>
          </a:solidFill>
          <a:ln w="12700">
            <a:solidFill>
              <a:srgbClr val="2251FF"/>
            </a:solidFill>
            <a:prstDash val="solid"/>
          </a:ln>
        </p:spPr>
      </p:sp>
      <p:sp>
        <p:nvSpPr>
          <p:cNvPr id="48" name="Shape 45"/>
          <p:cNvSpPr/>
          <p:nvPr/>
        </p:nvSpPr>
        <p:spPr>
          <a:xfrm>
            <a:off x="7104888" y="3730752"/>
            <a:ext cx="182880" cy="182880"/>
          </a:xfrm>
          <a:prstGeom prst="ellipse">
            <a:avLst/>
          </a:prstGeom>
          <a:solidFill>
            <a:srgbClr val="2251FF"/>
          </a:solidFill>
          <a:ln w="12700">
            <a:solidFill>
              <a:srgbClr val="2251FF"/>
            </a:solidFill>
            <a:prstDash val="solid"/>
          </a:ln>
        </p:spPr>
      </p:sp>
      <p:sp>
        <p:nvSpPr>
          <p:cNvPr id="49" name="Shape 46"/>
          <p:cNvSpPr/>
          <p:nvPr/>
        </p:nvSpPr>
        <p:spPr>
          <a:xfrm>
            <a:off x="7360920" y="3730752"/>
            <a:ext cx="182880" cy="182880"/>
          </a:xfrm>
          <a:prstGeom prst="ellipse">
            <a:avLst/>
          </a:prstGeom>
          <a:solidFill>
            <a:srgbClr val="2251FF"/>
          </a:solidFill>
          <a:ln w="12700">
            <a:solidFill>
              <a:srgbClr val="2251FF"/>
            </a:solidFill>
            <a:prstDash val="solid"/>
          </a:ln>
        </p:spPr>
      </p:sp>
      <p:sp>
        <p:nvSpPr>
          <p:cNvPr id="50" name="Shape 47"/>
          <p:cNvSpPr/>
          <p:nvPr/>
        </p:nvSpPr>
        <p:spPr>
          <a:xfrm>
            <a:off x="7616952" y="3730752"/>
            <a:ext cx="182880" cy="182880"/>
          </a:xfrm>
          <a:prstGeom prst="ellipse">
            <a:avLst/>
          </a:prstGeom>
          <a:solidFill>
            <a:srgbClr val="2251FF"/>
          </a:solidFill>
          <a:ln w="12700">
            <a:solidFill>
              <a:srgbClr val="2251FF"/>
            </a:solidFill>
            <a:prstDash val="solid"/>
          </a:ln>
        </p:spPr>
      </p:sp>
      <p:sp>
        <p:nvSpPr>
          <p:cNvPr id="51" name="Text 48"/>
          <p:cNvSpPr txBox="1"/>
          <p:nvPr/>
        </p:nvSpPr>
        <p:spPr>
          <a:xfrm>
            <a:off x="731520" y="4261104"/>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Ease for non-developers</a:t>
            </a:r>
            <a:endParaRPr lang="en-US" sz="1300" dirty="0"/>
          </a:p>
        </p:txBody>
      </p:sp>
      <p:sp>
        <p:nvSpPr>
          <p:cNvPr id="52" name="Shape 49"/>
          <p:cNvSpPr/>
          <p:nvPr/>
        </p:nvSpPr>
        <p:spPr>
          <a:xfrm>
            <a:off x="4014216" y="4389120"/>
            <a:ext cx="182880" cy="182880"/>
          </a:xfrm>
          <a:prstGeom prst="ellipse">
            <a:avLst/>
          </a:prstGeom>
          <a:solidFill>
            <a:srgbClr val="051C2C"/>
          </a:solidFill>
          <a:ln w="12700">
            <a:solidFill>
              <a:srgbClr val="051C2C"/>
            </a:solidFill>
            <a:prstDash val="solid"/>
          </a:ln>
        </p:spPr>
      </p:sp>
      <p:sp>
        <p:nvSpPr>
          <p:cNvPr id="53" name="Shape 50"/>
          <p:cNvSpPr/>
          <p:nvPr/>
        </p:nvSpPr>
        <p:spPr>
          <a:xfrm>
            <a:off x="4270248" y="4389120"/>
            <a:ext cx="182880" cy="182880"/>
          </a:xfrm>
          <a:prstGeom prst="ellipse">
            <a:avLst/>
          </a:prstGeom>
          <a:solidFill>
            <a:srgbClr val="051C2C"/>
          </a:solidFill>
          <a:ln w="12700">
            <a:solidFill>
              <a:srgbClr val="051C2C"/>
            </a:solidFill>
            <a:prstDash val="solid"/>
          </a:ln>
        </p:spPr>
      </p:sp>
      <p:sp>
        <p:nvSpPr>
          <p:cNvPr id="54" name="Shape 51"/>
          <p:cNvSpPr/>
          <p:nvPr/>
        </p:nvSpPr>
        <p:spPr>
          <a:xfrm>
            <a:off x="4526280" y="4389120"/>
            <a:ext cx="182880" cy="182880"/>
          </a:xfrm>
          <a:prstGeom prst="ellipse">
            <a:avLst/>
          </a:prstGeom>
          <a:solidFill>
            <a:srgbClr val="051C2C"/>
          </a:solidFill>
          <a:ln w="12700">
            <a:solidFill>
              <a:srgbClr val="051C2C"/>
            </a:solidFill>
            <a:prstDash val="solid"/>
          </a:ln>
        </p:spPr>
      </p:sp>
      <p:sp>
        <p:nvSpPr>
          <p:cNvPr id="55" name="Shape 52"/>
          <p:cNvSpPr/>
          <p:nvPr/>
        </p:nvSpPr>
        <p:spPr>
          <a:xfrm>
            <a:off x="4782312" y="4389120"/>
            <a:ext cx="182880" cy="182880"/>
          </a:xfrm>
          <a:prstGeom prst="ellipse">
            <a:avLst/>
          </a:prstGeom>
          <a:solidFill>
            <a:srgbClr val="051C2C"/>
          </a:solidFill>
          <a:ln w="12700">
            <a:solidFill>
              <a:srgbClr val="051C2C"/>
            </a:solidFill>
            <a:prstDash val="solid"/>
          </a:ln>
        </p:spPr>
      </p:sp>
      <p:sp>
        <p:nvSpPr>
          <p:cNvPr id="56" name="Shape 53"/>
          <p:cNvSpPr/>
          <p:nvPr/>
        </p:nvSpPr>
        <p:spPr>
          <a:xfrm>
            <a:off x="5431536" y="4389120"/>
            <a:ext cx="182880" cy="182880"/>
          </a:xfrm>
          <a:prstGeom prst="ellipse">
            <a:avLst/>
          </a:prstGeom>
          <a:solidFill>
            <a:srgbClr val="051C2C"/>
          </a:solidFill>
          <a:ln w="12700">
            <a:solidFill>
              <a:srgbClr val="051C2C"/>
            </a:solidFill>
            <a:prstDash val="solid"/>
          </a:ln>
        </p:spPr>
      </p:sp>
      <p:sp>
        <p:nvSpPr>
          <p:cNvPr id="57" name="Shape 54"/>
          <p:cNvSpPr/>
          <p:nvPr/>
        </p:nvSpPr>
        <p:spPr>
          <a:xfrm>
            <a:off x="5687568" y="4389120"/>
            <a:ext cx="182880" cy="182880"/>
          </a:xfrm>
          <a:prstGeom prst="ellipse">
            <a:avLst/>
          </a:prstGeom>
          <a:solidFill>
            <a:srgbClr val="051C2C"/>
          </a:solidFill>
          <a:ln w="12700">
            <a:solidFill>
              <a:srgbClr val="051C2C"/>
            </a:solidFill>
            <a:prstDash val="solid"/>
          </a:ln>
        </p:spPr>
      </p:sp>
      <p:sp>
        <p:nvSpPr>
          <p:cNvPr id="58" name="Shape 55"/>
          <p:cNvSpPr/>
          <p:nvPr/>
        </p:nvSpPr>
        <p:spPr>
          <a:xfrm>
            <a:off x="5943600" y="4389120"/>
            <a:ext cx="182880" cy="182880"/>
          </a:xfrm>
          <a:prstGeom prst="ellipse">
            <a:avLst/>
          </a:prstGeom>
          <a:solidFill>
            <a:srgbClr val="FFFFFF"/>
          </a:solidFill>
          <a:ln w="12700">
            <a:solidFill>
              <a:srgbClr val="C9CED6"/>
            </a:solidFill>
            <a:prstDash val="solid"/>
          </a:ln>
        </p:spPr>
      </p:sp>
      <p:sp>
        <p:nvSpPr>
          <p:cNvPr id="59" name="Shape 56"/>
          <p:cNvSpPr/>
          <p:nvPr/>
        </p:nvSpPr>
        <p:spPr>
          <a:xfrm>
            <a:off x="6199632" y="4389120"/>
            <a:ext cx="182880" cy="182880"/>
          </a:xfrm>
          <a:prstGeom prst="ellipse">
            <a:avLst/>
          </a:prstGeom>
          <a:solidFill>
            <a:srgbClr val="FFFFFF"/>
          </a:solidFill>
          <a:ln w="12700">
            <a:solidFill>
              <a:srgbClr val="C9CED6"/>
            </a:solidFill>
            <a:prstDash val="solid"/>
          </a:ln>
        </p:spPr>
      </p:sp>
      <p:sp>
        <p:nvSpPr>
          <p:cNvPr id="60" name="Shape 57"/>
          <p:cNvSpPr/>
          <p:nvPr/>
        </p:nvSpPr>
        <p:spPr>
          <a:xfrm>
            <a:off x="6848856" y="4389120"/>
            <a:ext cx="182880" cy="182880"/>
          </a:xfrm>
          <a:prstGeom prst="ellipse">
            <a:avLst/>
          </a:prstGeom>
          <a:solidFill>
            <a:srgbClr val="2251FF"/>
          </a:solidFill>
          <a:ln w="12700">
            <a:solidFill>
              <a:srgbClr val="2251FF"/>
            </a:solidFill>
            <a:prstDash val="solid"/>
          </a:ln>
        </p:spPr>
      </p:sp>
      <p:sp>
        <p:nvSpPr>
          <p:cNvPr id="61" name="Shape 58"/>
          <p:cNvSpPr/>
          <p:nvPr/>
        </p:nvSpPr>
        <p:spPr>
          <a:xfrm>
            <a:off x="7104888" y="4389120"/>
            <a:ext cx="182880" cy="182880"/>
          </a:xfrm>
          <a:prstGeom prst="ellipse">
            <a:avLst/>
          </a:prstGeom>
          <a:solidFill>
            <a:srgbClr val="FFFFFF"/>
          </a:solidFill>
          <a:ln w="12700">
            <a:solidFill>
              <a:srgbClr val="C9CED6"/>
            </a:solidFill>
            <a:prstDash val="solid"/>
          </a:ln>
        </p:spPr>
      </p:sp>
      <p:sp>
        <p:nvSpPr>
          <p:cNvPr id="62" name="Shape 59"/>
          <p:cNvSpPr/>
          <p:nvPr/>
        </p:nvSpPr>
        <p:spPr>
          <a:xfrm>
            <a:off x="7360920" y="4389120"/>
            <a:ext cx="182880" cy="182880"/>
          </a:xfrm>
          <a:prstGeom prst="ellipse">
            <a:avLst/>
          </a:prstGeom>
          <a:solidFill>
            <a:srgbClr val="FFFFFF"/>
          </a:solidFill>
          <a:ln w="12700">
            <a:solidFill>
              <a:srgbClr val="C9CED6"/>
            </a:solidFill>
            <a:prstDash val="solid"/>
          </a:ln>
        </p:spPr>
      </p:sp>
      <p:sp>
        <p:nvSpPr>
          <p:cNvPr id="63" name="Shape 60"/>
          <p:cNvSpPr/>
          <p:nvPr/>
        </p:nvSpPr>
        <p:spPr>
          <a:xfrm>
            <a:off x="7616952" y="4389120"/>
            <a:ext cx="182880" cy="182880"/>
          </a:xfrm>
          <a:prstGeom prst="ellipse">
            <a:avLst/>
          </a:prstGeom>
          <a:solidFill>
            <a:srgbClr val="FFFFFF"/>
          </a:solidFill>
          <a:ln w="12700">
            <a:solidFill>
              <a:srgbClr val="C9CED6"/>
            </a:solidFill>
            <a:prstDash val="solid"/>
          </a:ln>
        </p:spPr>
      </p:sp>
      <p:sp>
        <p:nvSpPr>
          <p:cNvPr id="64" name="Shape 61"/>
          <p:cNvSpPr/>
          <p:nvPr/>
        </p:nvSpPr>
        <p:spPr>
          <a:xfrm>
            <a:off x="548640" y="4864608"/>
            <a:ext cx="7635240" cy="621792"/>
          </a:xfrm>
          <a:prstGeom prst="rect">
            <a:avLst/>
          </a:prstGeom>
          <a:solidFill>
            <a:srgbClr val="F2F4F7"/>
          </a:solidFill>
          <a:ln w="12700">
            <a:solidFill>
              <a:srgbClr val="F2F4F7"/>
            </a:solidFill>
            <a:prstDash val="solid"/>
          </a:ln>
        </p:spPr>
      </p:sp>
      <p:sp>
        <p:nvSpPr>
          <p:cNvPr id="65" name="Text 62"/>
          <p:cNvSpPr txBox="1"/>
          <p:nvPr/>
        </p:nvSpPr>
        <p:spPr>
          <a:xfrm>
            <a:off x="731520" y="4919472"/>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Versioning, testing and CI</a:t>
            </a:r>
            <a:endParaRPr lang="en-US" sz="1300" dirty="0"/>
          </a:p>
        </p:txBody>
      </p:sp>
      <p:sp>
        <p:nvSpPr>
          <p:cNvPr id="66" name="Shape 63"/>
          <p:cNvSpPr/>
          <p:nvPr/>
        </p:nvSpPr>
        <p:spPr>
          <a:xfrm>
            <a:off x="4014216" y="5047488"/>
            <a:ext cx="182880" cy="182880"/>
          </a:xfrm>
          <a:prstGeom prst="ellipse">
            <a:avLst/>
          </a:prstGeom>
          <a:solidFill>
            <a:srgbClr val="051C2C"/>
          </a:solidFill>
          <a:ln w="12700">
            <a:solidFill>
              <a:srgbClr val="051C2C"/>
            </a:solidFill>
            <a:prstDash val="solid"/>
          </a:ln>
        </p:spPr>
      </p:sp>
      <p:sp>
        <p:nvSpPr>
          <p:cNvPr id="67" name="Shape 64"/>
          <p:cNvSpPr/>
          <p:nvPr/>
        </p:nvSpPr>
        <p:spPr>
          <a:xfrm>
            <a:off x="4270248" y="5047488"/>
            <a:ext cx="182880" cy="182880"/>
          </a:xfrm>
          <a:prstGeom prst="ellipse">
            <a:avLst/>
          </a:prstGeom>
          <a:solidFill>
            <a:srgbClr val="FFFFFF"/>
          </a:solidFill>
          <a:ln w="12700">
            <a:solidFill>
              <a:srgbClr val="C9CED6"/>
            </a:solidFill>
            <a:prstDash val="solid"/>
          </a:ln>
        </p:spPr>
      </p:sp>
      <p:sp>
        <p:nvSpPr>
          <p:cNvPr id="68" name="Shape 65"/>
          <p:cNvSpPr/>
          <p:nvPr/>
        </p:nvSpPr>
        <p:spPr>
          <a:xfrm>
            <a:off x="4526280" y="5047488"/>
            <a:ext cx="182880" cy="182880"/>
          </a:xfrm>
          <a:prstGeom prst="ellipse">
            <a:avLst/>
          </a:prstGeom>
          <a:solidFill>
            <a:srgbClr val="FFFFFF"/>
          </a:solidFill>
          <a:ln w="12700">
            <a:solidFill>
              <a:srgbClr val="C9CED6"/>
            </a:solidFill>
            <a:prstDash val="solid"/>
          </a:ln>
        </p:spPr>
      </p:sp>
      <p:sp>
        <p:nvSpPr>
          <p:cNvPr id="69" name="Shape 66"/>
          <p:cNvSpPr/>
          <p:nvPr/>
        </p:nvSpPr>
        <p:spPr>
          <a:xfrm>
            <a:off x="4782312" y="5047488"/>
            <a:ext cx="182880" cy="182880"/>
          </a:xfrm>
          <a:prstGeom prst="ellipse">
            <a:avLst/>
          </a:prstGeom>
          <a:solidFill>
            <a:srgbClr val="FFFFFF"/>
          </a:solidFill>
          <a:ln w="12700">
            <a:solidFill>
              <a:srgbClr val="C9CED6"/>
            </a:solidFill>
            <a:prstDash val="solid"/>
          </a:ln>
        </p:spPr>
      </p:sp>
      <p:sp>
        <p:nvSpPr>
          <p:cNvPr id="70" name="Shape 67"/>
          <p:cNvSpPr/>
          <p:nvPr/>
        </p:nvSpPr>
        <p:spPr>
          <a:xfrm>
            <a:off x="5431536" y="5047488"/>
            <a:ext cx="182880" cy="182880"/>
          </a:xfrm>
          <a:prstGeom prst="ellipse">
            <a:avLst/>
          </a:prstGeom>
          <a:solidFill>
            <a:srgbClr val="051C2C"/>
          </a:solidFill>
          <a:ln w="12700">
            <a:solidFill>
              <a:srgbClr val="051C2C"/>
            </a:solidFill>
            <a:prstDash val="solid"/>
          </a:ln>
        </p:spPr>
      </p:sp>
      <p:sp>
        <p:nvSpPr>
          <p:cNvPr id="71" name="Shape 68"/>
          <p:cNvSpPr/>
          <p:nvPr/>
        </p:nvSpPr>
        <p:spPr>
          <a:xfrm>
            <a:off x="5687568" y="5047488"/>
            <a:ext cx="182880" cy="182880"/>
          </a:xfrm>
          <a:prstGeom prst="ellipse">
            <a:avLst/>
          </a:prstGeom>
          <a:solidFill>
            <a:srgbClr val="051C2C"/>
          </a:solidFill>
          <a:ln w="12700">
            <a:solidFill>
              <a:srgbClr val="051C2C"/>
            </a:solidFill>
            <a:prstDash val="solid"/>
          </a:ln>
        </p:spPr>
      </p:sp>
      <p:sp>
        <p:nvSpPr>
          <p:cNvPr id="72" name="Shape 69"/>
          <p:cNvSpPr/>
          <p:nvPr/>
        </p:nvSpPr>
        <p:spPr>
          <a:xfrm>
            <a:off x="5943600" y="5047488"/>
            <a:ext cx="182880" cy="182880"/>
          </a:xfrm>
          <a:prstGeom prst="ellipse">
            <a:avLst/>
          </a:prstGeom>
          <a:solidFill>
            <a:srgbClr val="051C2C"/>
          </a:solidFill>
          <a:ln w="12700">
            <a:solidFill>
              <a:srgbClr val="051C2C"/>
            </a:solidFill>
            <a:prstDash val="solid"/>
          </a:ln>
        </p:spPr>
      </p:sp>
      <p:sp>
        <p:nvSpPr>
          <p:cNvPr id="73" name="Shape 70"/>
          <p:cNvSpPr/>
          <p:nvPr/>
        </p:nvSpPr>
        <p:spPr>
          <a:xfrm>
            <a:off x="6199632" y="5047488"/>
            <a:ext cx="182880" cy="182880"/>
          </a:xfrm>
          <a:prstGeom prst="ellipse">
            <a:avLst/>
          </a:prstGeom>
          <a:solidFill>
            <a:srgbClr val="FFFFFF"/>
          </a:solidFill>
          <a:ln w="12700">
            <a:solidFill>
              <a:srgbClr val="C9CED6"/>
            </a:solidFill>
            <a:prstDash val="solid"/>
          </a:ln>
        </p:spPr>
      </p:sp>
      <p:sp>
        <p:nvSpPr>
          <p:cNvPr id="74" name="Shape 71"/>
          <p:cNvSpPr/>
          <p:nvPr/>
        </p:nvSpPr>
        <p:spPr>
          <a:xfrm>
            <a:off x="6848856" y="5047488"/>
            <a:ext cx="182880" cy="182880"/>
          </a:xfrm>
          <a:prstGeom prst="ellipse">
            <a:avLst/>
          </a:prstGeom>
          <a:solidFill>
            <a:srgbClr val="2251FF"/>
          </a:solidFill>
          <a:ln w="12700">
            <a:solidFill>
              <a:srgbClr val="2251FF"/>
            </a:solidFill>
            <a:prstDash val="solid"/>
          </a:ln>
        </p:spPr>
      </p:sp>
      <p:sp>
        <p:nvSpPr>
          <p:cNvPr id="75" name="Shape 72"/>
          <p:cNvSpPr/>
          <p:nvPr/>
        </p:nvSpPr>
        <p:spPr>
          <a:xfrm>
            <a:off x="7104888" y="5047488"/>
            <a:ext cx="182880" cy="182880"/>
          </a:xfrm>
          <a:prstGeom prst="ellipse">
            <a:avLst/>
          </a:prstGeom>
          <a:solidFill>
            <a:srgbClr val="2251FF"/>
          </a:solidFill>
          <a:ln w="12700">
            <a:solidFill>
              <a:srgbClr val="2251FF"/>
            </a:solidFill>
            <a:prstDash val="solid"/>
          </a:ln>
        </p:spPr>
      </p:sp>
      <p:sp>
        <p:nvSpPr>
          <p:cNvPr id="76" name="Shape 73"/>
          <p:cNvSpPr/>
          <p:nvPr/>
        </p:nvSpPr>
        <p:spPr>
          <a:xfrm>
            <a:off x="7360920" y="5047488"/>
            <a:ext cx="182880" cy="182880"/>
          </a:xfrm>
          <a:prstGeom prst="ellipse">
            <a:avLst/>
          </a:prstGeom>
          <a:solidFill>
            <a:srgbClr val="2251FF"/>
          </a:solidFill>
          <a:ln w="12700">
            <a:solidFill>
              <a:srgbClr val="2251FF"/>
            </a:solidFill>
            <a:prstDash val="solid"/>
          </a:ln>
        </p:spPr>
      </p:sp>
      <p:sp>
        <p:nvSpPr>
          <p:cNvPr id="77" name="Shape 74"/>
          <p:cNvSpPr/>
          <p:nvPr/>
        </p:nvSpPr>
        <p:spPr>
          <a:xfrm>
            <a:off x="7616952" y="5047488"/>
            <a:ext cx="182880" cy="182880"/>
          </a:xfrm>
          <a:prstGeom prst="ellipse">
            <a:avLst/>
          </a:prstGeom>
          <a:solidFill>
            <a:srgbClr val="2251FF"/>
          </a:solidFill>
          <a:ln w="12700">
            <a:solidFill>
              <a:srgbClr val="2251FF"/>
            </a:solidFill>
            <a:prstDash val="solid"/>
          </a:ln>
        </p:spPr>
      </p:sp>
      <p:sp>
        <p:nvSpPr>
          <p:cNvPr id="78" name="Text 75"/>
          <p:cNvSpPr txBox="1"/>
          <p:nvPr/>
        </p:nvSpPr>
        <p:spPr>
          <a:xfrm>
            <a:off x="731520" y="5577840"/>
            <a:ext cx="3200400" cy="512064"/>
          </a:xfrm>
          <a:prstGeom prst="rect">
            <a:avLst/>
          </a:prstGeom>
          <a:noFill/>
          <a:ln/>
        </p:spPr>
        <p:txBody>
          <a:bodyPr wrap="square" lIns="0" tIns="0" rIns="0" bIns="0" rtlCol="0" anchor="ctr"/>
          <a:lstStyle/>
          <a:p>
            <a:pPr indent="0" marL="0">
              <a:buNone/>
            </a:pPr>
            <a:r>
              <a:rPr lang="en-US" sz="1300" dirty="0">
                <a:solidFill>
                  <a:srgbClr val="1F2933"/>
                </a:solidFill>
                <a:latin typeface="Arial" pitchFamily="34" charset="0"/>
                <a:ea typeface="Arial" pitchFamily="34" charset="-122"/>
                <a:cs typeface="Arial" pitchFamily="34" charset="-120"/>
              </a:rPr>
              <a:t>Observability and deployment</a:t>
            </a:r>
            <a:endParaRPr lang="en-US" sz="1300" dirty="0"/>
          </a:p>
        </p:txBody>
      </p:sp>
      <p:sp>
        <p:nvSpPr>
          <p:cNvPr id="79" name="Shape 76"/>
          <p:cNvSpPr/>
          <p:nvPr/>
        </p:nvSpPr>
        <p:spPr>
          <a:xfrm>
            <a:off x="4014216" y="5705856"/>
            <a:ext cx="182880" cy="182880"/>
          </a:xfrm>
          <a:prstGeom prst="ellipse">
            <a:avLst/>
          </a:prstGeom>
          <a:solidFill>
            <a:srgbClr val="051C2C"/>
          </a:solidFill>
          <a:ln w="12700">
            <a:solidFill>
              <a:srgbClr val="051C2C"/>
            </a:solidFill>
            <a:prstDash val="solid"/>
          </a:ln>
        </p:spPr>
      </p:sp>
      <p:sp>
        <p:nvSpPr>
          <p:cNvPr id="80" name="Shape 77"/>
          <p:cNvSpPr/>
          <p:nvPr/>
        </p:nvSpPr>
        <p:spPr>
          <a:xfrm>
            <a:off x="4270248" y="5705856"/>
            <a:ext cx="182880" cy="182880"/>
          </a:xfrm>
          <a:prstGeom prst="ellipse">
            <a:avLst/>
          </a:prstGeom>
          <a:solidFill>
            <a:srgbClr val="051C2C"/>
          </a:solidFill>
          <a:ln w="12700">
            <a:solidFill>
              <a:srgbClr val="051C2C"/>
            </a:solidFill>
            <a:prstDash val="solid"/>
          </a:ln>
        </p:spPr>
      </p:sp>
      <p:sp>
        <p:nvSpPr>
          <p:cNvPr id="81" name="Shape 78"/>
          <p:cNvSpPr/>
          <p:nvPr/>
        </p:nvSpPr>
        <p:spPr>
          <a:xfrm>
            <a:off x="4526280" y="5705856"/>
            <a:ext cx="182880" cy="182880"/>
          </a:xfrm>
          <a:prstGeom prst="ellipse">
            <a:avLst/>
          </a:prstGeom>
          <a:solidFill>
            <a:srgbClr val="051C2C"/>
          </a:solidFill>
          <a:ln w="12700">
            <a:solidFill>
              <a:srgbClr val="051C2C"/>
            </a:solidFill>
            <a:prstDash val="solid"/>
          </a:ln>
        </p:spPr>
      </p:sp>
      <p:sp>
        <p:nvSpPr>
          <p:cNvPr id="82" name="Shape 79"/>
          <p:cNvSpPr/>
          <p:nvPr/>
        </p:nvSpPr>
        <p:spPr>
          <a:xfrm>
            <a:off x="4782312" y="5705856"/>
            <a:ext cx="182880" cy="182880"/>
          </a:xfrm>
          <a:prstGeom prst="ellipse">
            <a:avLst/>
          </a:prstGeom>
          <a:solidFill>
            <a:srgbClr val="FFFFFF"/>
          </a:solidFill>
          <a:ln w="12700">
            <a:solidFill>
              <a:srgbClr val="C9CED6"/>
            </a:solidFill>
            <a:prstDash val="solid"/>
          </a:ln>
        </p:spPr>
      </p:sp>
      <p:sp>
        <p:nvSpPr>
          <p:cNvPr id="83" name="Shape 80"/>
          <p:cNvSpPr/>
          <p:nvPr/>
        </p:nvSpPr>
        <p:spPr>
          <a:xfrm>
            <a:off x="5431536" y="5705856"/>
            <a:ext cx="182880" cy="182880"/>
          </a:xfrm>
          <a:prstGeom prst="ellipse">
            <a:avLst/>
          </a:prstGeom>
          <a:solidFill>
            <a:srgbClr val="051C2C"/>
          </a:solidFill>
          <a:ln w="12700">
            <a:solidFill>
              <a:srgbClr val="051C2C"/>
            </a:solidFill>
            <a:prstDash val="solid"/>
          </a:ln>
        </p:spPr>
      </p:sp>
      <p:sp>
        <p:nvSpPr>
          <p:cNvPr id="84" name="Shape 81"/>
          <p:cNvSpPr/>
          <p:nvPr/>
        </p:nvSpPr>
        <p:spPr>
          <a:xfrm>
            <a:off x="5687568" y="5705856"/>
            <a:ext cx="182880" cy="182880"/>
          </a:xfrm>
          <a:prstGeom prst="ellipse">
            <a:avLst/>
          </a:prstGeom>
          <a:solidFill>
            <a:srgbClr val="051C2C"/>
          </a:solidFill>
          <a:ln w="12700">
            <a:solidFill>
              <a:srgbClr val="051C2C"/>
            </a:solidFill>
            <a:prstDash val="solid"/>
          </a:ln>
        </p:spPr>
      </p:sp>
      <p:sp>
        <p:nvSpPr>
          <p:cNvPr id="85" name="Shape 82"/>
          <p:cNvSpPr/>
          <p:nvPr/>
        </p:nvSpPr>
        <p:spPr>
          <a:xfrm>
            <a:off x="5943600" y="5705856"/>
            <a:ext cx="182880" cy="182880"/>
          </a:xfrm>
          <a:prstGeom prst="ellipse">
            <a:avLst/>
          </a:prstGeom>
          <a:solidFill>
            <a:srgbClr val="051C2C"/>
          </a:solidFill>
          <a:ln w="12700">
            <a:solidFill>
              <a:srgbClr val="051C2C"/>
            </a:solidFill>
            <a:prstDash val="solid"/>
          </a:ln>
        </p:spPr>
      </p:sp>
      <p:sp>
        <p:nvSpPr>
          <p:cNvPr id="86" name="Shape 83"/>
          <p:cNvSpPr/>
          <p:nvPr/>
        </p:nvSpPr>
        <p:spPr>
          <a:xfrm>
            <a:off x="6199632" y="5705856"/>
            <a:ext cx="182880" cy="182880"/>
          </a:xfrm>
          <a:prstGeom prst="ellipse">
            <a:avLst/>
          </a:prstGeom>
          <a:solidFill>
            <a:srgbClr val="FFFFFF"/>
          </a:solidFill>
          <a:ln w="12700">
            <a:solidFill>
              <a:srgbClr val="C9CED6"/>
            </a:solidFill>
            <a:prstDash val="solid"/>
          </a:ln>
        </p:spPr>
      </p:sp>
      <p:sp>
        <p:nvSpPr>
          <p:cNvPr id="87" name="Shape 84"/>
          <p:cNvSpPr/>
          <p:nvPr/>
        </p:nvSpPr>
        <p:spPr>
          <a:xfrm>
            <a:off x="6848856" y="5705856"/>
            <a:ext cx="182880" cy="182880"/>
          </a:xfrm>
          <a:prstGeom prst="ellipse">
            <a:avLst/>
          </a:prstGeom>
          <a:solidFill>
            <a:srgbClr val="2251FF"/>
          </a:solidFill>
          <a:ln w="12700">
            <a:solidFill>
              <a:srgbClr val="2251FF"/>
            </a:solidFill>
            <a:prstDash val="solid"/>
          </a:ln>
        </p:spPr>
      </p:sp>
      <p:sp>
        <p:nvSpPr>
          <p:cNvPr id="88" name="Shape 85"/>
          <p:cNvSpPr/>
          <p:nvPr/>
        </p:nvSpPr>
        <p:spPr>
          <a:xfrm>
            <a:off x="7104888" y="5705856"/>
            <a:ext cx="182880" cy="182880"/>
          </a:xfrm>
          <a:prstGeom prst="ellipse">
            <a:avLst/>
          </a:prstGeom>
          <a:solidFill>
            <a:srgbClr val="2251FF"/>
          </a:solidFill>
          <a:ln w="12700">
            <a:solidFill>
              <a:srgbClr val="2251FF"/>
            </a:solidFill>
            <a:prstDash val="solid"/>
          </a:ln>
        </p:spPr>
      </p:sp>
      <p:sp>
        <p:nvSpPr>
          <p:cNvPr id="89" name="Shape 86"/>
          <p:cNvSpPr/>
          <p:nvPr/>
        </p:nvSpPr>
        <p:spPr>
          <a:xfrm>
            <a:off x="7360920" y="5705856"/>
            <a:ext cx="182880" cy="182880"/>
          </a:xfrm>
          <a:prstGeom prst="ellipse">
            <a:avLst/>
          </a:prstGeom>
          <a:solidFill>
            <a:srgbClr val="2251FF"/>
          </a:solidFill>
          <a:ln w="12700">
            <a:solidFill>
              <a:srgbClr val="2251FF"/>
            </a:solidFill>
            <a:prstDash val="solid"/>
          </a:ln>
        </p:spPr>
      </p:sp>
      <p:sp>
        <p:nvSpPr>
          <p:cNvPr id="90" name="Shape 87"/>
          <p:cNvSpPr/>
          <p:nvPr/>
        </p:nvSpPr>
        <p:spPr>
          <a:xfrm>
            <a:off x="7616952" y="5705856"/>
            <a:ext cx="182880" cy="182880"/>
          </a:xfrm>
          <a:prstGeom prst="ellipse">
            <a:avLst/>
          </a:prstGeom>
          <a:solidFill>
            <a:srgbClr val="2251FF"/>
          </a:solidFill>
          <a:ln w="12700">
            <a:solidFill>
              <a:srgbClr val="2251FF"/>
            </a:solidFill>
            <a:prstDash val="solid"/>
          </a:ln>
        </p:spPr>
      </p:sp>
      <p:sp>
        <p:nvSpPr>
          <p:cNvPr id="91" name="Shape 88"/>
          <p:cNvSpPr/>
          <p:nvPr/>
        </p:nvSpPr>
        <p:spPr>
          <a:xfrm>
            <a:off x="8503920" y="1783080"/>
            <a:ext cx="3136392" cy="4434840"/>
          </a:xfrm>
          <a:prstGeom prst="rect">
            <a:avLst/>
          </a:prstGeom>
          <a:solidFill>
            <a:srgbClr val="051C2C"/>
          </a:solidFill>
          <a:ln w="12700">
            <a:solidFill>
              <a:srgbClr val="051C2C"/>
            </a:solidFill>
            <a:prstDash val="solid"/>
          </a:ln>
        </p:spPr>
      </p:sp>
      <p:sp>
        <p:nvSpPr>
          <p:cNvPr id="92" name="Text 89"/>
          <p:cNvSpPr txBox="1"/>
          <p:nvPr/>
        </p:nvSpPr>
        <p:spPr>
          <a:xfrm>
            <a:off x="8732520" y="1920240"/>
            <a:ext cx="2743200" cy="365760"/>
          </a:xfrm>
          <a:prstGeom prst="rect">
            <a:avLst/>
          </a:prstGeom>
          <a:noFill/>
          <a:ln/>
        </p:spPr>
        <p:txBody>
          <a:bodyPr wrap="square" lIns="0" tIns="0" rIns="0" bIns="0" rtlCol="0" anchor="t"/>
          <a:lstStyle/>
          <a:p>
            <a:pPr indent="0" marL="0">
              <a:buNone/>
            </a:pPr>
            <a:r>
              <a:rPr lang="en-US" sz="2000" b="1" dirty="0">
                <a:solidFill>
                  <a:srgbClr val="FFFFFF"/>
                </a:solidFill>
                <a:latin typeface="Georgia" pitchFamily="34" charset="0"/>
                <a:ea typeface="Georgia" pitchFamily="34" charset="-122"/>
                <a:cs typeface="Georgia" pitchFamily="34" charset="-120"/>
              </a:rPr>
              <a:t>Bottom line</a:t>
            </a:r>
            <a:endParaRPr lang="en-US" sz="2000" dirty="0"/>
          </a:p>
        </p:txBody>
      </p:sp>
      <p:sp>
        <p:nvSpPr>
          <p:cNvPr id="93" name="Text 90"/>
          <p:cNvSpPr txBox="1"/>
          <p:nvPr/>
        </p:nvSpPr>
        <p:spPr>
          <a:xfrm>
            <a:off x="8732520" y="246888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n8n</a:t>
            </a:r>
            <a:endParaRPr lang="en-US" sz="1300" dirty="0"/>
          </a:p>
        </p:txBody>
      </p:sp>
      <p:sp>
        <p:nvSpPr>
          <p:cNvPr id="94" name="Text 91"/>
          <p:cNvSpPr txBox="1"/>
          <p:nvPr/>
        </p:nvSpPr>
        <p:spPr>
          <a:xfrm>
            <a:off x="8732520" y="276148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Deterministic automations and quick integrations, especially with non-developers.</a:t>
            </a:r>
            <a:endParaRPr lang="en-US" sz="1200" dirty="0"/>
          </a:p>
        </p:txBody>
      </p:sp>
      <p:sp>
        <p:nvSpPr>
          <p:cNvPr id="95" name="Text 92"/>
          <p:cNvSpPr txBox="1"/>
          <p:nvPr/>
        </p:nvSpPr>
        <p:spPr>
          <a:xfrm>
            <a:off x="8732520" y="370332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Agno</a:t>
            </a:r>
            <a:endParaRPr lang="en-US" sz="1300" dirty="0"/>
          </a:p>
        </p:txBody>
      </p:sp>
      <p:sp>
        <p:nvSpPr>
          <p:cNvPr id="96" name="Text 93"/>
          <p:cNvSpPr txBox="1"/>
          <p:nvPr/>
        </p:nvSpPr>
        <p:spPr>
          <a:xfrm>
            <a:off x="8732520" y="399592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Lean Python agent prototypes, if its ecosystem covers what you need.</a:t>
            </a:r>
            <a:endParaRPr lang="en-US" sz="1200" dirty="0"/>
          </a:p>
        </p:txBody>
      </p:sp>
      <p:sp>
        <p:nvSpPr>
          <p:cNvPr id="97" name="Text 94"/>
          <p:cNvSpPr txBox="1"/>
          <p:nvPr/>
        </p:nvSpPr>
        <p:spPr>
          <a:xfrm>
            <a:off x="8732520" y="4937760"/>
            <a:ext cx="2743200" cy="274320"/>
          </a:xfrm>
          <a:prstGeom prst="rect">
            <a:avLst/>
          </a:prstGeom>
          <a:noFill/>
          <a:ln/>
        </p:spPr>
        <p:txBody>
          <a:bodyPr wrap="square" lIns="0" tIns="0" rIns="0" bIns="0" rtlCol="0" anchor="t"/>
          <a:lstStyle/>
          <a:p>
            <a:pPr indent="0" marL="0">
              <a:buNone/>
            </a:pPr>
            <a:r>
              <a:rPr lang="en-US" sz="1300" b="1" dirty="0">
                <a:solidFill>
                  <a:srgbClr val="8FB0FF"/>
                </a:solidFill>
                <a:latin typeface="Arial" pitchFamily="34" charset="0"/>
                <a:ea typeface="Arial" pitchFamily="34" charset="-122"/>
                <a:cs typeface="Arial" pitchFamily="34" charset="-120"/>
              </a:rPr>
              <a:t>LangChain</a:t>
            </a:r>
            <a:endParaRPr lang="en-US" sz="1300" dirty="0"/>
          </a:p>
        </p:txBody>
      </p:sp>
      <p:sp>
        <p:nvSpPr>
          <p:cNvPr id="98" name="Text 95"/>
          <p:cNvSpPr txBox="1"/>
          <p:nvPr/>
        </p:nvSpPr>
        <p:spPr>
          <a:xfrm>
            <a:off x="8732520" y="5230368"/>
            <a:ext cx="2697480" cy="8686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Custom, production-grade agents needing guardrails, tests and tracing.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7315200" cy="228600"/>
          </a:xfrm>
          <a:prstGeom prst="rect">
            <a:avLst/>
          </a:prstGeom>
          <a:noFill/>
          <a:ln/>
        </p:spPr>
        <p:txBody>
          <a:bodyPr wrap="square" lIns="0" tIns="0" rIns="0" bIns="0" rtlCol="0" anchor="t"/>
          <a:lstStyle/>
          <a:p>
            <a:pPr indent="0" marL="0">
              <a:buNone/>
            </a:pPr>
            <a:r>
              <a:rPr lang="en-US" sz="1000" b="1" spc="200" kern="0" dirty="0">
                <a:solidFill>
                  <a:srgbClr val="2251FF"/>
                </a:solidFill>
                <a:latin typeface="Arial" pitchFamily="34" charset="0"/>
                <a:ea typeface="Arial" pitchFamily="34" charset="-122"/>
                <a:cs typeface="Arial" pitchFamily="34" charset="-120"/>
              </a:rPr>
              <a:t>TAKEAWAYS AND NEXT STEPS</a:t>
            </a:r>
            <a:endParaRPr lang="en-US" sz="1000" dirty="0"/>
          </a:p>
        </p:txBody>
      </p:sp>
      <p:sp>
        <p:nvSpPr>
          <p:cNvPr id="3" name="Text 1"/>
          <p:cNvSpPr txBox="1"/>
          <p:nvPr/>
        </p:nvSpPr>
        <p:spPr>
          <a:xfrm>
            <a:off x="548640" y="594360"/>
            <a:ext cx="11064240" cy="914400"/>
          </a:xfrm>
          <a:prstGeom prst="rect">
            <a:avLst/>
          </a:prstGeom>
          <a:noFill/>
          <a:ln/>
        </p:spPr>
        <p:txBody>
          <a:bodyPr wrap="square" lIns="0" tIns="0" rIns="0" bIns="0" rtlCol="0" anchor="t"/>
          <a:lstStyle/>
          <a:p>
            <a:pPr indent="0" marL="0">
              <a:buNone/>
            </a:pPr>
            <a:r>
              <a:rPr lang="en-US" sz="2600" b="1" dirty="0">
                <a:solidFill>
                  <a:srgbClr val="051C2C"/>
                </a:solidFill>
                <a:latin typeface="Georgia" pitchFamily="34" charset="0"/>
                <a:ea typeface="Georgia" pitchFamily="34" charset="-122"/>
                <a:cs typeface="Georgia" pitchFamily="34" charset="-120"/>
              </a:rPr>
              <a:t>Start small: pick one repetitive judgement task, give an agent two or three tools, and add guardrails first</a:t>
            </a:r>
            <a:endParaRPr lang="en-US" sz="2600" dirty="0"/>
          </a:p>
        </p:txBody>
      </p:sp>
      <p:sp>
        <p:nvSpPr>
          <p:cNvPr id="4" name="Text 2"/>
          <p:cNvSpPr txBox="1"/>
          <p:nvPr/>
        </p:nvSpPr>
        <p:spPr>
          <a:xfrm>
            <a:off x="548640" y="6400800"/>
            <a:ext cx="10058400" cy="228600"/>
          </a:xfrm>
          <a:prstGeom prst="rect">
            <a:avLst/>
          </a:prstGeom>
          <a:noFill/>
          <a:ln/>
        </p:spPr>
        <p:txBody>
          <a:bodyPr wrap="square" lIns="0" tIns="0" rIns="0" bIns="0" rtlCol="0" anchor="t"/>
          <a:lstStyle/>
          <a:p>
            <a:pPr indent="0" marL="0">
              <a:buNone/>
            </a:pPr>
            <a:r>
              <a:rPr lang="en-US" sz="900" dirty="0">
                <a:solidFill>
                  <a:srgbClr val="6B7280"/>
                </a:solidFill>
                <a:latin typeface="Arial" pitchFamily="34" charset="0"/>
                <a:ea typeface="Arial" pitchFamily="34" charset="-122"/>
                <a:cs typeface="Arial" pitchFamily="34" charset="-120"/>
              </a:rPr>
              <a:t>Source: WatchAgent repository</a:t>
            </a:r>
            <a:endParaRPr lang="en-US" sz="900" dirty="0"/>
          </a:p>
        </p:txBody>
      </p:sp>
      <p:sp>
        <p:nvSpPr>
          <p:cNvPr id="5" name="Text 3"/>
          <p:cNvSpPr txBox="1"/>
          <p:nvPr/>
        </p:nvSpPr>
        <p:spPr>
          <a:xfrm>
            <a:off x="11155680" y="6400800"/>
            <a:ext cx="484632" cy="228600"/>
          </a:xfrm>
          <a:prstGeom prst="rect">
            <a:avLst/>
          </a:prstGeom>
          <a:noFill/>
          <a:ln/>
        </p:spPr>
        <p:txBody>
          <a:bodyPr wrap="square" lIns="0" tIns="0" rIns="0" bIns="0" rtlCol="0" anchor="t"/>
          <a:lstStyle/>
          <a:p>
            <a:pPr algn="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
        <p:nvSpPr>
          <p:cNvPr id="7" name="Shape 4"/>
          <p:cNvSpPr/>
          <p:nvPr/>
        </p:nvSpPr>
        <p:spPr>
          <a:xfrm>
            <a:off x="548640" y="1828800"/>
            <a:ext cx="548640" cy="548640"/>
          </a:xfrm>
          <a:prstGeom prst="ellipse">
            <a:avLst/>
          </a:prstGeom>
          <a:solidFill>
            <a:srgbClr val="051C2C"/>
          </a:solidFill>
          <a:ln w="12700">
            <a:solidFill>
              <a:srgbClr val="051C2C"/>
            </a:solidFill>
            <a:prstDash val="solid"/>
          </a:ln>
        </p:spPr>
      </p:sp>
      <p:sp>
        <p:nvSpPr>
          <p:cNvPr id="8" name="Text 5"/>
          <p:cNvSpPr txBox="1"/>
          <p:nvPr/>
        </p:nvSpPr>
        <p:spPr>
          <a:xfrm>
            <a:off x="548640" y="1828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9" name="Text 6"/>
          <p:cNvSpPr txBox="1"/>
          <p:nvPr/>
        </p:nvSpPr>
        <p:spPr>
          <a:xfrm>
            <a:off x="1371600" y="178308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Pick a task</a:t>
            </a:r>
            <a:endParaRPr lang="en-US" sz="1800" dirty="0"/>
          </a:p>
        </p:txBody>
      </p:sp>
      <p:sp>
        <p:nvSpPr>
          <p:cNvPr id="10" name="Text 7"/>
          <p:cNvSpPr txBox="1"/>
          <p:nvPr/>
        </p:nvSpPr>
        <p:spPr>
          <a:xfrm>
            <a:off x="1371600" y="216712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Repetitive, needs judgement, and has an easy way to check the answer.</a:t>
            </a:r>
            <a:endParaRPr lang="en-US" sz="1400" dirty="0"/>
          </a:p>
        </p:txBody>
      </p:sp>
      <p:sp>
        <p:nvSpPr>
          <p:cNvPr id="11" name="Shape 8"/>
          <p:cNvSpPr/>
          <p:nvPr/>
        </p:nvSpPr>
        <p:spPr>
          <a:xfrm>
            <a:off x="548640" y="2926080"/>
            <a:ext cx="548640" cy="548640"/>
          </a:xfrm>
          <a:prstGeom prst="ellipse">
            <a:avLst/>
          </a:prstGeom>
          <a:solidFill>
            <a:srgbClr val="051C2C"/>
          </a:solidFill>
          <a:ln w="12700">
            <a:solidFill>
              <a:srgbClr val="051C2C"/>
            </a:solidFill>
            <a:prstDash val="solid"/>
          </a:ln>
        </p:spPr>
      </p:sp>
      <p:sp>
        <p:nvSpPr>
          <p:cNvPr id="12" name="Text 9"/>
          <p:cNvSpPr txBox="1"/>
          <p:nvPr/>
        </p:nvSpPr>
        <p:spPr>
          <a:xfrm>
            <a:off x="548640" y="2926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3" name="Text 10"/>
          <p:cNvSpPr txBox="1"/>
          <p:nvPr/>
        </p:nvSpPr>
        <p:spPr>
          <a:xfrm>
            <a:off x="1371600" y="288036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Start tiny</a:t>
            </a:r>
            <a:endParaRPr lang="en-US" sz="1800" dirty="0"/>
          </a:p>
        </p:txBody>
      </p:sp>
      <p:sp>
        <p:nvSpPr>
          <p:cNvPr id="14" name="Text 11"/>
          <p:cNvSpPr txBox="1"/>
          <p:nvPr/>
        </p:nvSpPr>
        <p:spPr>
          <a:xfrm>
            <a:off x="1371600" y="326440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One agent, two or three tools. Add more only when needed.</a:t>
            </a:r>
            <a:endParaRPr lang="en-US" sz="1400" dirty="0"/>
          </a:p>
        </p:txBody>
      </p:sp>
      <p:sp>
        <p:nvSpPr>
          <p:cNvPr id="15" name="Shape 12"/>
          <p:cNvSpPr/>
          <p:nvPr/>
        </p:nvSpPr>
        <p:spPr>
          <a:xfrm>
            <a:off x="548640" y="4023360"/>
            <a:ext cx="548640" cy="548640"/>
          </a:xfrm>
          <a:prstGeom prst="ellipse">
            <a:avLst/>
          </a:prstGeom>
          <a:solidFill>
            <a:srgbClr val="051C2C"/>
          </a:solidFill>
          <a:ln w="12700">
            <a:solidFill>
              <a:srgbClr val="051C2C"/>
            </a:solidFill>
            <a:prstDash val="solid"/>
          </a:ln>
        </p:spPr>
      </p:sp>
      <p:sp>
        <p:nvSpPr>
          <p:cNvPr id="16" name="Text 13"/>
          <p:cNvSpPr txBox="1"/>
          <p:nvPr/>
        </p:nvSpPr>
        <p:spPr>
          <a:xfrm>
            <a:off x="548640" y="402336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7" name="Text 14"/>
          <p:cNvSpPr txBox="1"/>
          <p:nvPr/>
        </p:nvSpPr>
        <p:spPr>
          <a:xfrm>
            <a:off x="1371600" y="397764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Guardrails first</a:t>
            </a:r>
            <a:endParaRPr lang="en-US" sz="1800" dirty="0"/>
          </a:p>
        </p:txBody>
      </p:sp>
      <p:sp>
        <p:nvSpPr>
          <p:cNvPr id="18" name="Text 15"/>
          <p:cNvSpPr txBox="1"/>
          <p:nvPr/>
        </p:nvSpPr>
        <p:spPr>
          <a:xfrm>
            <a:off x="1371600" y="436168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Validate every tool input and constrain the final output.</a:t>
            </a:r>
            <a:endParaRPr lang="en-US" sz="1400" dirty="0"/>
          </a:p>
        </p:txBody>
      </p:sp>
      <p:sp>
        <p:nvSpPr>
          <p:cNvPr id="19" name="Shape 16"/>
          <p:cNvSpPr/>
          <p:nvPr/>
        </p:nvSpPr>
        <p:spPr>
          <a:xfrm>
            <a:off x="548640" y="5120640"/>
            <a:ext cx="548640" cy="548640"/>
          </a:xfrm>
          <a:prstGeom prst="ellipse">
            <a:avLst/>
          </a:prstGeom>
          <a:solidFill>
            <a:srgbClr val="051C2C"/>
          </a:solidFill>
          <a:ln w="12700">
            <a:solidFill>
              <a:srgbClr val="051C2C"/>
            </a:solidFill>
            <a:prstDash val="solid"/>
          </a:ln>
        </p:spPr>
      </p:sp>
      <p:sp>
        <p:nvSpPr>
          <p:cNvPr id="20" name="Text 17"/>
          <p:cNvSpPr txBox="1"/>
          <p:nvPr/>
        </p:nvSpPr>
        <p:spPr>
          <a:xfrm>
            <a:off x="548640" y="51206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1" name="Text 18"/>
          <p:cNvSpPr txBox="1"/>
          <p:nvPr/>
        </p:nvSpPr>
        <p:spPr>
          <a:xfrm>
            <a:off x="1371600" y="5074920"/>
            <a:ext cx="5486400" cy="365760"/>
          </a:xfrm>
          <a:prstGeom prst="rect">
            <a:avLst/>
          </a:prstGeom>
          <a:noFill/>
          <a:ln/>
        </p:spPr>
        <p:txBody>
          <a:bodyPr wrap="square" lIns="0" tIns="0" rIns="0" bIns="0" rtlCol="0" anchor="t"/>
          <a:lstStyle/>
          <a:p>
            <a:pPr indent="0" marL="0">
              <a:buNone/>
            </a:pPr>
            <a:r>
              <a:rPr lang="en-US" sz="1800" b="1" dirty="0">
                <a:solidFill>
                  <a:srgbClr val="051C2C"/>
                </a:solidFill>
                <a:latin typeface="Arial" pitchFamily="34" charset="0"/>
                <a:ea typeface="Arial" pitchFamily="34" charset="-122"/>
                <a:cs typeface="Arial" pitchFamily="34" charset="-120"/>
              </a:rPr>
              <a:t>Measure and review</a:t>
            </a:r>
            <a:endParaRPr lang="en-US" sz="1800" dirty="0"/>
          </a:p>
        </p:txBody>
      </p:sp>
      <p:sp>
        <p:nvSpPr>
          <p:cNvPr id="22" name="Text 19"/>
          <p:cNvSpPr txBox="1"/>
          <p:nvPr/>
        </p:nvSpPr>
        <p:spPr>
          <a:xfrm>
            <a:off x="1371600" y="5458968"/>
            <a:ext cx="5669280" cy="640080"/>
          </a:xfrm>
          <a:prstGeom prst="rect">
            <a:avLst/>
          </a:prstGeom>
          <a:noFill/>
          <a:ln/>
        </p:spPr>
        <p:txBody>
          <a:bodyPr wrap="square" lIns="0" tIns="0" rIns="0" bIns="0" rtlCol="0" anchor="t"/>
          <a:lstStyle/>
          <a:p>
            <a:pPr indent="0" marL="0">
              <a:buNone/>
            </a:pPr>
            <a:r>
              <a:rPr lang="en-US" sz="1400" dirty="0">
                <a:solidFill>
                  <a:srgbClr val="1F2933"/>
                </a:solidFill>
                <a:latin typeface="Arial" pitchFamily="34" charset="0"/>
                <a:ea typeface="Arial" pitchFamily="34" charset="-122"/>
                <a:cs typeface="Arial" pitchFamily="34" charset="-120"/>
              </a:rPr>
              <a:t>Log what it did, keep a human eye on outliers, then widen scope.</a:t>
            </a:r>
            <a:endParaRPr lang="en-US" sz="1400" dirty="0"/>
          </a:p>
        </p:txBody>
      </p:sp>
      <p:sp>
        <p:nvSpPr>
          <p:cNvPr id="23" name="Shape 20"/>
          <p:cNvSpPr/>
          <p:nvPr/>
        </p:nvSpPr>
        <p:spPr>
          <a:xfrm>
            <a:off x="7680960" y="1783080"/>
            <a:ext cx="3959352" cy="3931920"/>
          </a:xfrm>
          <a:prstGeom prst="rect">
            <a:avLst/>
          </a:prstGeom>
          <a:solidFill>
            <a:srgbClr val="051C2C"/>
          </a:solidFill>
          <a:ln w="12700">
            <a:solidFill>
              <a:srgbClr val="051C2C"/>
            </a:solidFill>
            <a:prstDash val="solid"/>
          </a:ln>
        </p:spPr>
      </p:sp>
      <p:sp>
        <p:nvSpPr>
          <p:cNvPr id="24" name="Text 21"/>
          <p:cNvSpPr txBox="1"/>
          <p:nvPr/>
        </p:nvSpPr>
        <p:spPr>
          <a:xfrm>
            <a:off x="8001000" y="2194560"/>
            <a:ext cx="3383280" cy="731520"/>
          </a:xfrm>
          <a:prstGeom prst="rect">
            <a:avLst/>
          </a:prstGeom>
          <a:noFill/>
          <a:ln/>
        </p:spPr>
        <p:txBody>
          <a:bodyPr wrap="square" lIns="0" tIns="0" rIns="0" bIns="0" rtlCol="0" anchor="t"/>
          <a:lstStyle/>
          <a:p>
            <a:pPr indent="0" marL="0">
              <a:buNone/>
            </a:pPr>
            <a:r>
              <a:rPr lang="en-US" sz="3600" b="1" dirty="0">
                <a:solidFill>
                  <a:srgbClr val="FFFFFF"/>
                </a:solidFill>
                <a:latin typeface="Georgia" pitchFamily="34" charset="0"/>
                <a:ea typeface="Georgia" pitchFamily="34" charset="-122"/>
                <a:cs typeface="Georgia" pitchFamily="34" charset="-120"/>
              </a:rPr>
              <a:t>Questions?</a:t>
            </a:r>
            <a:endParaRPr lang="en-US" sz="3600" dirty="0"/>
          </a:p>
        </p:txBody>
      </p:sp>
      <p:sp>
        <p:nvSpPr>
          <p:cNvPr id="25" name="Text 22"/>
          <p:cNvSpPr txBox="1"/>
          <p:nvPr/>
        </p:nvSpPr>
        <p:spPr>
          <a:xfrm>
            <a:off x="8001000" y="3246120"/>
            <a:ext cx="3383280" cy="274320"/>
          </a:xfrm>
          <a:prstGeom prst="rect">
            <a:avLst/>
          </a:prstGeom>
          <a:noFill/>
          <a:ln/>
        </p:spPr>
        <p:txBody>
          <a:bodyPr wrap="square" lIns="0" tIns="0" rIns="0" bIns="0" rtlCol="0" anchor="t"/>
          <a:lstStyle/>
          <a:p>
            <a:pPr indent="0" marL="0">
              <a:buNone/>
            </a:pPr>
            <a:r>
              <a:rPr lang="en-US" sz="1100" b="1" spc="100" kern="0" dirty="0">
                <a:solidFill>
                  <a:srgbClr val="8FB0FF"/>
                </a:solidFill>
                <a:latin typeface="Arial" pitchFamily="34" charset="0"/>
                <a:ea typeface="Arial" pitchFamily="34" charset="-122"/>
                <a:cs typeface="Arial" pitchFamily="34" charset="-120"/>
              </a:rPr>
              <a:t>Discussion prompts</a:t>
            </a:r>
            <a:endParaRPr lang="en-US" sz="1100" dirty="0"/>
          </a:p>
        </p:txBody>
      </p:sp>
      <p:sp>
        <p:nvSpPr>
          <p:cNvPr id="26" name="Text 23"/>
          <p:cNvSpPr txBox="1"/>
          <p:nvPr/>
        </p:nvSpPr>
        <p:spPr>
          <a:xfrm>
            <a:off x="8001000" y="3566160"/>
            <a:ext cx="3383280" cy="21945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What repetitive judgement task could an agent take on in your team?</a:t>
            </a:r>
            <a:endParaRPr lang="en-US" sz="1300" dirty="0"/>
          </a:p>
          <a:p>
            <a:pPr marL="342900" indent="-342900">
              <a:spcAft>
                <a:spcPts val="800"/>
              </a:spcAft>
              <a:buSzPct val="100000"/>
              <a:buChar char="•"/>
            </a:pPr>
            <a:r>
              <a:rPr lang="en-US" sz="1300" dirty="0">
                <a:solidFill>
                  <a:srgbClr val="FFFFFF"/>
                </a:solidFill>
                <a:latin typeface="Arial" pitchFamily="34" charset="0"/>
                <a:ea typeface="Arial" pitchFamily="34" charset="-122"/>
                <a:cs typeface="Arial" pitchFamily="34" charset="-120"/>
              </a:rPr>
              <a:t>Which decisions would you never let it make alone?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chatbots to agents: what a watch-price tracker taught us about agentic AI</dc:title>
  <dc:subject>PptxGenJS Presentation</dc:subject>
  <dc:creator>PptxGenJS</dc:creator>
  <cp:lastModifiedBy>PptxGenJS</cp:lastModifiedBy>
  <cp:revision>1</cp:revision>
  <dcterms:created xsi:type="dcterms:W3CDTF">2026-09-21T06:44:02Z</dcterms:created>
  <dcterms:modified xsi:type="dcterms:W3CDTF">2026-09-21T06:44:02Z</dcterms:modified>
</cp:coreProperties>
</file>